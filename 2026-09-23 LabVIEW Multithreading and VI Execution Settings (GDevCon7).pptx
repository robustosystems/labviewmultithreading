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72" r:id="rId2"/>
    <p:sldId id="270" r:id="rId3"/>
    <p:sldId id="269" r:id="rId4"/>
    <p:sldId id="273" r:id="rId5"/>
    <p:sldId id="274" r:id="rId6"/>
    <p:sldId id="277" r:id="rId7"/>
    <p:sldId id="275" r:id="rId8"/>
    <p:sldId id="278" r:id="rId9"/>
    <p:sldId id="279" r:id="rId10"/>
    <p:sldId id="280" r:id="rId11"/>
    <p:sldId id="281" r:id="rId12"/>
    <p:sldId id="283" r:id="rId13"/>
    <p:sldId id="318" r:id="rId14"/>
    <p:sldId id="284" r:id="rId15"/>
    <p:sldId id="282" r:id="rId16"/>
    <p:sldId id="286" r:id="rId17"/>
    <p:sldId id="287" r:id="rId18"/>
    <p:sldId id="288" r:id="rId19"/>
    <p:sldId id="285" r:id="rId20"/>
    <p:sldId id="319" r:id="rId21"/>
    <p:sldId id="289" r:id="rId22"/>
    <p:sldId id="290" r:id="rId23"/>
    <p:sldId id="291" r:id="rId24"/>
    <p:sldId id="293" r:id="rId25"/>
    <p:sldId id="294" r:id="rId26"/>
    <p:sldId id="295" r:id="rId27"/>
    <p:sldId id="296" r:id="rId28"/>
    <p:sldId id="297" r:id="rId29"/>
    <p:sldId id="298" r:id="rId30"/>
    <p:sldId id="299" r:id="rId31"/>
    <p:sldId id="300" r:id="rId32"/>
    <p:sldId id="305" r:id="rId33"/>
    <p:sldId id="301" r:id="rId34"/>
    <p:sldId id="302" r:id="rId35"/>
    <p:sldId id="303" r:id="rId36"/>
    <p:sldId id="304" r:id="rId37"/>
    <p:sldId id="306" r:id="rId38"/>
    <p:sldId id="307" r:id="rId39"/>
    <p:sldId id="308" r:id="rId40"/>
    <p:sldId id="309" r:id="rId41"/>
    <p:sldId id="310" r:id="rId42"/>
    <p:sldId id="311" r:id="rId43"/>
    <p:sldId id="313" r:id="rId44"/>
    <p:sldId id="312" r:id="rId45"/>
    <p:sldId id="314" r:id="rId46"/>
    <p:sldId id="315" r:id="rId47"/>
    <p:sldId id="316" r:id="rId48"/>
    <p:sldId id="317" r:id="rId49"/>
    <p:sldId id="320" r:id="rId50"/>
    <p:sldId id="322" r:id="rId51"/>
    <p:sldId id="330" r:id="rId52"/>
    <p:sldId id="331" r:id="rId53"/>
    <p:sldId id="323" r:id="rId54"/>
    <p:sldId id="332" r:id="rId55"/>
    <p:sldId id="333" r:id="rId56"/>
    <p:sldId id="334" r:id="rId57"/>
    <p:sldId id="335" r:id="rId58"/>
    <p:sldId id="336" r:id="rId59"/>
    <p:sldId id="338" r:id="rId60"/>
    <p:sldId id="337" r:id="rId61"/>
    <p:sldId id="339" r:id="rId62"/>
    <p:sldId id="276" r:id="rId63"/>
    <p:sldId id="329" r:id="rId64"/>
    <p:sldId id="271"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B66"/>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8A1E69-8D71-44EF-B3EE-78D7011C8E75}" v="2548" dt="2023-10-01T19:23:49.989"/>
  </p1510:revLst>
</p1510:revInfo>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63" autoAdjust="0"/>
    <p:restoredTop sz="85201" autoAdjust="0"/>
  </p:normalViewPr>
  <p:slideViewPr>
    <p:cSldViewPr snapToGrid="0">
      <p:cViewPr varScale="1">
        <p:scale>
          <a:sx n="105" d="100"/>
          <a:sy n="105" d="100"/>
        </p:scale>
        <p:origin x="12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ru Tarabuta" userId="7ad468d54291d0a0" providerId="LiveId" clId="{14D34713-0826-429D-8421-A1B77FEF9D90}"/>
    <pc:docChg chg="custSel modSld">
      <pc:chgData name="Petru Tarabuta" userId="7ad468d54291d0a0" providerId="LiveId" clId="{14D34713-0826-429D-8421-A1B77FEF9D90}" dt="2022-09-27T20:11:23.482" v="77" actId="20577"/>
      <pc:docMkLst>
        <pc:docMk/>
      </pc:docMkLst>
      <pc:sldChg chg="modNotesTx">
        <pc:chgData name="Petru Tarabuta" userId="7ad468d54291d0a0" providerId="LiveId" clId="{14D34713-0826-429D-8421-A1B77FEF9D90}" dt="2022-09-27T20:11:23.482" v="77" actId="20577"/>
        <pc:sldMkLst>
          <pc:docMk/>
          <pc:sldMk cId="2659160831" sldId="260"/>
        </pc:sldMkLst>
      </pc:sldChg>
    </pc:docChg>
  </pc:docChgLst>
  <pc:docChgLst>
    <pc:chgData name="Petru Tarabuta" userId="7ad468d54291d0a0" providerId="LiveId" clId="{4059749F-AD27-4B6A-AC61-D71296FA99F6}"/>
    <pc:docChg chg="undo custSel addSld delSld modSld sldOrd">
      <pc:chgData name="Petru Tarabuta" userId="7ad468d54291d0a0" providerId="LiveId" clId="{4059749F-AD27-4B6A-AC61-D71296FA99F6}" dt="2023-09-19T09:35:29.063" v="1457" actId="6549"/>
      <pc:docMkLst>
        <pc:docMk/>
      </pc:docMkLst>
      <pc:sldChg chg="addSp delSp modSp mod modNotesTx">
        <pc:chgData name="Petru Tarabuta" userId="7ad468d54291d0a0" providerId="LiveId" clId="{4059749F-AD27-4B6A-AC61-D71296FA99F6}" dt="2023-09-19T09:35:29.063" v="1457" actId="6549"/>
        <pc:sldMkLst>
          <pc:docMk/>
          <pc:sldMk cId="3391995577" sldId="256"/>
        </pc:sldMkLst>
        <pc:spChg chg="del mod">
          <ac:chgData name="Petru Tarabuta" userId="7ad468d54291d0a0" providerId="LiveId" clId="{4059749F-AD27-4B6A-AC61-D71296FA99F6}" dt="2023-09-19T09:18:04.085" v="365" actId="478"/>
          <ac:spMkLst>
            <pc:docMk/>
            <pc:sldMk cId="3391995577" sldId="256"/>
            <ac:spMk id="8" creationId="{9DE8846F-C8C7-BB19-08F8-E404783BF92F}"/>
          </ac:spMkLst>
        </pc:spChg>
        <pc:spChg chg="add mod">
          <ac:chgData name="Petru Tarabuta" userId="7ad468d54291d0a0" providerId="LiveId" clId="{4059749F-AD27-4B6A-AC61-D71296FA99F6}" dt="2023-09-19T09:25:52.109" v="1031" actId="1076"/>
          <ac:spMkLst>
            <pc:docMk/>
            <pc:sldMk cId="3391995577" sldId="256"/>
            <ac:spMk id="12" creationId="{EB5A00F3-5A13-0C49-83A5-549C4AF6EA81}"/>
          </ac:spMkLst>
        </pc:spChg>
        <pc:spChg chg="add mod">
          <ac:chgData name="Petru Tarabuta" userId="7ad468d54291d0a0" providerId="LiveId" clId="{4059749F-AD27-4B6A-AC61-D71296FA99F6}" dt="2023-09-19T09:29:14.166" v="1208" actId="20577"/>
          <ac:spMkLst>
            <pc:docMk/>
            <pc:sldMk cId="3391995577" sldId="256"/>
            <ac:spMk id="13" creationId="{A0D46B8A-9D3F-91A0-F172-A5A2116A3EDF}"/>
          </ac:spMkLst>
        </pc:spChg>
        <pc:spChg chg="add mod">
          <ac:chgData name="Petru Tarabuta" userId="7ad468d54291d0a0" providerId="LiveId" clId="{4059749F-AD27-4B6A-AC61-D71296FA99F6}" dt="2023-09-19T09:29:01.525" v="1172" actId="20577"/>
          <ac:spMkLst>
            <pc:docMk/>
            <pc:sldMk cId="3391995577" sldId="256"/>
            <ac:spMk id="14" creationId="{F4FA4F19-F068-3E58-BD0F-FD0D61C2CBDB}"/>
          </ac:spMkLst>
        </pc:spChg>
        <pc:picChg chg="del mod">
          <ac:chgData name="Petru Tarabuta" userId="7ad468d54291d0a0" providerId="LiveId" clId="{4059749F-AD27-4B6A-AC61-D71296FA99F6}" dt="2023-09-19T09:18:03.060" v="364" actId="478"/>
          <ac:picMkLst>
            <pc:docMk/>
            <pc:sldMk cId="3391995577" sldId="256"/>
            <ac:picMk id="6" creationId="{68EFDBFA-0C0B-9907-DA6E-E5D3F2EFFBA3}"/>
          </ac:picMkLst>
        </pc:picChg>
        <pc:picChg chg="add del">
          <ac:chgData name="Petru Tarabuta" userId="7ad468d54291d0a0" providerId="LiveId" clId="{4059749F-AD27-4B6A-AC61-D71296FA99F6}" dt="2023-09-19T09:15:01.780" v="301" actId="478"/>
          <ac:picMkLst>
            <pc:docMk/>
            <pc:sldMk cId="3391995577" sldId="256"/>
            <ac:picMk id="7" creationId="{21BF246C-CB68-83AF-DEBE-2E1CF9738CDF}"/>
          </ac:picMkLst>
        </pc:picChg>
        <pc:picChg chg="add mod">
          <ac:chgData name="Petru Tarabuta" userId="7ad468d54291d0a0" providerId="LiveId" clId="{4059749F-AD27-4B6A-AC61-D71296FA99F6}" dt="2023-09-19T09:19:14.770" v="375" actId="1076"/>
          <ac:picMkLst>
            <pc:docMk/>
            <pc:sldMk cId="3391995577" sldId="256"/>
            <ac:picMk id="9" creationId="{65C807FE-3E92-8A10-D384-092EFD045666}"/>
          </ac:picMkLst>
        </pc:picChg>
        <pc:picChg chg="add mod">
          <ac:chgData name="Petru Tarabuta" userId="7ad468d54291d0a0" providerId="LiveId" clId="{4059749F-AD27-4B6A-AC61-D71296FA99F6}" dt="2023-09-19T09:22:59.626" v="911" actId="14100"/>
          <ac:picMkLst>
            <pc:docMk/>
            <pc:sldMk cId="3391995577" sldId="256"/>
            <ac:picMk id="11" creationId="{CFB34617-D4F7-E529-6B2E-A3533A32A756}"/>
          </ac:picMkLst>
        </pc:picChg>
      </pc:sldChg>
      <pc:sldChg chg="modSp mod">
        <pc:chgData name="Petru Tarabuta" userId="7ad468d54291d0a0" providerId="LiveId" clId="{4059749F-AD27-4B6A-AC61-D71296FA99F6}" dt="2023-09-19T09:30:44.598" v="1349" actId="6549"/>
        <pc:sldMkLst>
          <pc:docMk/>
          <pc:sldMk cId="518522733" sldId="257"/>
        </pc:sldMkLst>
        <pc:spChg chg="mod">
          <ac:chgData name="Petru Tarabuta" userId="7ad468d54291d0a0" providerId="LiveId" clId="{4059749F-AD27-4B6A-AC61-D71296FA99F6}" dt="2023-09-19T09:30:44.598" v="1349" actId="6549"/>
          <ac:spMkLst>
            <pc:docMk/>
            <pc:sldMk cId="518522733" sldId="257"/>
            <ac:spMk id="3" creationId="{C9E225EF-8FB7-C051-548B-0D2CEE3D5028}"/>
          </ac:spMkLst>
        </pc:spChg>
      </pc:sldChg>
      <pc:sldChg chg="del">
        <pc:chgData name="Petru Tarabuta" userId="7ad468d54291d0a0" providerId="LiveId" clId="{4059749F-AD27-4B6A-AC61-D71296FA99F6}" dt="2023-09-19T09:31:01.772" v="1350" actId="47"/>
        <pc:sldMkLst>
          <pc:docMk/>
          <pc:sldMk cId="533209794" sldId="258"/>
        </pc:sldMkLst>
      </pc:sldChg>
      <pc:sldChg chg="del">
        <pc:chgData name="Petru Tarabuta" userId="7ad468d54291d0a0" providerId="LiveId" clId="{4059749F-AD27-4B6A-AC61-D71296FA99F6}" dt="2023-09-19T09:31:03.764" v="1351" actId="47"/>
        <pc:sldMkLst>
          <pc:docMk/>
          <pc:sldMk cId="1757009250" sldId="259"/>
        </pc:sldMkLst>
      </pc:sldChg>
      <pc:sldChg chg="modSp mod">
        <pc:chgData name="Petru Tarabuta" userId="7ad468d54291d0a0" providerId="LiveId" clId="{4059749F-AD27-4B6A-AC61-D71296FA99F6}" dt="2023-09-19T09:31:43.498" v="1357" actId="13926"/>
        <pc:sldMkLst>
          <pc:docMk/>
          <pc:sldMk cId="2659160831" sldId="260"/>
        </pc:sldMkLst>
        <pc:spChg chg="mod">
          <ac:chgData name="Petru Tarabuta" userId="7ad468d54291d0a0" providerId="LiveId" clId="{4059749F-AD27-4B6A-AC61-D71296FA99F6}" dt="2023-09-19T09:31:43.498" v="1357" actId="13926"/>
          <ac:spMkLst>
            <pc:docMk/>
            <pc:sldMk cId="2659160831" sldId="260"/>
            <ac:spMk id="2" creationId="{C136951F-3CAB-873B-3412-79C1E020103B}"/>
          </ac:spMkLst>
        </pc:spChg>
      </pc:sldChg>
      <pc:sldChg chg="modSp mod">
        <pc:chgData name="Petru Tarabuta" userId="7ad468d54291d0a0" providerId="LiveId" clId="{4059749F-AD27-4B6A-AC61-D71296FA99F6}" dt="2023-09-19T09:31:39.836" v="1356" actId="13926"/>
        <pc:sldMkLst>
          <pc:docMk/>
          <pc:sldMk cId="3512450274" sldId="261"/>
        </pc:sldMkLst>
        <pc:spChg chg="mod">
          <ac:chgData name="Petru Tarabuta" userId="7ad468d54291d0a0" providerId="LiveId" clId="{4059749F-AD27-4B6A-AC61-D71296FA99F6}" dt="2023-09-19T09:31:39.836" v="1356" actId="13926"/>
          <ac:spMkLst>
            <pc:docMk/>
            <pc:sldMk cId="3512450274" sldId="261"/>
            <ac:spMk id="2" creationId="{C136951F-3CAB-873B-3412-79C1E020103B}"/>
          </ac:spMkLst>
        </pc:spChg>
      </pc:sldChg>
      <pc:sldChg chg="del">
        <pc:chgData name="Petru Tarabuta" userId="7ad468d54291d0a0" providerId="LiveId" clId="{4059749F-AD27-4B6A-AC61-D71296FA99F6}" dt="2023-09-19T09:31:16.497" v="1354" actId="47"/>
        <pc:sldMkLst>
          <pc:docMk/>
          <pc:sldMk cId="2767491098" sldId="262"/>
        </pc:sldMkLst>
      </pc:sldChg>
      <pc:sldChg chg="del">
        <pc:chgData name="Petru Tarabuta" userId="7ad468d54291d0a0" providerId="LiveId" clId="{4059749F-AD27-4B6A-AC61-D71296FA99F6}" dt="2023-09-19T09:31:05.231" v="1352" actId="47"/>
        <pc:sldMkLst>
          <pc:docMk/>
          <pc:sldMk cId="2083699317" sldId="263"/>
        </pc:sldMkLst>
      </pc:sldChg>
      <pc:sldChg chg="del">
        <pc:chgData name="Petru Tarabuta" userId="7ad468d54291d0a0" providerId="LiveId" clId="{4059749F-AD27-4B6A-AC61-D71296FA99F6}" dt="2023-09-19T09:31:06.143" v="1353" actId="47"/>
        <pc:sldMkLst>
          <pc:docMk/>
          <pc:sldMk cId="3413513684" sldId="264"/>
        </pc:sldMkLst>
      </pc:sldChg>
      <pc:sldChg chg="modSp mod">
        <pc:chgData name="Petru Tarabuta" userId="7ad468d54291d0a0" providerId="LiveId" clId="{4059749F-AD27-4B6A-AC61-D71296FA99F6}" dt="2023-09-19T09:31:36.174" v="1355" actId="13926"/>
        <pc:sldMkLst>
          <pc:docMk/>
          <pc:sldMk cId="1788781683" sldId="265"/>
        </pc:sldMkLst>
        <pc:spChg chg="mod">
          <ac:chgData name="Petru Tarabuta" userId="7ad468d54291d0a0" providerId="LiveId" clId="{4059749F-AD27-4B6A-AC61-D71296FA99F6}" dt="2023-09-19T09:31:36.174" v="1355" actId="13926"/>
          <ac:spMkLst>
            <pc:docMk/>
            <pc:sldMk cId="1788781683" sldId="265"/>
            <ac:spMk id="2" creationId="{C136951F-3CAB-873B-3412-79C1E020103B}"/>
          </ac:spMkLst>
        </pc:spChg>
      </pc:sldChg>
      <pc:sldChg chg="modSp add del mod">
        <pc:chgData name="Petru Tarabuta" userId="7ad468d54291d0a0" providerId="LiveId" clId="{4059749F-AD27-4B6A-AC61-D71296FA99F6}" dt="2023-09-19T09:14:42.340" v="298" actId="2696"/>
        <pc:sldMkLst>
          <pc:docMk/>
          <pc:sldMk cId="1082255455" sldId="266"/>
        </pc:sldMkLst>
        <pc:spChg chg="mod">
          <ac:chgData name="Petru Tarabuta" userId="7ad468d54291d0a0" providerId="LiveId" clId="{4059749F-AD27-4B6A-AC61-D71296FA99F6}" dt="2023-09-19T09:12:59.863" v="9" actId="20577"/>
          <ac:spMkLst>
            <pc:docMk/>
            <pc:sldMk cId="1082255455" sldId="266"/>
            <ac:spMk id="2" creationId="{6460F2A9-C14C-C9AA-D479-58345410E007}"/>
          </ac:spMkLst>
        </pc:spChg>
      </pc:sldChg>
      <pc:sldChg chg="modSp add mod">
        <pc:chgData name="Petru Tarabuta" userId="7ad468d54291d0a0" providerId="LiveId" clId="{4059749F-AD27-4B6A-AC61-D71296FA99F6}" dt="2023-09-19T09:14:36.584" v="297" actId="15"/>
        <pc:sldMkLst>
          <pc:docMk/>
          <pc:sldMk cId="1610733075" sldId="267"/>
        </pc:sldMkLst>
        <pc:spChg chg="mod">
          <ac:chgData name="Petru Tarabuta" userId="7ad468d54291d0a0" providerId="LiveId" clId="{4059749F-AD27-4B6A-AC61-D71296FA99F6}" dt="2023-09-19T09:13:11.284" v="34" actId="20577"/>
          <ac:spMkLst>
            <pc:docMk/>
            <pc:sldMk cId="1610733075" sldId="267"/>
            <ac:spMk id="2" creationId="{C136951F-3CAB-873B-3412-79C1E020103B}"/>
          </ac:spMkLst>
        </pc:spChg>
        <pc:spChg chg="mod">
          <ac:chgData name="Petru Tarabuta" userId="7ad468d54291d0a0" providerId="LiveId" clId="{4059749F-AD27-4B6A-AC61-D71296FA99F6}" dt="2023-09-19T09:14:36.584" v="297" actId="15"/>
          <ac:spMkLst>
            <pc:docMk/>
            <pc:sldMk cId="1610733075" sldId="267"/>
            <ac:spMk id="3" creationId="{C9E225EF-8FB7-C051-548B-0D2CEE3D5028}"/>
          </ac:spMkLst>
        </pc:spChg>
      </pc:sldChg>
      <pc:sldChg chg="add del">
        <pc:chgData name="Petru Tarabuta" userId="7ad468d54291d0a0" providerId="LiveId" clId="{4059749F-AD27-4B6A-AC61-D71296FA99F6}" dt="2023-09-19T09:29:34.447" v="1209" actId="2696"/>
        <pc:sldMkLst>
          <pc:docMk/>
          <pc:sldMk cId="3710818296" sldId="268"/>
        </pc:sldMkLst>
      </pc:sldChg>
      <pc:sldChg chg="addSp modSp add mod ord">
        <pc:chgData name="Petru Tarabuta" userId="7ad468d54291d0a0" providerId="LiveId" clId="{4059749F-AD27-4B6A-AC61-D71296FA99F6}" dt="2023-09-19T09:22:32.357" v="909" actId="20577"/>
        <pc:sldMkLst>
          <pc:docMk/>
          <pc:sldMk cId="1173004629" sldId="269"/>
        </pc:sldMkLst>
        <pc:spChg chg="mod">
          <ac:chgData name="Petru Tarabuta" userId="7ad468d54291d0a0" providerId="LiveId" clId="{4059749F-AD27-4B6A-AC61-D71296FA99F6}" dt="2023-09-19T09:20:42.926" v="561" actId="552"/>
          <ac:spMkLst>
            <pc:docMk/>
            <pc:sldMk cId="1173004629" sldId="269"/>
            <ac:spMk id="2" creationId="{C136951F-3CAB-873B-3412-79C1E020103B}"/>
          </ac:spMkLst>
        </pc:spChg>
        <pc:spChg chg="mod">
          <ac:chgData name="Petru Tarabuta" userId="7ad468d54291d0a0" providerId="LiveId" clId="{4059749F-AD27-4B6A-AC61-D71296FA99F6}" dt="2023-09-19T09:20:31.747" v="557" actId="14100"/>
          <ac:spMkLst>
            <pc:docMk/>
            <pc:sldMk cId="1173004629" sldId="269"/>
            <ac:spMk id="3" creationId="{C9E225EF-8FB7-C051-548B-0D2CEE3D5028}"/>
          </ac:spMkLst>
        </pc:spChg>
        <pc:spChg chg="add mod">
          <ac:chgData name="Petru Tarabuta" userId="7ad468d54291d0a0" providerId="LiveId" clId="{4059749F-AD27-4B6A-AC61-D71296FA99F6}" dt="2023-09-19T09:20:56.511" v="569" actId="552"/>
          <ac:spMkLst>
            <pc:docMk/>
            <pc:sldMk cId="1173004629" sldId="269"/>
            <ac:spMk id="5" creationId="{129766F4-53C9-976C-7A33-7EF93EF94C30}"/>
          </ac:spMkLst>
        </pc:spChg>
        <pc:spChg chg="add mod">
          <ac:chgData name="Petru Tarabuta" userId="7ad468d54291d0a0" providerId="LiveId" clId="{4059749F-AD27-4B6A-AC61-D71296FA99F6}" dt="2023-09-19T09:22:32.357" v="909" actId="20577"/>
          <ac:spMkLst>
            <pc:docMk/>
            <pc:sldMk cId="1173004629" sldId="269"/>
            <ac:spMk id="6" creationId="{5696F65A-5CB8-D7A1-7224-AF9F5675AD07}"/>
          </ac:spMkLst>
        </pc:spChg>
      </pc:sldChg>
      <pc:sldChg chg="modSp new del mod ord">
        <pc:chgData name="Petru Tarabuta" userId="7ad468d54291d0a0" providerId="LiveId" clId="{4059749F-AD27-4B6A-AC61-D71296FA99F6}" dt="2023-09-19T09:19:39.601" v="381" actId="47"/>
        <pc:sldMkLst>
          <pc:docMk/>
          <pc:sldMk cId="2506027656" sldId="269"/>
        </pc:sldMkLst>
        <pc:spChg chg="mod">
          <ac:chgData name="Petru Tarabuta" userId="7ad468d54291d0a0" providerId="LiveId" clId="{4059749F-AD27-4B6A-AC61-D71296FA99F6}" dt="2023-09-19T09:19:36.262" v="380" actId="20577"/>
          <ac:spMkLst>
            <pc:docMk/>
            <pc:sldMk cId="2506027656" sldId="269"/>
            <ac:spMk id="2" creationId="{23F6918A-205A-556E-5F4D-B8A36CE9DA31}"/>
          </ac:spMkLst>
        </pc:spChg>
      </pc:sldChg>
      <pc:sldChg chg="addSp delSp modSp add mod ord">
        <pc:chgData name="Petru Tarabuta" userId="7ad468d54291d0a0" providerId="LiveId" clId="{4059749F-AD27-4B6A-AC61-D71296FA99F6}" dt="2023-09-19T09:29:41.175" v="1211" actId="20577"/>
        <pc:sldMkLst>
          <pc:docMk/>
          <pc:sldMk cId="43822961" sldId="270"/>
        </pc:sldMkLst>
        <pc:spChg chg="mod">
          <ac:chgData name="Petru Tarabuta" userId="7ad468d54291d0a0" providerId="LiveId" clId="{4059749F-AD27-4B6A-AC61-D71296FA99F6}" dt="2023-09-19T09:23:42.326" v="928" actId="552"/>
          <ac:spMkLst>
            <pc:docMk/>
            <pc:sldMk cId="43822961" sldId="270"/>
            <ac:spMk id="2" creationId="{C136951F-3CAB-873B-3412-79C1E020103B}"/>
          </ac:spMkLst>
        </pc:spChg>
        <pc:spChg chg="del">
          <ac:chgData name="Petru Tarabuta" userId="7ad468d54291d0a0" providerId="LiveId" clId="{4059749F-AD27-4B6A-AC61-D71296FA99F6}" dt="2023-09-19T09:23:23.469" v="924" actId="478"/>
          <ac:spMkLst>
            <pc:docMk/>
            <pc:sldMk cId="43822961" sldId="270"/>
            <ac:spMk id="3" creationId="{C9E225EF-8FB7-C051-548B-0D2CEE3D5028}"/>
          </ac:spMkLst>
        </pc:spChg>
        <pc:spChg chg="add del mod">
          <ac:chgData name="Petru Tarabuta" userId="7ad468d54291d0a0" providerId="LiveId" clId="{4059749F-AD27-4B6A-AC61-D71296FA99F6}" dt="2023-09-19T09:23:26.085" v="925" actId="478"/>
          <ac:spMkLst>
            <pc:docMk/>
            <pc:sldMk cId="43822961" sldId="270"/>
            <ac:spMk id="6" creationId="{567D09B4-672A-9D3E-A02A-6457E1EEF4B0}"/>
          </ac:spMkLst>
        </pc:spChg>
        <pc:spChg chg="add mod">
          <ac:chgData name="Petru Tarabuta" userId="7ad468d54291d0a0" providerId="LiveId" clId="{4059749F-AD27-4B6A-AC61-D71296FA99F6}" dt="2023-09-19T09:29:41.175" v="1211" actId="20577"/>
          <ac:spMkLst>
            <pc:docMk/>
            <pc:sldMk cId="43822961" sldId="270"/>
            <ac:spMk id="7" creationId="{8ED33030-985A-CC9F-05DD-F8483AA06547}"/>
          </ac:spMkLst>
        </pc:spChg>
        <pc:picChg chg="add mod">
          <ac:chgData name="Petru Tarabuta" userId="7ad468d54291d0a0" providerId="LiveId" clId="{4059749F-AD27-4B6A-AC61-D71296FA99F6}" dt="2023-09-19T09:23:50.038" v="929" actId="552"/>
          <ac:picMkLst>
            <pc:docMk/>
            <pc:sldMk cId="43822961" sldId="270"/>
            <ac:picMk id="8" creationId="{07E2F328-01FB-FC62-09BF-624BD56B79E3}"/>
          </ac:picMkLst>
        </pc:picChg>
      </pc:sldChg>
      <pc:sldChg chg="addSp delSp modSp add mod modAnim">
        <pc:chgData name="Petru Tarabuta" userId="7ad468d54291d0a0" providerId="LiveId" clId="{4059749F-AD27-4B6A-AC61-D71296FA99F6}" dt="2023-09-19T09:33:43.404" v="1452" actId="27636"/>
        <pc:sldMkLst>
          <pc:docMk/>
          <pc:sldMk cId="1013814322" sldId="271"/>
        </pc:sldMkLst>
        <pc:spChg chg="mod">
          <ac:chgData name="Petru Tarabuta" userId="7ad468d54291d0a0" providerId="LiveId" clId="{4059749F-AD27-4B6A-AC61-D71296FA99F6}" dt="2023-09-19T09:32:30.453" v="1413" actId="20577"/>
          <ac:spMkLst>
            <pc:docMk/>
            <pc:sldMk cId="1013814322" sldId="271"/>
            <ac:spMk id="2" creationId="{C136951F-3CAB-873B-3412-79C1E020103B}"/>
          </ac:spMkLst>
        </pc:spChg>
        <pc:spChg chg="mod">
          <ac:chgData name="Petru Tarabuta" userId="7ad468d54291d0a0" providerId="LiveId" clId="{4059749F-AD27-4B6A-AC61-D71296FA99F6}" dt="2023-09-19T09:33:43.404" v="1452" actId="27636"/>
          <ac:spMkLst>
            <pc:docMk/>
            <pc:sldMk cId="1013814322" sldId="271"/>
            <ac:spMk id="4" creationId="{4C843C5A-9E32-56D4-62F8-120363B71924}"/>
          </ac:spMkLst>
        </pc:spChg>
        <pc:picChg chg="add del mod">
          <ac:chgData name="Petru Tarabuta" userId="7ad468d54291d0a0" providerId="LiveId" clId="{4059749F-AD27-4B6A-AC61-D71296FA99F6}" dt="2023-09-19T09:33:40.550" v="1450" actId="478"/>
          <ac:picMkLst>
            <pc:docMk/>
            <pc:sldMk cId="1013814322" sldId="271"/>
            <ac:picMk id="3" creationId="{C551AA47-2EFE-40A7-C8EB-CEAE5584EB83}"/>
          </ac:picMkLst>
        </pc:picChg>
      </pc:sldChg>
      <pc:sldChg chg="new del">
        <pc:chgData name="Petru Tarabuta" userId="7ad468d54291d0a0" providerId="LiveId" clId="{4059749F-AD27-4B6A-AC61-D71296FA99F6}" dt="2023-09-19T09:31:48.690" v="1359" actId="680"/>
        <pc:sldMkLst>
          <pc:docMk/>
          <pc:sldMk cId="3163344459" sldId="271"/>
        </pc:sldMkLst>
      </pc:sldChg>
    </pc:docChg>
  </pc:docChgLst>
  <pc:docChgLst>
    <pc:chgData name="Petru Tarabuta" userId="7ad468d54291d0a0" providerId="LiveId" clId="{E88A1E69-8D71-44EF-B3EE-78D7011C8E75}"/>
    <pc:docChg chg="undo custSel addSld delSld modSld sldOrd">
      <pc:chgData name="Petru Tarabuta" userId="7ad468d54291d0a0" providerId="LiveId" clId="{E88A1E69-8D71-44EF-B3EE-78D7011C8E75}" dt="2023-10-01T19:26:13.386" v="5552" actId="478"/>
      <pc:docMkLst>
        <pc:docMk/>
      </pc:docMkLst>
      <pc:sldChg chg="addSp delSp modSp mod">
        <pc:chgData name="Petru Tarabuta" userId="7ad468d54291d0a0" providerId="LiveId" clId="{E88A1E69-8D71-44EF-B3EE-78D7011C8E75}" dt="2023-09-20T21:49:58.602" v="2633" actId="1038"/>
        <pc:sldMkLst>
          <pc:docMk/>
          <pc:sldMk cId="3391995577" sldId="256"/>
        </pc:sldMkLst>
        <pc:spChg chg="del mod topLvl">
          <ac:chgData name="Petru Tarabuta" userId="7ad468d54291d0a0" providerId="LiveId" clId="{E88A1E69-8D71-44EF-B3EE-78D7011C8E75}" dt="2023-09-20T21:49:10.779" v="2616" actId="478"/>
          <ac:spMkLst>
            <pc:docMk/>
            <pc:sldMk cId="3391995577" sldId="256"/>
            <ac:spMk id="13" creationId="{A0D46B8A-9D3F-91A0-F172-A5A2116A3EDF}"/>
          </ac:spMkLst>
        </pc:spChg>
        <pc:spChg chg="mod">
          <ac:chgData name="Petru Tarabuta" userId="7ad468d54291d0a0" providerId="LiveId" clId="{E88A1E69-8D71-44EF-B3EE-78D7011C8E75}" dt="2023-09-20T21:48:33.643" v="2608" actId="164"/>
          <ac:spMkLst>
            <pc:docMk/>
            <pc:sldMk cId="3391995577" sldId="256"/>
            <ac:spMk id="14" creationId="{F4FA4F19-F068-3E58-BD0F-FD0D61C2CBDB}"/>
          </ac:spMkLst>
        </pc:spChg>
        <pc:grpChg chg="add del mod">
          <ac:chgData name="Petru Tarabuta" userId="7ad468d54291d0a0" providerId="LiveId" clId="{E88A1E69-8D71-44EF-B3EE-78D7011C8E75}" dt="2023-09-20T21:49:05.265" v="2613" actId="478"/>
          <ac:grpSpMkLst>
            <pc:docMk/>
            <pc:sldMk cId="3391995577" sldId="256"/>
            <ac:grpSpMk id="4" creationId="{F4AD9AC7-BC8C-7C1E-3619-283F6730582F}"/>
          </ac:grpSpMkLst>
        </pc:grpChg>
        <pc:grpChg chg="add del mod">
          <ac:chgData name="Petru Tarabuta" userId="7ad468d54291d0a0" providerId="LiveId" clId="{E88A1E69-8D71-44EF-B3EE-78D7011C8E75}" dt="2023-09-20T21:49:08.173" v="2614" actId="165"/>
          <ac:grpSpMkLst>
            <pc:docMk/>
            <pc:sldMk cId="3391995577" sldId="256"/>
            <ac:grpSpMk id="6" creationId="{8D743A51-CCEE-DB33-D0F8-1B086E0F9049}"/>
          </ac:grpSpMkLst>
        </pc:grpChg>
        <pc:picChg chg="mod">
          <ac:chgData name="Petru Tarabuta" userId="7ad468d54291d0a0" providerId="LiveId" clId="{E88A1E69-8D71-44EF-B3EE-78D7011C8E75}" dt="2023-09-20T21:49:58.602" v="2633" actId="1038"/>
          <ac:picMkLst>
            <pc:docMk/>
            <pc:sldMk cId="3391995577" sldId="256"/>
            <ac:picMk id="5" creationId="{669DAE29-F80C-5FC7-D2C1-D5463345A3A6}"/>
          </ac:picMkLst>
        </pc:picChg>
        <pc:picChg chg="mod topLvl">
          <ac:chgData name="Petru Tarabuta" userId="7ad468d54291d0a0" providerId="LiveId" clId="{E88A1E69-8D71-44EF-B3EE-78D7011C8E75}" dt="2023-09-20T21:49:15.854" v="2617" actId="1076"/>
          <ac:picMkLst>
            <pc:docMk/>
            <pc:sldMk cId="3391995577" sldId="256"/>
            <ac:picMk id="9" creationId="{65C807FE-3E92-8A10-D384-092EFD045666}"/>
          </ac:picMkLst>
        </pc:picChg>
        <pc:picChg chg="mod">
          <ac:chgData name="Petru Tarabuta" userId="7ad468d54291d0a0" providerId="LiveId" clId="{E88A1E69-8D71-44EF-B3EE-78D7011C8E75}" dt="2023-09-20T21:48:33.643" v="2608" actId="164"/>
          <ac:picMkLst>
            <pc:docMk/>
            <pc:sldMk cId="3391995577" sldId="256"/>
            <ac:picMk id="11" creationId="{CFB34617-D4F7-E529-6B2E-A3533A32A756}"/>
          </ac:picMkLst>
        </pc:picChg>
      </pc:sldChg>
      <pc:sldChg chg="modSp del mod">
        <pc:chgData name="Petru Tarabuta" userId="7ad468d54291d0a0" providerId="LiveId" clId="{E88A1E69-8D71-44EF-B3EE-78D7011C8E75}" dt="2023-09-20T21:16:26.801" v="105" actId="2696"/>
        <pc:sldMkLst>
          <pc:docMk/>
          <pc:sldMk cId="518522733" sldId="257"/>
        </pc:sldMkLst>
        <pc:spChg chg="mod">
          <ac:chgData name="Petru Tarabuta" userId="7ad468d54291d0a0" providerId="LiveId" clId="{E88A1E69-8D71-44EF-B3EE-78D7011C8E75}" dt="2023-09-20T21:16:04.025" v="104" actId="21"/>
          <ac:spMkLst>
            <pc:docMk/>
            <pc:sldMk cId="518522733" sldId="257"/>
            <ac:spMk id="3" creationId="{C9E225EF-8FB7-C051-548B-0D2CEE3D5028}"/>
          </ac:spMkLst>
        </pc:spChg>
      </pc:sldChg>
      <pc:sldChg chg="del">
        <pc:chgData name="Petru Tarabuta" userId="7ad468d54291d0a0" providerId="LiveId" clId="{E88A1E69-8D71-44EF-B3EE-78D7011C8E75}" dt="2023-09-20T21:43:06.991" v="2567" actId="47"/>
        <pc:sldMkLst>
          <pc:docMk/>
          <pc:sldMk cId="2659160831" sldId="260"/>
        </pc:sldMkLst>
      </pc:sldChg>
      <pc:sldChg chg="addSp delSp modSp del mod ord">
        <pc:chgData name="Petru Tarabuta" userId="7ad468d54291d0a0" providerId="LiveId" clId="{E88A1E69-8D71-44EF-B3EE-78D7011C8E75}" dt="2023-09-20T21:55:56.405" v="2797" actId="47"/>
        <pc:sldMkLst>
          <pc:docMk/>
          <pc:sldMk cId="3512450274" sldId="261"/>
        </pc:sldMkLst>
        <pc:spChg chg="mod">
          <ac:chgData name="Petru Tarabuta" userId="7ad468d54291d0a0" providerId="LiveId" clId="{E88A1E69-8D71-44EF-B3EE-78D7011C8E75}" dt="2023-09-20T21:43:21.191" v="2572" actId="20577"/>
          <ac:spMkLst>
            <pc:docMk/>
            <pc:sldMk cId="3512450274" sldId="261"/>
            <ac:spMk id="8" creationId="{C4E3EAAD-5B88-5126-4273-DCF70F75A847}"/>
          </ac:spMkLst>
        </pc:spChg>
        <pc:picChg chg="add mod">
          <ac:chgData name="Petru Tarabuta" userId="7ad468d54291d0a0" providerId="LiveId" clId="{E88A1E69-8D71-44EF-B3EE-78D7011C8E75}" dt="2023-09-20T21:50:47.984" v="2653"/>
          <ac:picMkLst>
            <pc:docMk/>
            <pc:sldMk cId="3512450274" sldId="261"/>
            <ac:picMk id="3" creationId="{E8B3B907-ABCA-75A6-7477-C76F8B5DCF89}"/>
          </ac:picMkLst>
        </pc:picChg>
        <pc:picChg chg="del mod modCrop">
          <ac:chgData name="Petru Tarabuta" userId="7ad468d54291d0a0" providerId="LiveId" clId="{E88A1E69-8D71-44EF-B3EE-78D7011C8E75}" dt="2023-09-20T21:45:41.418" v="2595" actId="21"/>
          <ac:picMkLst>
            <pc:docMk/>
            <pc:sldMk cId="3512450274" sldId="261"/>
            <ac:picMk id="7" creationId="{0B316CEE-4AAF-9B7F-C511-F93A36F89FE5}"/>
          </ac:picMkLst>
        </pc:picChg>
        <pc:picChg chg="del">
          <ac:chgData name="Petru Tarabuta" userId="7ad468d54291d0a0" providerId="LiveId" clId="{E88A1E69-8D71-44EF-B3EE-78D7011C8E75}" dt="2023-09-20T21:50:47.729" v="2652" actId="478"/>
          <ac:picMkLst>
            <pc:docMk/>
            <pc:sldMk cId="3512450274" sldId="261"/>
            <ac:picMk id="9" creationId="{EA22BAC0-ACA7-4FF7-D987-699C125F2613}"/>
          </ac:picMkLst>
        </pc:picChg>
      </pc:sldChg>
      <pc:sldChg chg="addSp delSp modSp mod modAnim">
        <pc:chgData name="Petru Tarabuta" userId="7ad468d54291d0a0" providerId="LiveId" clId="{E88A1E69-8D71-44EF-B3EE-78D7011C8E75}" dt="2023-09-20T22:42:48.103" v="5464" actId="1035"/>
        <pc:sldMkLst>
          <pc:docMk/>
          <pc:sldMk cId="1788781683" sldId="265"/>
        </pc:sldMkLst>
        <pc:spChg chg="mod">
          <ac:chgData name="Petru Tarabuta" userId="7ad468d54291d0a0" providerId="LiveId" clId="{E88A1E69-8D71-44EF-B3EE-78D7011C8E75}" dt="2023-09-20T21:40:02.580" v="2457" actId="20577"/>
          <ac:spMkLst>
            <pc:docMk/>
            <pc:sldMk cId="1788781683" sldId="265"/>
            <ac:spMk id="2" creationId="{C136951F-3CAB-873B-3412-79C1E020103B}"/>
          </ac:spMkLst>
        </pc:spChg>
        <pc:spChg chg="mod">
          <ac:chgData name="Petru Tarabuta" userId="7ad468d54291d0a0" providerId="LiveId" clId="{E88A1E69-8D71-44EF-B3EE-78D7011C8E75}" dt="2023-09-20T22:15:29.561" v="4266" actId="14100"/>
          <ac:spMkLst>
            <pc:docMk/>
            <pc:sldMk cId="1788781683" sldId="265"/>
            <ac:spMk id="3" creationId="{C9E225EF-8FB7-C051-548B-0D2CEE3D5028}"/>
          </ac:spMkLst>
        </pc:spChg>
        <pc:picChg chg="del">
          <ac:chgData name="Petru Tarabuta" userId="7ad468d54291d0a0" providerId="LiveId" clId="{E88A1E69-8D71-44EF-B3EE-78D7011C8E75}" dt="2023-09-20T21:50:37.458" v="2646" actId="478"/>
          <ac:picMkLst>
            <pc:docMk/>
            <pc:sldMk cId="1788781683" sldId="265"/>
            <ac:picMk id="4" creationId="{1C49F5A9-580F-36BC-BB85-3EE2B74BEB09}"/>
          </ac:picMkLst>
        </pc:picChg>
        <pc:picChg chg="add mod ord">
          <ac:chgData name="Petru Tarabuta" userId="7ad468d54291d0a0" providerId="LiveId" clId="{E88A1E69-8D71-44EF-B3EE-78D7011C8E75}" dt="2023-09-20T22:42:48.103" v="5464" actId="1035"/>
          <ac:picMkLst>
            <pc:docMk/>
            <pc:sldMk cId="1788781683" sldId="265"/>
            <ac:picMk id="5" creationId="{5E04F6C1-3792-5C6B-558F-09F22420C728}"/>
          </ac:picMkLst>
        </pc:picChg>
        <pc:picChg chg="add mod">
          <ac:chgData name="Petru Tarabuta" userId="7ad468d54291d0a0" providerId="LiveId" clId="{E88A1E69-8D71-44EF-B3EE-78D7011C8E75}" dt="2023-09-20T21:50:37.759" v="2647"/>
          <ac:picMkLst>
            <pc:docMk/>
            <pc:sldMk cId="1788781683" sldId="265"/>
            <ac:picMk id="6" creationId="{D7272ED6-88A0-1C3F-53E7-A9BC138DE321}"/>
          </ac:picMkLst>
        </pc:picChg>
      </pc:sldChg>
      <pc:sldChg chg="addSp delSp modSp mod">
        <pc:chgData name="Petru Tarabuta" userId="7ad468d54291d0a0" providerId="LiveId" clId="{E88A1E69-8D71-44EF-B3EE-78D7011C8E75}" dt="2023-09-20T22:32:45.648" v="5113" actId="20577"/>
        <pc:sldMkLst>
          <pc:docMk/>
          <pc:sldMk cId="1610733075" sldId="267"/>
        </pc:sldMkLst>
        <pc:spChg chg="mod">
          <ac:chgData name="Petru Tarabuta" userId="7ad468d54291d0a0" providerId="LiveId" clId="{E88A1E69-8D71-44EF-B3EE-78D7011C8E75}" dt="2023-09-20T22:32:45.648" v="5113" actId="20577"/>
          <ac:spMkLst>
            <pc:docMk/>
            <pc:sldMk cId="1610733075" sldId="267"/>
            <ac:spMk id="2" creationId="{C136951F-3CAB-873B-3412-79C1E020103B}"/>
          </ac:spMkLst>
        </pc:spChg>
        <pc:spChg chg="mod">
          <ac:chgData name="Petru Tarabuta" userId="7ad468d54291d0a0" providerId="LiveId" clId="{E88A1E69-8D71-44EF-B3EE-78D7011C8E75}" dt="2023-09-20T21:48:50.775" v="2610"/>
          <ac:spMkLst>
            <pc:docMk/>
            <pc:sldMk cId="1610733075" sldId="267"/>
            <ac:spMk id="7" creationId="{998681B6-0483-A179-7A4B-B31B17AA271E}"/>
          </ac:spMkLst>
        </pc:spChg>
        <pc:spChg chg="mod">
          <ac:chgData name="Petru Tarabuta" userId="7ad468d54291d0a0" providerId="LiveId" clId="{E88A1E69-8D71-44EF-B3EE-78D7011C8E75}" dt="2023-09-20T21:48:50.775" v="2610"/>
          <ac:spMkLst>
            <pc:docMk/>
            <pc:sldMk cId="1610733075" sldId="267"/>
            <ac:spMk id="10" creationId="{FDBC9D2B-BEA3-A2D4-AF80-FB32E08D52F7}"/>
          </ac:spMkLst>
        </pc:spChg>
        <pc:grpChg chg="add mod ord">
          <ac:chgData name="Petru Tarabuta" userId="7ad468d54291d0a0" providerId="LiveId" clId="{E88A1E69-8D71-44EF-B3EE-78D7011C8E75}" dt="2023-09-20T21:48:58.232" v="2612" actId="166"/>
          <ac:grpSpMkLst>
            <pc:docMk/>
            <pc:sldMk cId="1610733075" sldId="267"/>
            <ac:grpSpMk id="5" creationId="{E4AAFC43-D8FD-406D-78AF-2B9AB5BF1A42}"/>
          </ac:grpSpMkLst>
        </pc:grpChg>
        <pc:grpChg chg="add mod ord">
          <ac:chgData name="Petru Tarabuta" userId="7ad468d54291d0a0" providerId="LiveId" clId="{E88A1E69-8D71-44EF-B3EE-78D7011C8E75}" dt="2023-09-20T21:48:58.232" v="2612" actId="166"/>
          <ac:grpSpMkLst>
            <pc:docMk/>
            <pc:sldMk cId="1610733075" sldId="267"/>
            <ac:grpSpMk id="8" creationId="{E9B12A20-D988-ADBD-9423-2FFF791F0A91}"/>
          </ac:grpSpMkLst>
        </pc:grpChg>
        <pc:picChg chg="del">
          <ac:chgData name="Petru Tarabuta" userId="7ad468d54291d0a0" providerId="LiveId" clId="{E88A1E69-8D71-44EF-B3EE-78D7011C8E75}" dt="2023-09-20T21:50:25.254" v="2640" actId="478"/>
          <ac:picMkLst>
            <pc:docMk/>
            <pc:sldMk cId="1610733075" sldId="267"/>
            <ac:picMk id="4" creationId="{1C49F5A9-580F-36BC-BB85-3EE2B74BEB09}"/>
          </ac:picMkLst>
        </pc:picChg>
        <pc:picChg chg="mod">
          <ac:chgData name="Petru Tarabuta" userId="7ad468d54291d0a0" providerId="LiveId" clId="{E88A1E69-8D71-44EF-B3EE-78D7011C8E75}" dt="2023-09-20T21:48:50.775" v="2610"/>
          <ac:picMkLst>
            <pc:docMk/>
            <pc:sldMk cId="1610733075" sldId="267"/>
            <ac:picMk id="6" creationId="{1D75D733-3545-E3ED-B1A8-635981B1C437}"/>
          </ac:picMkLst>
        </pc:picChg>
        <pc:picChg chg="mod">
          <ac:chgData name="Petru Tarabuta" userId="7ad468d54291d0a0" providerId="LiveId" clId="{E88A1E69-8D71-44EF-B3EE-78D7011C8E75}" dt="2023-09-20T21:48:50.775" v="2610"/>
          <ac:picMkLst>
            <pc:docMk/>
            <pc:sldMk cId="1610733075" sldId="267"/>
            <ac:picMk id="9" creationId="{67DC2C4F-4710-8962-54DE-BB4B985091A6}"/>
          </ac:picMkLst>
        </pc:picChg>
        <pc:picChg chg="add mod">
          <ac:chgData name="Petru Tarabuta" userId="7ad468d54291d0a0" providerId="LiveId" clId="{E88A1E69-8D71-44EF-B3EE-78D7011C8E75}" dt="2023-09-20T21:50:25.625" v="2641"/>
          <ac:picMkLst>
            <pc:docMk/>
            <pc:sldMk cId="1610733075" sldId="267"/>
            <ac:picMk id="11" creationId="{D35606D3-9897-6500-2FD3-4E0BF8FA5D59}"/>
          </ac:picMkLst>
        </pc:picChg>
      </pc:sldChg>
      <pc:sldChg chg="addSp delSp modSp mod modAnim">
        <pc:chgData name="Petru Tarabuta" userId="7ad468d54291d0a0" providerId="LiveId" clId="{E88A1E69-8D71-44EF-B3EE-78D7011C8E75}" dt="2023-09-20T22:29:07.428" v="4840" actId="20577"/>
        <pc:sldMkLst>
          <pc:docMk/>
          <pc:sldMk cId="1173004629" sldId="269"/>
        </pc:sldMkLst>
        <pc:spChg chg="mod">
          <ac:chgData name="Petru Tarabuta" userId="7ad468d54291d0a0" providerId="LiveId" clId="{E88A1E69-8D71-44EF-B3EE-78D7011C8E75}" dt="2023-09-20T22:29:07.428" v="4840" actId="20577"/>
          <ac:spMkLst>
            <pc:docMk/>
            <pc:sldMk cId="1173004629" sldId="269"/>
            <ac:spMk id="3" creationId="{C9E225EF-8FB7-C051-548B-0D2CEE3D5028}"/>
          </ac:spMkLst>
        </pc:spChg>
        <pc:spChg chg="del">
          <ac:chgData name="Petru Tarabuta" userId="7ad468d54291d0a0" providerId="LiveId" clId="{E88A1E69-8D71-44EF-B3EE-78D7011C8E75}" dt="2023-09-20T22:01:13.101" v="3407" actId="478"/>
          <ac:spMkLst>
            <pc:docMk/>
            <pc:sldMk cId="1173004629" sldId="269"/>
            <ac:spMk id="5" creationId="{129766F4-53C9-976C-7A33-7EF93EF94C30}"/>
          </ac:spMkLst>
        </pc:spChg>
        <pc:spChg chg="del">
          <ac:chgData name="Petru Tarabuta" userId="7ad468d54291d0a0" providerId="LiveId" clId="{E88A1E69-8D71-44EF-B3EE-78D7011C8E75}" dt="2023-09-20T22:01:14.249" v="3408" actId="478"/>
          <ac:spMkLst>
            <pc:docMk/>
            <pc:sldMk cId="1173004629" sldId="269"/>
            <ac:spMk id="6" creationId="{5696F65A-5CB8-D7A1-7224-AF9F5675AD07}"/>
          </ac:spMkLst>
        </pc:spChg>
        <pc:picChg chg="del">
          <ac:chgData name="Petru Tarabuta" userId="7ad468d54291d0a0" providerId="LiveId" clId="{E88A1E69-8D71-44EF-B3EE-78D7011C8E75}" dt="2023-09-20T21:50:21.642" v="2638" actId="478"/>
          <ac:picMkLst>
            <pc:docMk/>
            <pc:sldMk cId="1173004629" sldId="269"/>
            <ac:picMk id="4" creationId="{1C49F5A9-580F-36BC-BB85-3EE2B74BEB09}"/>
          </ac:picMkLst>
        </pc:picChg>
        <pc:picChg chg="add mod">
          <ac:chgData name="Petru Tarabuta" userId="7ad468d54291d0a0" providerId="LiveId" clId="{E88A1E69-8D71-44EF-B3EE-78D7011C8E75}" dt="2023-09-20T21:50:21.993" v="2639"/>
          <ac:picMkLst>
            <pc:docMk/>
            <pc:sldMk cId="1173004629" sldId="269"/>
            <ac:picMk id="7" creationId="{974036BB-5E76-6784-10A7-C9394743E5A1}"/>
          </ac:picMkLst>
        </pc:picChg>
      </pc:sldChg>
      <pc:sldChg chg="addSp delSp modSp mod modAnim modNotesTx">
        <pc:chgData name="Petru Tarabuta" userId="7ad468d54291d0a0" providerId="LiveId" clId="{E88A1E69-8D71-44EF-B3EE-78D7011C8E75}" dt="2023-10-01T19:26:13.386" v="5552" actId="478"/>
        <pc:sldMkLst>
          <pc:docMk/>
          <pc:sldMk cId="43822961" sldId="270"/>
        </pc:sldMkLst>
        <pc:spChg chg="add del mod">
          <ac:chgData name="Petru Tarabuta" userId="7ad468d54291d0a0" providerId="LiveId" clId="{E88A1E69-8D71-44EF-B3EE-78D7011C8E75}" dt="2023-10-01T19:26:10.612" v="5551" actId="478"/>
          <ac:spMkLst>
            <pc:docMk/>
            <pc:sldMk cId="43822961" sldId="270"/>
            <ac:spMk id="3" creationId="{6F239705-BA5B-C6C3-458D-7A9B4E0B704E}"/>
          </ac:spMkLst>
        </pc:spChg>
        <pc:spChg chg="add del mod">
          <ac:chgData name="Petru Tarabuta" userId="7ad468d54291d0a0" providerId="LiveId" clId="{E88A1E69-8D71-44EF-B3EE-78D7011C8E75}" dt="2023-10-01T19:26:13.386" v="5552" actId="478"/>
          <ac:spMkLst>
            <pc:docMk/>
            <pc:sldMk cId="43822961" sldId="270"/>
            <ac:spMk id="6" creationId="{6ECA45CF-402F-7B25-DF77-0042045A2F4D}"/>
          </ac:spMkLst>
        </pc:spChg>
        <pc:spChg chg="mod">
          <ac:chgData name="Petru Tarabuta" userId="7ad468d54291d0a0" providerId="LiveId" clId="{E88A1E69-8D71-44EF-B3EE-78D7011C8E75}" dt="2023-09-20T21:53:59.109" v="2705" actId="164"/>
          <ac:spMkLst>
            <pc:docMk/>
            <pc:sldMk cId="43822961" sldId="270"/>
            <ac:spMk id="7" creationId="{8ED33030-985A-CC9F-05DD-F8483AA06547}"/>
          </ac:spMkLst>
        </pc:spChg>
        <pc:spChg chg="add mod">
          <ac:chgData name="Petru Tarabuta" userId="7ad468d54291d0a0" providerId="LiveId" clId="{E88A1E69-8D71-44EF-B3EE-78D7011C8E75}" dt="2023-09-20T21:54:12.290" v="2747" actId="1076"/>
          <ac:spMkLst>
            <pc:docMk/>
            <pc:sldMk cId="43822961" sldId="270"/>
            <ac:spMk id="10" creationId="{1DE6700A-C224-DFCF-2235-3584847ED0F0}"/>
          </ac:spMkLst>
        </pc:spChg>
        <pc:grpChg chg="add mod">
          <ac:chgData name="Petru Tarabuta" userId="7ad468d54291d0a0" providerId="LiveId" clId="{E88A1E69-8D71-44EF-B3EE-78D7011C8E75}" dt="2023-09-20T21:54:05.994" v="2746" actId="1037"/>
          <ac:grpSpMkLst>
            <pc:docMk/>
            <pc:sldMk cId="43822961" sldId="270"/>
            <ac:grpSpMk id="15" creationId="{E52C67E0-4789-523F-9BC8-E0DE5E651140}"/>
          </ac:grpSpMkLst>
        </pc:grpChg>
        <pc:picChg chg="del">
          <ac:chgData name="Petru Tarabuta" userId="7ad468d54291d0a0" providerId="LiveId" clId="{E88A1E69-8D71-44EF-B3EE-78D7011C8E75}" dt="2023-09-20T21:50:16.548" v="2636" actId="478"/>
          <ac:picMkLst>
            <pc:docMk/>
            <pc:sldMk cId="43822961" sldId="270"/>
            <ac:picMk id="4" creationId="{1C49F5A9-580F-36BC-BB85-3EE2B74BEB09}"/>
          </ac:picMkLst>
        </pc:picChg>
        <pc:picChg chg="add mod">
          <ac:chgData name="Petru Tarabuta" userId="7ad468d54291d0a0" providerId="LiveId" clId="{E88A1E69-8D71-44EF-B3EE-78D7011C8E75}" dt="2023-09-20T21:53:59.109" v="2705" actId="164"/>
          <ac:picMkLst>
            <pc:docMk/>
            <pc:sldMk cId="43822961" sldId="270"/>
            <ac:picMk id="5" creationId="{962E83BB-E51E-3C07-C598-CF81A1594A6F}"/>
          </ac:picMkLst>
        </pc:picChg>
        <pc:picChg chg="mod">
          <ac:chgData name="Petru Tarabuta" userId="7ad468d54291d0a0" providerId="LiveId" clId="{E88A1E69-8D71-44EF-B3EE-78D7011C8E75}" dt="2023-09-20T21:53:49.524" v="2704" actId="14100"/>
          <ac:picMkLst>
            <pc:docMk/>
            <pc:sldMk cId="43822961" sldId="270"/>
            <ac:picMk id="8" creationId="{07E2F328-01FB-FC62-09BF-624BD56B79E3}"/>
          </ac:picMkLst>
        </pc:picChg>
        <pc:picChg chg="add mod">
          <ac:chgData name="Petru Tarabuta" userId="7ad468d54291d0a0" providerId="LiveId" clId="{E88A1E69-8D71-44EF-B3EE-78D7011C8E75}" dt="2023-09-20T21:53:59.109" v="2705" actId="164"/>
          <ac:picMkLst>
            <pc:docMk/>
            <pc:sldMk cId="43822961" sldId="270"/>
            <ac:picMk id="9" creationId="{9039A557-C676-AB58-B162-B323DEDCE957}"/>
          </ac:picMkLst>
        </pc:picChg>
        <pc:picChg chg="add mod">
          <ac:chgData name="Petru Tarabuta" userId="7ad468d54291d0a0" providerId="LiveId" clId="{E88A1E69-8D71-44EF-B3EE-78D7011C8E75}" dt="2023-09-20T21:53:59.109" v="2705" actId="164"/>
          <ac:picMkLst>
            <pc:docMk/>
            <pc:sldMk cId="43822961" sldId="270"/>
            <ac:picMk id="12" creationId="{FD6F2C36-D0B1-A487-7362-FD2F9560F1C2}"/>
          </ac:picMkLst>
        </pc:picChg>
        <pc:picChg chg="add del mod">
          <ac:chgData name="Petru Tarabuta" userId="7ad468d54291d0a0" providerId="LiveId" clId="{E88A1E69-8D71-44EF-B3EE-78D7011C8E75}" dt="2023-09-20T21:50:14.818" v="2635"/>
          <ac:picMkLst>
            <pc:docMk/>
            <pc:sldMk cId="43822961" sldId="270"/>
            <ac:picMk id="13" creationId="{BD3424E9-35F2-E399-D660-990DFDC2E2CB}"/>
          </ac:picMkLst>
        </pc:picChg>
        <pc:picChg chg="add mod">
          <ac:chgData name="Petru Tarabuta" userId="7ad468d54291d0a0" providerId="LiveId" clId="{E88A1E69-8D71-44EF-B3EE-78D7011C8E75}" dt="2023-09-20T21:50:16.985" v="2637"/>
          <ac:picMkLst>
            <pc:docMk/>
            <pc:sldMk cId="43822961" sldId="270"/>
            <ac:picMk id="14" creationId="{DBDB8AF4-F4F1-F2B0-3244-04FD6311DB4A}"/>
          </ac:picMkLst>
        </pc:picChg>
      </pc:sldChg>
      <pc:sldChg chg="addSp delSp modSp mod modAnim">
        <pc:chgData name="Petru Tarabuta" userId="7ad468d54291d0a0" providerId="LiveId" clId="{E88A1E69-8D71-44EF-B3EE-78D7011C8E75}" dt="2023-09-20T22:39:55.359" v="5317" actId="20577"/>
        <pc:sldMkLst>
          <pc:docMk/>
          <pc:sldMk cId="1013814322" sldId="271"/>
        </pc:sldMkLst>
        <pc:spChg chg="mod">
          <ac:chgData name="Petru Tarabuta" userId="7ad468d54291d0a0" providerId="LiveId" clId="{E88A1E69-8D71-44EF-B3EE-78D7011C8E75}" dt="2023-09-20T22:39:55.359" v="5317" actId="20577"/>
          <ac:spMkLst>
            <pc:docMk/>
            <pc:sldMk cId="1013814322" sldId="271"/>
            <ac:spMk id="2" creationId="{C136951F-3CAB-873B-3412-79C1E020103B}"/>
          </ac:spMkLst>
        </pc:spChg>
        <pc:spChg chg="add del mod">
          <ac:chgData name="Petru Tarabuta" userId="7ad468d54291d0a0" providerId="LiveId" clId="{E88A1E69-8D71-44EF-B3EE-78D7011C8E75}" dt="2023-09-20T22:37:40.463" v="5292" actId="21"/>
          <ac:spMkLst>
            <pc:docMk/>
            <pc:sldMk cId="1013814322" sldId="271"/>
            <ac:spMk id="3" creationId="{688E27EE-2585-B5F9-B1D3-F3BF5AE63D9A}"/>
          </ac:spMkLst>
        </pc:spChg>
        <pc:picChg chg="del">
          <ac:chgData name="Petru Tarabuta" userId="7ad468d54291d0a0" providerId="LiveId" clId="{E88A1E69-8D71-44EF-B3EE-78D7011C8E75}" dt="2023-09-20T21:50:52.059" v="2654" actId="478"/>
          <ac:picMkLst>
            <pc:docMk/>
            <pc:sldMk cId="1013814322" sldId="271"/>
            <ac:picMk id="5" creationId="{CA9EC0C2-11AF-8986-F129-1FFC1296BFE4}"/>
          </ac:picMkLst>
        </pc:picChg>
        <pc:picChg chg="add mod">
          <ac:chgData name="Petru Tarabuta" userId="7ad468d54291d0a0" providerId="LiveId" clId="{E88A1E69-8D71-44EF-B3EE-78D7011C8E75}" dt="2023-09-20T21:50:52.393" v="2655"/>
          <ac:picMkLst>
            <pc:docMk/>
            <pc:sldMk cId="1013814322" sldId="271"/>
            <ac:picMk id="6" creationId="{D183FDFD-7A45-6083-4EA0-B04C7BB45598}"/>
          </ac:picMkLst>
        </pc:picChg>
      </pc:sldChg>
      <pc:sldChg chg="addSp delSp modSp add mod">
        <pc:chgData name="Petru Tarabuta" userId="7ad468d54291d0a0" providerId="LiveId" clId="{E88A1E69-8D71-44EF-B3EE-78D7011C8E75}" dt="2023-09-20T22:13:15.993" v="4213" actId="20577"/>
        <pc:sldMkLst>
          <pc:docMk/>
          <pc:sldMk cId="3849297708" sldId="272"/>
        </pc:sldMkLst>
        <pc:spChg chg="mod">
          <ac:chgData name="Petru Tarabuta" userId="7ad468d54291d0a0" providerId="LiveId" clId="{E88A1E69-8D71-44EF-B3EE-78D7011C8E75}" dt="2023-09-20T22:13:15.993" v="4213" actId="20577"/>
          <ac:spMkLst>
            <pc:docMk/>
            <pc:sldMk cId="3849297708" sldId="272"/>
            <ac:spMk id="2" creationId="{C136951F-3CAB-873B-3412-79C1E020103B}"/>
          </ac:spMkLst>
        </pc:spChg>
        <pc:spChg chg="del">
          <ac:chgData name="Petru Tarabuta" userId="7ad468d54291d0a0" providerId="LiveId" clId="{E88A1E69-8D71-44EF-B3EE-78D7011C8E75}" dt="2023-09-20T21:19:41.047" v="425" actId="478"/>
          <ac:spMkLst>
            <pc:docMk/>
            <pc:sldMk cId="3849297708" sldId="272"/>
            <ac:spMk id="3" creationId="{C9E225EF-8FB7-C051-548B-0D2CEE3D5028}"/>
          </ac:spMkLst>
        </pc:spChg>
        <pc:spChg chg="add mod">
          <ac:chgData name="Petru Tarabuta" userId="7ad468d54291d0a0" providerId="LiveId" clId="{E88A1E69-8D71-44EF-B3EE-78D7011C8E75}" dt="2023-09-20T21:19:41.047" v="425" actId="478"/>
          <ac:spMkLst>
            <pc:docMk/>
            <pc:sldMk cId="3849297708" sldId="272"/>
            <ac:spMk id="6" creationId="{773575D7-8594-3FC2-0106-049DEBFF6193}"/>
          </ac:spMkLst>
        </pc:spChg>
        <pc:picChg chg="del">
          <ac:chgData name="Petru Tarabuta" userId="7ad468d54291d0a0" providerId="LiveId" clId="{E88A1E69-8D71-44EF-B3EE-78D7011C8E75}" dt="2023-09-20T21:50:29.709" v="2642" actId="478"/>
          <ac:picMkLst>
            <pc:docMk/>
            <pc:sldMk cId="3849297708" sldId="272"/>
            <ac:picMk id="4" creationId="{1C49F5A9-580F-36BC-BB85-3EE2B74BEB09}"/>
          </ac:picMkLst>
        </pc:picChg>
        <pc:picChg chg="add mod">
          <ac:chgData name="Petru Tarabuta" userId="7ad468d54291d0a0" providerId="LiveId" clId="{E88A1E69-8D71-44EF-B3EE-78D7011C8E75}" dt="2023-09-20T21:50:30.014" v="2643"/>
          <ac:picMkLst>
            <pc:docMk/>
            <pc:sldMk cId="3849297708" sldId="272"/>
            <ac:picMk id="7" creationId="{60CC787A-E1AB-D780-C7BA-013EEE7F35C7}"/>
          </ac:picMkLst>
        </pc:picChg>
      </pc:sldChg>
      <pc:sldChg chg="addSp delSp modSp add mod modAnim">
        <pc:chgData name="Petru Tarabuta" userId="7ad468d54291d0a0" providerId="LiveId" clId="{E88A1E69-8D71-44EF-B3EE-78D7011C8E75}" dt="2023-09-20T22:25:24.589" v="4788" actId="313"/>
        <pc:sldMkLst>
          <pc:docMk/>
          <pc:sldMk cId="1498285779" sldId="273"/>
        </pc:sldMkLst>
        <pc:spChg chg="mod">
          <ac:chgData name="Petru Tarabuta" userId="7ad468d54291d0a0" providerId="LiveId" clId="{E88A1E69-8D71-44EF-B3EE-78D7011C8E75}" dt="2023-09-20T22:23:51.534" v="4732" actId="20577"/>
          <ac:spMkLst>
            <pc:docMk/>
            <pc:sldMk cId="1498285779" sldId="273"/>
            <ac:spMk id="2" creationId="{C136951F-3CAB-873B-3412-79C1E020103B}"/>
          </ac:spMkLst>
        </pc:spChg>
        <pc:spChg chg="add mod ord">
          <ac:chgData name="Petru Tarabuta" userId="7ad468d54291d0a0" providerId="LiveId" clId="{E88A1E69-8D71-44EF-B3EE-78D7011C8E75}" dt="2023-09-20T22:25:24.589" v="4788" actId="313"/>
          <ac:spMkLst>
            <pc:docMk/>
            <pc:sldMk cId="1498285779" sldId="273"/>
            <ac:spMk id="5" creationId="{C6685DA3-13ED-B331-9330-49A59F284377}"/>
          </ac:spMkLst>
        </pc:spChg>
        <pc:spChg chg="del mod">
          <ac:chgData name="Petru Tarabuta" userId="7ad468d54291d0a0" providerId="LiveId" clId="{E88A1E69-8D71-44EF-B3EE-78D7011C8E75}" dt="2023-09-20T22:24:44.684" v="4744" actId="478"/>
          <ac:spMkLst>
            <pc:docMk/>
            <pc:sldMk cId="1498285779" sldId="273"/>
            <ac:spMk id="6" creationId="{773575D7-8594-3FC2-0106-049DEBFF6193}"/>
          </ac:spMkLst>
        </pc:spChg>
        <pc:spChg chg="add del mod">
          <ac:chgData name="Petru Tarabuta" userId="7ad468d54291d0a0" providerId="LiveId" clId="{E88A1E69-8D71-44EF-B3EE-78D7011C8E75}" dt="2023-09-20T22:24:54.979" v="4745" actId="478"/>
          <ac:spMkLst>
            <pc:docMk/>
            <pc:sldMk cId="1498285779" sldId="273"/>
            <ac:spMk id="8" creationId="{7F0A353C-1C63-4228-CE29-D3D1ACBCA01A}"/>
          </ac:spMkLst>
        </pc:spChg>
        <pc:spChg chg="add del mod">
          <ac:chgData name="Petru Tarabuta" userId="7ad468d54291d0a0" providerId="LiveId" clId="{E88A1E69-8D71-44EF-B3EE-78D7011C8E75}" dt="2023-09-20T22:25:03.697" v="4751"/>
          <ac:spMkLst>
            <pc:docMk/>
            <pc:sldMk cId="1498285779" sldId="273"/>
            <ac:spMk id="9" creationId="{6D0DA1E9-B650-EEED-0D8C-12A5075A9E68}"/>
          </ac:spMkLst>
        </pc:spChg>
        <pc:picChg chg="add mod">
          <ac:chgData name="Petru Tarabuta" userId="7ad468d54291d0a0" providerId="LiveId" clId="{E88A1E69-8D71-44EF-B3EE-78D7011C8E75}" dt="2023-09-20T21:50:32.935" v="2645"/>
          <ac:picMkLst>
            <pc:docMk/>
            <pc:sldMk cId="1498285779" sldId="273"/>
            <ac:picMk id="3" creationId="{0F4A13FA-D9B7-1027-86E0-9011DC752A83}"/>
          </ac:picMkLst>
        </pc:picChg>
        <pc:picChg chg="del">
          <ac:chgData name="Petru Tarabuta" userId="7ad468d54291d0a0" providerId="LiveId" clId="{E88A1E69-8D71-44EF-B3EE-78D7011C8E75}" dt="2023-09-20T21:50:32.669" v="2644" actId="478"/>
          <ac:picMkLst>
            <pc:docMk/>
            <pc:sldMk cId="1498285779" sldId="273"/>
            <ac:picMk id="4" creationId="{1C49F5A9-580F-36BC-BB85-3EE2B74BEB09}"/>
          </ac:picMkLst>
        </pc:picChg>
      </pc:sldChg>
      <pc:sldChg chg="add del">
        <pc:chgData name="Petru Tarabuta" userId="7ad468d54291d0a0" providerId="LiveId" clId="{E88A1E69-8D71-44EF-B3EE-78D7011C8E75}" dt="2023-09-20T21:24:44.591" v="857" actId="47"/>
        <pc:sldMkLst>
          <pc:docMk/>
          <pc:sldMk cId="2109219219" sldId="274"/>
        </pc:sldMkLst>
      </pc:sldChg>
      <pc:sldChg chg="addSp delSp modSp add mod ord modAnim modNotesTx">
        <pc:chgData name="Petru Tarabuta" userId="7ad468d54291d0a0" providerId="LiveId" clId="{E88A1E69-8D71-44EF-B3EE-78D7011C8E75}" dt="2023-09-20T22:36:04.862" v="5208"/>
        <pc:sldMkLst>
          <pc:docMk/>
          <pc:sldMk cId="2686962639" sldId="274"/>
        </pc:sldMkLst>
        <pc:spChg chg="mod">
          <ac:chgData name="Petru Tarabuta" userId="7ad468d54291d0a0" providerId="LiveId" clId="{E88A1E69-8D71-44EF-B3EE-78D7011C8E75}" dt="2023-09-20T21:24:50.906" v="869" actId="20577"/>
          <ac:spMkLst>
            <pc:docMk/>
            <pc:sldMk cId="2686962639" sldId="274"/>
            <ac:spMk id="2" creationId="{C136951F-3CAB-873B-3412-79C1E020103B}"/>
          </ac:spMkLst>
        </pc:spChg>
        <pc:spChg chg="mod">
          <ac:chgData name="Petru Tarabuta" userId="7ad468d54291d0a0" providerId="LiveId" clId="{E88A1E69-8D71-44EF-B3EE-78D7011C8E75}" dt="2023-09-20T22:35:44.034" v="5206" actId="255"/>
          <ac:spMkLst>
            <pc:docMk/>
            <pc:sldMk cId="2686962639" sldId="274"/>
            <ac:spMk id="3" creationId="{C9E225EF-8FB7-C051-548B-0D2CEE3D5028}"/>
          </ac:spMkLst>
        </pc:spChg>
        <pc:picChg chg="del">
          <ac:chgData name="Petru Tarabuta" userId="7ad468d54291d0a0" providerId="LiveId" clId="{E88A1E69-8D71-44EF-B3EE-78D7011C8E75}" dt="2023-09-20T21:50:43.705" v="2650" actId="478"/>
          <ac:picMkLst>
            <pc:docMk/>
            <pc:sldMk cId="2686962639" sldId="274"/>
            <ac:picMk id="4" creationId="{1C49F5A9-580F-36BC-BB85-3EE2B74BEB09}"/>
          </ac:picMkLst>
        </pc:picChg>
        <pc:picChg chg="add mod">
          <ac:chgData name="Petru Tarabuta" userId="7ad468d54291d0a0" providerId="LiveId" clId="{E88A1E69-8D71-44EF-B3EE-78D7011C8E75}" dt="2023-09-20T21:50:43.983" v="2651"/>
          <ac:picMkLst>
            <pc:docMk/>
            <pc:sldMk cId="2686962639" sldId="274"/>
            <ac:picMk id="5" creationId="{492D9FDE-0939-C82D-A6F1-BB717F4848A7}"/>
          </ac:picMkLst>
        </pc:picChg>
      </pc:sldChg>
      <pc:sldChg chg="addSp delSp modSp add mod modAnim">
        <pc:chgData name="Petru Tarabuta" userId="7ad468d54291d0a0" providerId="LiveId" clId="{E88A1E69-8D71-44EF-B3EE-78D7011C8E75}" dt="2023-09-20T22:42:04.523" v="5447" actId="20577"/>
        <pc:sldMkLst>
          <pc:docMk/>
          <pc:sldMk cId="2284908513" sldId="275"/>
        </pc:sldMkLst>
        <pc:spChg chg="mod">
          <ac:chgData name="Petru Tarabuta" userId="7ad468d54291d0a0" providerId="LiveId" clId="{E88A1E69-8D71-44EF-B3EE-78D7011C8E75}" dt="2023-09-20T22:42:04.523" v="5447" actId="20577"/>
          <ac:spMkLst>
            <pc:docMk/>
            <pc:sldMk cId="2284908513" sldId="275"/>
            <ac:spMk id="3" creationId="{C9E225EF-8FB7-C051-548B-0D2CEE3D5028}"/>
          </ac:spMkLst>
        </pc:spChg>
        <pc:picChg chg="del">
          <ac:chgData name="Petru Tarabuta" userId="7ad468d54291d0a0" providerId="LiveId" clId="{E88A1E69-8D71-44EF-B3EE-78D7011C8E75}" dt="2023-09-20T21:50:40.141" v="2648" actId="478"/>
          <ac:picMkLst>
            <pc:docMk/>
            <pc:sldMk cId="2284908513" sldId="275"/>
            <ac:picMk id="4" creationId="{1C49F5A9-580F-36BC-BB85-3EE2B74BEB09}"/>
          </ac:picMkLst>
        </pc:picChg>
        <pc:picChg chg="add mod">
          <ac:chgData name="Petru Tarabuta" userId="7ad468d54291d0a0" providerId="LiveId" clId="{E88A1E69-8D71-44EF-B3EE-78D7011C8E75}" dt="2023-09-20T21:50:40.412" v="2649"/>
          <ac:picMkLst>
            <pc:docMk/>
            <pc:sldMk cId="2284908513" sldId="275"/>
            <ac:picMk id="5" creationId="{337EEA02-F355-C8F5-3D74-8B2E012008DB}"/>
          </ac:picMkLst>
        </pc:picChg>
      </pc:sldChg>
      <pc:sldChg chg="addSp delSp modSp add mod modAnim">
        <pc:chgData name="Petru Tarabuta" userId="7ad468d54291d0a0" providerId="LiveId" clId="{E88A1E69-8D71-44EF-B3EE-78D7011C8E75}" dt="2023-09-20T22:39:36.398" v="5315" actId="6549"/>
        <pc:sldMkLst>
          <pc:docMk/>
          <pc:sldMk cId="1736359214" sldId="276"/>
        </pc:sldMkLst>
        <pc:spChg chg="mod">
          <ac:chgData name="Petru Tarabuta" userId="7ad468d54291d0a0" providerId="LiveId" clId="{E88A1E69-8D71-44EF-B3EE-78D7011C8E75}" dt="2023-09-20T21:55:51.724" v="2796" actId="20577"/>
          <ac:spMkLst>
            <pc:docMk/>
            <pc:sldMk cId="1736359214" sldId="276"/>
            <ac:spMk id="2" creationId="{C136951F-3CAB-873B-3412-79C1E020103B}"/>
          </ac:spMkLst>
        </pc:spChg>
        <pc:spChg chg="del mod">
          <ac:chgData name="Petru Tarabuta" userId="7ad468d54291d0a0" providerId="LiveId" clId="{E88A1E69-8D71-44EF-B3EE-78D7011C8E75}" dt="2023-09-20T22:38:34.928" v="5305" actId="478"/>
          <ac:spMkLst>
            <pc:docMk/>
            <pc:sldMk cId="1736359214" sldId="276"/>
            <ac:spMk id="3" creationId="{C9E225EF-8FB7-C051-548B-0D2CEE3D5028}"/>
          </ac:spMkLst>
        </pc:spChg>
        <pc:spChg chg="add del mod">
          <ac:chgData name="Petru Tarabuta" userId="7ad468d54291d0a0" providerId="LiveId" clId="{E88A1E69-8D71-44EF-B3EE-78D7011C8E75}" dt="2023-09-20T22:38:34.930" v="5307"/>
          <ac:spMkLst>
            <pc:docMk/>
            <pc:sldMk cId="1736359214" sldId="276"/>
            <ac:spMk id="4" creationId="{500B61EC-203B-9330-CE55-2E28D035A6AC}"/>
          </ac:spMkLst>
        </pc:spChg>
        <pc:spChg chg="add mod">
          <ac:chgData name="Petru Tarabuta" userId="7ad468d54291d0a0" providerId="LiveId" clId="{E88A1E69-8D71-44EF-B3EE-78D7011C8E75}" dt="2023-09-20T22:39:36.398" v="5315" actId="6549"/>
          <ac:spMkLst>
            <pc:docMk/>
            <pc:sldMk cId="1736359214" sldId="276"/>
            <ac:spMk id="6" creationId="{419B4A2D-0EEF-5D9D-9E9D-037B14003EF2}"/>
          </ac:spMkLst>
        </pc:spChg>
        <pc:spChg chg="add del mod">
          <ac:chgData name="Petru Tarabuta" userId="7ad468d54291d0a0" providerId="LiveId" clId="{E88A1E69-8D71-44EF-B3EE-78D7011C8E75}" dt="2023-09-20T22:38:37.206" v="5308" actId="478"/>
          <ac:spMkLst>
            <pc:docMk/>
            <pc:sldMk cId="1736359214" sldId="276"/>
            <ac:spMk id="8" creationId="{0AEE881D-2E5E-9353-B6A6-BDB98733F3C3}"/>
          </ac:spMkLst>
        </pc:spChg>
      </pc:sldChg>
      <pc:sldChg chg="modSp add mod modAnim">
        <pc:chgData name="Petru Tarabuta" userId="7ad468d54291d0a0" providerId="LiveId" clId="{E88A1E69-8D71-44EF-B3EE-78D7011C8E75}" dt="2023-09-20T22:31:55.824" v="5090" actId="403"/>
        <pc:sldMkLst>
          <pc:docMk/>
          <pc:sldMk cId="3063114751" sldId="277"/>
        </pc:sldMkLst>
        <pc:spChg chg="mod">
          <ac:chgData name="Petru Tarabuta" userId="7ad468d54291d0a0" providerId="LiveId" clId="{E88A1E69-8D71-44EF-B3EE-78D7011C8E75}" dt="2023-09-20T22:10:31.808" v="4028" actId="20577"/>
          <ac:spMkLst>
            <pc:docMk/>
            <pc:sldMk cId="3063114751" sldId="277"/>
            <ac:spMk id="2" creationId="{C136951F-3CAB-873B-3412-79C1E020103B}"/>
          </ac:spMkLst>
        </pc:spChg>
        <pc:spChg chg="mod ord">
          <ac:chgData name="Petru Tarabuta" userId="7ad468d54291d0a0" providerId="LiveId" clId="{E88A1E69-8D71-44EF-B3EE-78D7011C8E75}" dt="2023-09-20T22:31:55.824" v="5090" actId="403"/>
          <ac:spMkLst>
            <pc:docMk/>
            <pc:sldMk cId="3063114751" sldId="277"/>
            <ac:spMk id="3" creationId="{C9E225EF-8FB7-C051-548B-0D2CEE3D5028}"/>
          </ac:spMkLst>
        </pc:spChg>
        <pc:spChg chg="mod">
          <ac:chgData name="Petru Tarabuta" userId="7ad468d54291d0a0" providerId="LiveId" clId="{E88A1E69-8D71-44EF-B3EE-78D7011C8E75}" dt="2023-09-20T22:01:18.506" v="3409" actId="21"/>
          <ac:spMkLst>
            <pc:docMk/>
            <pc:sldMk cId="3063114751" sldId="277"/>
            <ac:spMk id="5" creationId="{129766F4-53C9-976C-7A33-7EF93EF94C30}"/>
          </ac:spMkLst>
        </pc:spChg>
        <pc:spChg chg="mod">
          <ac:chgData name="Petru Tarabuta" userId="7ad468d54291d0a0" providerId="LiveId" clId="{E88A1E69-8D71-44EF-B3EE-78D7011C8E75}" dt="2023-09-20T22:01:22.736" v="3411" actId="21"/>
          <ac:spMkLst>
            <pc:docMk/>
            <pc:sldMk cId="3063114751" sldId="277"/>
            <ac:spMk id="6" creationId="{5696F65A-5CB8-D7A1-7224-AF9F5675AD07}"/>
          </ac:spMkLst>
        </pc:spChg>
      </pc:sldChg>
    </pc:docChg>
  </pc:docChgLst>
  <pc:docChgLst>
    <pc:chgData name="Petru Tarabuta" userId="7ad468d54291d0a0" providerId="LiveId" clId="{B5A30359-16A2-4AD7-A325-3E8CED896261}"/>
    <pc:docChg chg="custSel modSld">
      <pc:chgData name="Petru Tarabuta" userId="7ad468d54291d0a0" providerId="LiveId" clId="{B5A30359-16A2-4AD7-A325-3E8CED896261}" dt="2023-09-19T09:11:01.004" v="27" actId="14826"/>
      <pc:docMkLst>
        <pc:docMk/>
      </pc:docMkLst>
      <pc:sldChg chg="addSp delSp modSp mod">
        <pc:chgData name="Petru Tarabuta" userId="7ad468d54291d0a0" providerId="LiveId" clId="{B5A30359-16A2-4AD7-A325-3E8CED896261}" dt="2023-09-19T09:11:01.004" v="27" actId="14826"/>
        <pc:sldMkLst>
          <pc:docMk/>
          <pc:sldMk cId="3391995577" sldId="256"/>
        </pc:sldMkLst>
        <pc:spChg chg="mod">
          <ac:chgData name="Petru Tarabuta" userId="7ad468d54291d0a0" providerId="LiveId" clId="{B5A30359-16A2-4AD7-A325-3E8CED896261}" dt="2023-09-19T09:10:06.373" v="12" actId="20577"/>
          <ac:spMkLst>
            <pc:docMk/>
            <pc:sldMk cId="3391995577" sldId="256"/>
            <ac:spMk id="2" creationId="{6460F2A9-C14C-C9AA-D479-58345410E007}"/>
          </ac:spMkLst>
        </pc:spChg>
        <pc:spChg chg="mod">
          <ac:chgData name="Petru Tarabuta" userId="7ad468d54291d0a0" providerId="LiveId" clId="{B5A30359-16A2-4AD7-A325-3E8CED896261}" dt="2023-09-19T09:10:41.685" v="26" actId="1036"/>
          <ac:spMkLst>
            <pc:docMk/>
            <pc:sldMk cId="3391995577" sldId="256"/>
            <ac:spMk id="3" creationId="{2D27B58C-7271-B114-FAFF-32B195A9DC1F}"/>
          </ac:spMkLst>
        </pc:spChg>
        <pc:spChg chg="add del">
          <ac:chgData name="Petru Tarabuta" userId="7ad468d54291d0a0" providerId="LiveId" clId="{B5A30359-16A2-4AD7-A325-3E8CED896261}" dt="2023-09-19T09:10:26.456" v="14"/>
          <ac:spMkLst>
            <pc:docMk/>
            <pc:sldMk cId="3391995577" sldId="256"/>
            <ac:spMk id="4" creationId="{3975D3FA-4627-66F3-A250-B2275C0EED5E}"/>
          </ac:spMkLst>
        </pc:spChg>
        <pc:spChg chg="add del">
          <ac:chgData name="Petru Tarabuta" userId="7ad468d54291d0a0" providerId="LiveId" clId="{B5A30359-16A2-4AD7-A325-3E8CED896261}" dt="2023-09-19T09:10:28.342" v="16"/>
          <ac:spMkLst>
            <pc:docMk/>
            <pc:sldMk cId="3391995577" sldId="256"/>
            <ac:spMk id="9" creationId="{64892B35-23CA-D429-2FDF-D258E7D8B6D7}"/>
          </ac:spMkLst>
        </pc:spChg>
        <pc:picChg chg="mod">
          <ac:chgData name="Petru Tarabuta" userId="7ad468d54291d0a0" providerId="LiveId" clId="{B5A30359-16A2-4AD7-A325-3E8CED896261}" dt="2023-09-19T09:11:01.004" v="27" actId="14826"/>
          <ac:picMkLst>
            <pc:docMk/>
            <pc:sldMk cId="3391995577" sldId="256"/>
            <ac:picMk id="7" creationId="{21BF246C-CB68-83AF-DEBE-2E1CF9738CD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BF1AFD-5C90-46ED-91E2-3D560695B6F7}" type="datetimeFigureOut">
              <a:rPr lang="en-GB" smtClean="0"/>
              <a:t>23/09/2026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A7612-DBC4-42FD-AF5C-03C5F90E2665}" type="slidenum">
              <a:rPr lang="en-GB" smtClean="0"/>
              <a:t>‹#›</a:t>
            </a:fld>
            <a:endParaRPr lang="en-GB"/>
          </a:p>
        </p:txBody>
      </p:sp>
    </p:spTree>
    <p:extLst>
      <p:ext uri="{BB962C8B-B14F-4D97-AF65-F5344CB8AC3E}">
        <p14:creationId xmlns:p14="http://schemas.microsoft.com/office/powerpoint/2010/main" val="1061449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urldefense.com/v3/__http:/www.robustosystems.com/__;!!Kjv0uj3L4nM6H-I!hUToVXl6xDtXGLCagRmnKKu-CZc6h4fN5ZE6PfV3DKBySF6pFEYAodwawHrP12hE4zeKfDI63b3rtimR$"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703B9-612B-9D71-3214-D7640B4FD8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182A88-26C3-BF0A-D4EE-1561E38FF6A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DA6ADB5-187E-3A64-F936-AFDF45557DE9}"/>
              </a:ext>
            </a:extLst>
          </p:cNvPr>
          <p:cNvSpPr>
            <a:spLocks noGrp="1"/>
          </p:cNvSpPr>
          <p:nvPr>
            <p:ph type="body" idx="1"/>
          </p:nvPr>
        </p:nvSpPr>
        <p:spPr/>
        <p:txBody>
          <a:bodyPr/>
          <a:lstStyle/>
          <a:p>
            <a:r>
              <a:rPr lang="en-GB" dirty="0">
                <a:latin typeface="Aptos" panose="020B0004020202020204" pitchFamily="34" charset="0"/>
              </a:rPr>
              <a:t>By “pure” VIs we mean VIs that take one or more inputs, perform computations on those input values, and produce one or more output values. Such VIs do not read/write global variables or FGVs, do not send or receive asynchronous messages (queues, notifiers, events), do not control hardware, do not perform file I/O, do not send network messages.</a:t>
            </a:r>
          </a:p>
        </p:txBody>
      </p:sp>
      <p:sp>
        <p:nvSpPr>
          <p:cNvPr id="4" name="Slide Number Placeholder 3">
            <a:extLst>
              <a:ext uri="{FF2B5EF4-FFF2-40B4-BE49-F238E27FC236}">
                <a16:creationId xmlns:a16="http://schemas.microsoft.com/office/drawing/2014/main" id="{0410D201-7907-6C79-6E96-35E3A8743EDD}"/>
              </a:ext>
            </a:extLst>
          </p:cNvPr>
          <p:cNvSpPr>
            <a:spLocks noGrp="1"/>
          </p:cNvSpPr>
          <p:nvPr>
            <p:ph type="sldNum" sz="quarter" idx="5"/>
          </p:nvPr>
        </p:nvSpPr>
        <p:spPr/>
        <p:txBody>
          <a:bodyPr/>
          <a:lstStyle/>
          <a:p>
            <a:fld id="{009A7612-DBC4-42FD-AF5C-03C5F90E2665}" type="slidenum">
              <a:rPr lang="en-GB" smtClean="0"/>
              <a:t>1</a:t>
            </a:fld>
            <a:endParaRPr lang="en-GB"/>
          </a:p>
        </p:txBody>
      </p:sp>
    </p:spTree>
    <p:extLst>
      <p:ext uri="{BB962C8B-B14F-4D97-AF65-F5344CB8AC3E}">
        <p14:creationId xmlns:p14="http://schemas.microsoft.com/office/powerpoint/2010/main" val="31974111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sz="1800" b="0" u="none" dirty="0">
                <a:latin typeface="Aptos" panose="020B0004020202020204" pitchFamily="34" charset="0"/>
              </a:rPr>
              <a:t>Hello. I am Petru. It’s an honour to present at GDevCon again.</a:t>
            </a:r>
          </a:p>
          <a:p>
            <a:r>
              <a:rPr lang="en-GB" sz="1800" b="0" u="none" dirty="0">
                <a:latin typeface="Aptos" panose="020B0004020202020204" pitchFamily="34" charset="0"/>
              </a:rPr>
              <a:t>I was born and raised in Romania. I went to university in the UK and have lived and worked in the UK ever since. I help customers implement test, measurement, and control systems through my company, Robusto Systems. I primarily use LabVIEW, but also use TestStand, C# and SQL.</a:t>
            </a:r>
          </a:p>
          <a:p>
            <a:endParaRPr lang="en-GB" b="1" u="sng" dirty="0">
              <a:latin typeface="Aptos" panose="020B0004020202020204" pitchFamily="34" charset="0"/>
            </a:endParaRPr>
          </a:p>
          <a:p>
            <a:r>
              <a:rPr lang="en-GB" b="1" u="sng" dirty="0">
                <a:latin typeface="Aptos" panose="020B0004020202020204" pitchFamily="34" charset="0"/>
              </a:rPr>
              <a:t>Contact Details</a:t>
            </a:r>
          </a:p>
          <a:p>
            <a:r>
              <a:rPr lang="en-GB" sz="1800" dirty="0">
                <a:effectLst/>
                <a:latin typeface="Aptos" panose="020B0004020202020204" pitchFamily="34" charset="0"/>
                <a:ea typeface="DengXian" panose="02010600030101010101" pitchFamily="2" charset="-122"/>
              </a:rPr>
              <a:t>Petru Tarabuta MEng MIET CLA CTD CPI LabVIEW Champion | Test System Engineer</a:t>
            </a:r>
          </a:p>
          <a:p>
            <a:r>
              <a:rPr lang="en-GB" sz="1800" dirty="0">
                <a:effectLst/>
                <a:latin typeface="Aptos" panose="020B0004020202020204" pitchFamily="34" charset="0"/>
                <a:ea typeface="DengXian" panose="02010600030101010101" pitchFamily="2" charset="-122"/>
              </a:rPr>
              <a:t>Robusto Systems Ltd</a:t>
            </a:r>
          </a:p>
          <a:p>
            <a:r>
              <a:rPr lang="en-GB" sz="1800" dirty="0">
                <a:latin typeface="Aptos" panose="020B0004020202020204" pitchFamily="34" charset="0"/>
                <a:ea typeface="DengXian" panose="02010600030101010101" pitchFamily="2" charset="-122"/>
              </a:rPr>
              <a:t>petru@robustosystems.com</a:t>
            </a:r>
            <a:endParaRPr lang="en-GB" sz="1800" dirty="0">
              <a:effectLst/>
              <a:latin typeface="Aptos" panose="020B0004020202020204" pitchFamily="34" charset="0"/>
              <a:ea typeface="DengXian" panose="02010600030101010101" pitchFamily="2" charset="-122"/>
            </a:endParaRPr>
          </a:p>
          <a:p>
            <a:r>
              <a:rPr lang="en-GB" sz="1800" dirty="0">
                <a:effectLst/>
                <a:latin typeface="Aptos" panose="020B0004020202020204" pitchFamily="34" charset="0"/>
                <a:ea typeface="DengXian" panose="02010600030101010101" pitchFamily="2" charset="-122"/>
              </a:rPr>
              <a:t>01452 452 165</a:t>
            </a:r>
          </a:p>
          <a:p>
            <a:r>
              <a:rPr lang="en-GB" sz="1800" u="sng" dirty="0">
                <a:solidFill>
                  <a:srgbClr val="0563C1"/>
                </a:solidFill>
                <a:effectLst/>
                <a:latin typeface="Aptos" panose="020B0004020202020204" pitchFamily="34" charset="0"/>
                <a:ea typeface="DengXian" panose="02010600030101010101" pitchFamily="2" charset="-122"/>
                <a:hlinkClick r:id="rId3"/>
              </a:rPr>
              <a:t>www.robustosystems.com</a:t>
            </a:r>
            <a:endParaRPr lang="en-GB" dirty="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009A7612-DBC4-42FD-AF5C-03C5F90E2665}" type="slidenum">
              <a:rPr lang="en-GB" smtClean="0"/>
              <a:t>2</a:t>
            </a:fld>
            <a:endParaRPr lang="en-GB"/>
          </a:p>
        </p:txBody>
      </p:sp>
    </p:spTree>
    <p:extLst>
      <p:ext uri="{BB962C8B-B14F-4D97-AF65-F5344CB8AC3E}">
        <p14:creationId xmlns:p14="http://schemas.microsoft.com/office/powerpoint/2010/main" val="2662144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009A7612-DBC4-42FD-AF5C-03C5F90E2665}" type="slidenum">
              <a:rPr lang="en-GB" smtClean="0"/>
              <a:t>3</a:t>
            </a:fld>
            <a:endParaRPr lang="en-GB"/>
          </a:p>
        </p:txBody>
      </p:sp>
    </p:spTree>
    <p:extLst>
      <p:ext uri="{BB962C8B-B14F-4D97-AF65-F5344CB8AC3E}">
        <p14:creationId xmlns:p14="http://schemas.microsoft.com/office/powerpoint/2010/main" val="705083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0F994-1869-7393-8E87-834AC5142D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1EB2DC-30C4-89AF-C9A4-56FA7A6D302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32ABB03-0B87-1665-A614-749D0CF07011}"/>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BF3B5782-A7A5-59EC-1BB5-4FD71C8C9B3B}"/>
              </a:ext>
            </a:extLst>
          </p:cNvPr>
          <p:cNvSpPr>
            <a:spLocks noGrp="1"/>
          </p:cNvSpPr>
          <p:nvPr>
            <p:ph type="sldNum" sz="quarter" idx="5"/>
          </p:nvPr>
        </p:nvSpPr>
        <p:spPr/>
        <p:txBody>
          <a:bodyPr/>
          <a:lstStyle/>
          <a:p>
            <a:fld id="{009A7612-DBC4-42FD-AF5C-03C5F90E2665}" type="slidenum">
              <a:rPr lang="en-GB" smtClean="0"/>
              <a:t>4</a:t>
            </a:fld>
            <a:endParaRPr lang="en-GB"/>
          </a:p>
        </p:txBody>
      </p:sp>
    </p:spTree>
    <p:extLst>
      <p:ext uri="{BB962C8B-B14F-4D97-AF65-F5344CB8AC3E}">
        <p14:creationId xmlns:p14="http://schemas.microsoft.com/office/powerpoint/2010/main" val="640726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20A15-C2F9-49C0-448E-3E34660282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779B6C-14C9-9F45-E68F-6D6F4BFD496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D58AB26-118D-3F04-43D2-4D61537EC02A}"/>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6AD58D75-59DA-0268-F75D-29F103E4A77F}"/>
              </a:ext>
            </a:extLst>
          </p:cNvPr>
          <p:cNvSpPr>
            <a:spLocks noGrp="1"/>
          </p:cNvSpPr>
          <p:nvPr>
            <p:ph type="sldNum" sz="quarter" idx="5"/>
          </p:nvPr>
        </p:nvSpPr>
        <p:spPr/>
        <p:txBody>
          <a:bodyPr/>
          <a:lstStyle/>
          <a:p>
            <a:fld id="{009A7612-DBC4-42FD-AF5C-03C5F90E2665}" type="slidenum">
              <a:rPr lang="en-GB" smtClean="0"/>
              <a:t>5</a:t>
            </a:fld>
            <a:endParaRPr lang="en-GB"/>
          </a:p>
        </p:txBody>
      </p:sp>
    </p:spTree>
    <p:extLst>
      <p:ext uri="{BB962C8B-B14F-4D97-AF65-F5344CB8AC3E}">
        <p14:creationId xmlns:p14="http://schemas.microsoft.com/office/powerpoint/2010/main" val="2468651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2D055-F5AB-EEC4-01AF-8C7AE54DC0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A816F-C412-7B31-441F-0DBE84C690C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3FBDC96-600E-4B92-71B6-FB89AA8D9653}"/>
              </a:ext>
            </a:extLst>
          </p:cNvPr>
          <p:cNvSpPr>
            <a:spLocks noGrp="1"/>
          </p:cNvSpPr>
          <p:nvPr>
            <p:ph type="body" idx="1"/>
          </p:nvPr>
        </p:nvSpPr>
        <p:spPr/>
        <p:txBody>
          <a:bodyPr/>
          <a:lstStyle/>
          <a:p>
            <a:r>
              <a:rPr lang="en-GB" dirty="0">
                <a:latin typeface="Aptos" panose="020B0004020202020204" pitchFamily="34" charset="0"/>
              </a:rPr>
              <a:t>Please note that, to see the dedicated presentation chat you may need to enable “Show All Channels” in the Discord settings associated with the GDevCon server. </a:t>
            </a:r>
          </a:p>
        </p:txBody>
      </p:sp>
      <p:sp>
        <p:nvSpPr>
          <p:cNvPr id="4" name="Slide Number Placeholder 3">
            <a:extLst>
              <a:ext uri="{FF2B5EF4-FFF2-40B4-BE49-F238E27FC236}">
                <a16:creationId xmlns:a16="http://schemas.microsoft.com/office/drawing/2014/main" id="{34BD3491-0705-6F12-E923-4B45C1042ED3}"/>
              </a:ext>
            </a:extLst>
          </p:cNvPr>
          <p:cNvSpPr>
            <a:spLocks noGrp="1"/>
          </p:cNvSpPr>
          <p:nvPr>
            <p:ph type="sldNum" sz="quarter" idx="5"/>
          </p:nvPr>
        </p:nvSpPr>
        <p:spPr/>
        <p:txBody>
          <a:bodyPr/>
          <a:lstStyle/>
          <a:p>
            <a:fld id="{009A7612-DBC4-42FD-AF5C-03C5F90E2665}" type="slidenum">
              <a:rPr lang="en-GB" smtClean="0"/>
              <a:t>6</a:t>
            </a:fld>
            <a:endParaRPr lang="en-GB"/>
          </a:p>
        </p:txBody>
      </p:sp>
    </p:spTree>
    <p:extLst>
      <p:ext uri="{BB962C8B-B14F-4D97-AF65-F5344CB8AC3E}">
        <p14:creationId xmlns:p14="http://schemas.microsoft.com/office/powerpoint/2010/main" val="40062225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E4533-9090-516D-46E7-FB9FCFF17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A60E77-7C80-F174-6D6B-EDA291C6C07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0E8F7BA-6EB7-A50E-84A7-B25D4DA837F9}"/>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FC5C39D0-BE0D-53DB-360B-03BDFAD5D907}"/>
              </a:ext>
            </a:extLst>
          </p:cNvPr>
          <p:cNvSpPr>
            <a:spLocks noGrp="1"/>
          </p:cNvSpPr>
          <p:nvPr>
            <p:ph type="sldNum" sz="quarter" idx="5"/>
          </p:nvPr>
        </p:nvSpPr>
        <p:spPr/>
        <p:txBody>
          <a:bodyPr/>
          <a:lstStyle/>
          <a:p>
            <a:fld id="{009A7612-DBC4-42FD-AF5C-03C5F90E2665}" type="slidenum">
              <a:rPr lang="en-GB" smtClean="0"/>
              <a:t>7</a:t>
            </a:fld>
            <a:endParaRPr lang="en-GB"/>
          </a:p>
        </p:txBody>
      </p:sp>
    </p:spTree>
    <p:extLst>
      <p:ext uri="{BB962C8B-B14F-4D97-AF65-F5344CB8AC3E}">
        <p14:creationId xmlns:p14="http://schemas.microsoft.com/office/powerpoint/2010/main" val="35567801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AFAB4-5E50-621F-0A56-F4B91A284D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5AD8A0-FA67-00AD-3BEF-AF142630EA0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AB14165-450C-19EE-A931-173C75E8A30F}"/>
              </a:ext>
            </a:extLst>
          </p:cNvPr>
          <p:cNvSpPr>
            <a:spLocks noGrp="1"/>
          </p:cNvSpPr>
          <p:nvPr>
            <p:ph type="body" idx="1"/>
          </p:nvPr>
        </p:nvSpPr>
        <p:spPr/>
        <p:txBody>
          <a:bodyPr/>
          <a:lstStyle/>
          <a:p>
            <a:r>
              <a:rPr lang="en-GB" dirty="0">
                <a:latin typeface="Aptos" panose="020B0004020202020204" pitchFamily="34" charset="0"/>
              </a:rPr>
              <a:t>Without further ado, let’s enter the main part of the presentation and discuss reentrancy.</a:t>
            </a:r>
          </a:p>
        </p:txBody>
      </p:sp>
      <p:sp>
        <p:nvSpPr>
          <p:cNvPr id="4" name="Slide Number Placeholder 3">
            <a:extLst>
              <a:ext uri="{FF2B5EF4-FFF2-40B4-BE49-F238E27FC236}">
                <a16:creationId xmlns:a16="http://schemas.microsoft.com/office/drawing/2014/main" id="{202844EC-3402-868C-C994-C6BD0EEC66BD}"/>
              </a:ext>
            </a:extLst>
          </p:cNvPr>
          <p:cNvSpPr>
            <a:spLocks noGrp="1"/>
          </p:cNvSpPr>
          <p:nvPr>
            <p:ph type="sldNum" sz="quarter" idx="5"/>
          </p:nvPr>
        </p:nvSpPr>
        <p:spPr/>
        <p:txBody>
          <a:bodyPr/>
          <a:lstStyle/>
          <a:p>
            <a:fld id="{009A7612-DBC4-42FD-AF5C-03C5F90E2665}" type="slidenum">
              <a:rPr lang="en-GB" smtClean="0"/>
              <a:t>8</a:t>
            </a:fld>
            <a:endParaRPr lang="en-GB"/>
          </a:p>
        </p:txBody>
      </p:sp>
    </p:spTree>
    <p:extLst>
      <p:ext uri="{BB962C8B-B14F-4D97-AF65-F5344CB8AC3E}">
        <p14:creationId xmlns:p14="http://schemas.microsoft.com/office/powerpoint/2010/main" val="41763536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53438-91FA-502F-C69A-38BCB8369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6AB90-C04B-D99D-D6A6-9B15B03D3BB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47D6FEA-9952-EE4E-E61B-B7F2439DEE8F}"/>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A6CC6C2D-2C52-1BDC-E9E7-74C1B7F8A1AF}"/>
              </a:ext>
            </a:extLst>
          </p:cNvPr>
          <p:cNvSpPr>
            <a:spLocks noGrp="1"/>
          </p:cNvSpPr>
          <p:nvPr>
            <p:ph type="sldNum" sz="quarter" idx="5"/>
          </p:nvPr>
        </p:nvSpPr>
        <p:spPr/>
        <p:txBody>
          <a:bodyPr/>
          <a:lstStyle/>
          <a:p>
            <a:fld id="{009A7612-DBC4-42FD-AF5C-03C5F90E2665}" type="slidenum">
              <a:rPr lang="en-GB" smtClean="0"/>
              <a:t>9</a:t>
            </a:fld>
            <a:endParaRPr lang="en-GB"/>
          </a:p>
        </p:txBody>
      </p:sp>
    </p:spTree>
    <p:extLst>
      <p:ext uri="{BB962C8B-B14F-4D97-AF65-F5344CB8AC3E}">
        <p14:creationId xmlns:p14="http://schemas.microsoft.com/office/powerpoint/2010/main" val="1750745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EE0F1-CB52-C0C5-00CE-DB52461871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43FAB-3630-6630-5C38-A5BCBE1BCF3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D6FBBB0-EC65-FA69-863C-91B68BB11374}"/>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E3E43C23-CF1B-2A76-3E58-592DB3F4DCE5}"/>
              </a:ext>
            </a:extLst>
          </p:cNvPr>
          <p:cNvSpPr>
            <a:spLocks noGrp="1"/>
          </p:cNvSpPr>
          <p:nvPr>
            <p:ph type="sldNum" sz="quarter" idx="5"/>
          </p:nvPr>
        </p:nvSpPr>
        <p:spPr/>
        <p:txBody>
          <a:bodyPr/>
          <a:lstStyle/>
          <a:p>
            <a:fld id="{009A7612-DBC4-42FD-AF5C-03C5F90E2665}" type="slidenum">
              <a:rPr lang="en-GB" smtClean="0"/>
              <a:t>10</a:t>
            </a:fld>
            <a:endParaRPr lang="en-GB"/>
          </a:p>
        </p:txBody>
      </p:sp>
    </p:spTree>
    <p:extLst>
      <p:ext uri="{BB962C8B-B14F-4D97-AF65-F5344CB8AC3E}">
        <p14:creationId xmlns:p14="http://schemas.microsoft.com/office/powerpoint/2010/main" val="234541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761C4-C7C5-52B3-4051-0BEEA68CD4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D3D9C0-09D6-54CD-8BC1-161096C1C21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C0A24B1-9FC5-AB2E-EBBF-D7B7B4AC932F}"/>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45BB7C16-FB91-774A-96EB-D51CAEF8A9D6}"/>
              </a:ext>
            </a:extLst>
          </p:cNvPr>
          <p:cNvSpPr>
            <a:spLocks noGrp="1"/>
          </p:cNvSpPr>
          <p:nvPr>
            <p:ph type="sldNum" sz="quarter" idx="5"/>
          </p:nvPr>
        </p:nvSpPr>
        <p:spPr/>
        <p:txBody>
          <a:bodyPr/>
          <a:lstStyle/>
          <a:p>
            <a:fld id="{009A7612-DBC4-42FD-AF5C-03C5F90E2665}" type="slidenum">
              <a:rPr lang="en-GB" smtClean="0"/>
              <a:t>11</a:t>
            </a:fld>
            <a:endParaRPr lang="en-GB"/>
          </a:p>
        </p:txBody>
      </p:sp>
    </p:spTree>
    <p:extLst>
      <p:ext uri="{BB962C8B-B14F-4D97-AF65-F5344CB8AC3E}">
        <p14:creationId xmlns:p14="http://schemas.microsoft.com/office/powerpoint/2010/main" val="13542308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CB717-DEB9-40E7-9244-C6256793B2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86F6B1-E2BB-9F3A-049F-0D6A816B8C7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573A11F-DA8E-5A0D-8C7B-A4B081F65CA7}"/>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FF8E908E-F425-F6FE-0833-B0BA083B3030}"/>
              </a:ext>
            </a:extLst>
          </p:cNvPr>
          <p:cNvSpPr>
            <a:spLocks noGrp="1"/>
          </p:cNvSpPr>
          <p:nvPr>
            <p:ph type="sldNum" sz="quarter" idx="5"/>
          </p:nvPr>
        </p:nvSpPr>
        <p:spPr/>
        <p:txBody>
          <a:bodyPr/>
          <a:lstStyle/>
          <a:p>
            <a:fld id="{009A7612-DBC4-42FD-AF5C-03C5F90E2665}" type="slidenum">
              <a:rPr lang="en-GB" smtClean="0"/>
              <a:t>12</a:t>
            </a:fld>
            <a:endParaRPr lang="en-GB"/>
          </a:p>
        </p:txBody>
      </p:sp>
    </p:spTree>
    <p:extLst>
      <p:ext uri="{BB962C8B-B14F-4D97-AF65-F5344CB8AC3E}">
        <p14:creationId xmlns:p14="http://schemas.microsoft.com/office/powerpoint/2010/main" val="16909870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8C630-1A0D-94AD-C50C-B9630E0E12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FF99A9-BF2F-6B7C-55D6-FA8F6681524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ED52FA7-F8EB-13BF-B1AF-5D8E16470E91}"/>
              </a:ext>
            </a:extLst>
          </p:cNvPr>
          <p:cNvSpPr>
            <a:spLocks noGrp="1"/>
          </p:cNvSpPr>
          <p:nvPr>
            <p:ph type="body" idx="1"/>
          </p:nvPr>
        </p:nvSpPr>
        <p:spPr/>
        <p:txBody>
          <a:bodyPr/>
          <a:lstStyle/>
          <a:p>
            <a:r>
              <a:rPr lang="en-GB" dirty="0">
                <a:latin typeface="Aptos" panose="020B0004020202020204" pitchFamily="34" charset="0"/>
              </a:rPr>
              <a:t>NR VIs may need to wait on one another. An analogy is how, in the classic Lord Of The Flies film, the boys stranded on an island decide that, when they stand in a circle, only the boy that has the conch (a sea shell) can speak. A boy needs to pass the conch to another boy for the other boy to speak. This is analogous to the co-ordination mechanism that LabVIEW executes behind the scenes. </a:t>
            </a:r>
          </a:p>
          <a:p>
            <a:endParaRPr lang="en-GB" dirty="0">
              <a:latin typeface="Aptos" panose="020B0004020202020204" pitchFamily="34" charset="0"/>
            </a:endParaRPr>
          </a:p>
          <a:p>
            <a:r>
              <a:rPr lang="en-GB" dirty="0">
                <a:latin typeface="Aptos" panose="020B0004020202020204" pitchFamily="34" charset="0"/>
              </a:rPr>
              <a:t>IMDB film URL: https://www.imdb.com/title/tt0057261</a:t>
            </a:r>
          </a:p>
        </p:txBody>
      </p:sp>
      <p:sp>
        <p:nvSpPr>
          <p:cNvPr id="4" name="Slide Number Placeholder 3">
            <a:extLst>
              <a:ext uri="{FF2B5EF4-FFF2-40B4-BE49-F238E27FC236}">
                <a16:creationId xmlns:a16="http://schemas.microsoft.com/office/drawing/2014/main" id="{7C720291-93E8-DCD0-8A01-16DAB6BAE1E7}"/>
              </a:ext>
            </a:extLst>
          </p:cNvPr>
          <p:cNvSpPr>
            <a:spLocks noGrp="1"/>
          </p:cNvSpPr>
          <p:nvPr>
            <p:ph type="sldNum" sz="quarter" idx="5"/>
          </p:nvPr>
        </p:nvSpPr>
        <p:spPr/>
        <p:txBody>
          <a:bodyPr/>
          <a:lstStyle/>
          <a:p>
            <a:fld id="{009A7612-DBC4-42FD-AF5C-03C5F90E2665}" type="slidenum">
              <a:rPr lang="en-GB" smtClean="0"/>
              <a:t>13</a:t>
            </a:fld>
            <a:endParaRPr lang="en-GB"/>
          </a:p>
        </p:txBody>
      </p:sp>
    </p:spTree>
    <p:extLst>
      <p:ext uri="{BB962C8B-B14F-4D97-AF65-F5344CB8AC3E}">
        <p14:creationId xmlns:p14="http://schemas.microsoft.com/office/powerpoint/2010/main" val="28263678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F2D8D-10A5-B31C-CD59-EC91DC4CEC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A19677-2509-1E0B-7DE6-28BA9281542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8E84EC0-E20C-775F-6525-D6A88540E8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latin typeface="Aptos" panose="020B0004020202020204" pitchFamily="34" charset="0"/>
              </a:rPr>
              <a:t>This diagram illustrates the two types of overhead associated with Non-</a:t>
            </a:r>
            <a:r>
              <a:rPr lang="en-GB" dirty="0" err="1">
                <a:latin typeface="Aptos" panose="020B0004020202020204" pitchFamily="34" charset="0"/>
              </a:rPr>
              <a:t>Reentrant</a:t>
            </a:r>
            <a:r>
              <a:rPr lang="en-GB" dirty="0">
                <a:latin typeface="Aptos" panose="020B0004020202020204" pitchFamily="34" charset="0"/>
              </a:rPr>
              <a:t> (NR) VIs.</a:t>
            </a:r>
            <a:endParaRPr lang="en-GB" dirty="0">
              <a:solidFill>
                <a:srgbClr val="003B66"/>
              </a:solidFill>
              <a:latin typeface="Aptos" panose="020B0004020202020204" pitchFamily="34" charset="0"/>
            </a:endParaRPr>
          </a:p>
        </p:txBody>
      </p:sp>
      <p:sp>
        <p:nvSpPr>
          <p:cNvPr id="4" name="Slide Number Placeholder 3">
            <a:extLst>
              <a:ext uri="{FF2B5EF4-FFF2-40B4-BE49-F238E27FC236}">
                <a16:creationId xmlns:a16="http://schemas.microsoft.com/office/drawing/2014/main" id="{A1059BDB-B196-AB84-4D62-C05DA31AACF1}"/>
              </a:ext>
            </a:extLst>
          </p:cNvPr>
          <p:cNvSpPr>
            <a:spLocks noGrp="1"/>
          </p:cNvSpPr>
          <p:nvPr>
            <p:ph type="sldNum" sz="quarter" idx="5"/>
          </p:nvPr>
        </p:nvSpPr>
        <p:spPr/>
        <p:txBody>
          <a:bodyPr/>
          <a:lstStyle/>
          <a:p>
            <a:fld id="{009A7612-DBC4-42FD-AF5C-03C5F90E2665}" type="slidenum">
              <a:rPr lang="en-GB" smtClean="0"/>
              <a:t>14</a:t>
            </a:fld>
            <a:endParaRPr lang="en-GB"/>
          </a:p>
        </p:txBody>
      </p:sp>
    </p:spTree>
    <p:extLst>
      <p:ext uri="{BB962C8B-B14F-4D97-AF65-F5344CB8AC3E}">
        <p14:creationId xmlns:p14="http://schemas.microsoft.com/office/powerpoint/2010/main" val="31195629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28988-B0A4-86E1-24FE-C66A0DE1B7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47483-9301-79E1-C627-60A6FE640D3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F7CD189-7182-D58E-E45A-05D57B5E7FE5}"/>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1DBEC9C2-75F7-0061-4B2C-3D5D63AE6335}"/>
              </a:ext>
            </a:extLst>
          </p:cNvPr>
          <p:cNvSpPr>
            <a:spLocks noGrp="1"/>
          </p:cNvSpPr>
          <p:nvPr>
            <p:ph type="sldNum" sz="quarter" idx="5"/>
          </p:nvPr>
        </p:nvSpPr>
        <p:spPr/>
        <p:txBody>
          <a:bodyPr/>
          <a:lstStyle/>
          <a:p>
            <a:fld id="{009A7612-DBC4-42FD-AF5C-03C5F90E2665}" type="slidenum">
              <a:rPr lang="en-GB" smtClean="0"/>
              <a:t>15</a:t>
            </a:fld>
            <a:endParaRPr lang="en-GB"/>
          </a:p>
        </p:txBody>
      </p:sp>
    </p:spTree>
    <p:extLst>
      <p:ext uri="{BB962C8B-B14F-4D97-AF65-F5344CB8AC3E}">
        <p14:creationId xmlns:p14="http://schemas.microsoft.com/office/powerpoint/2010/main" val="29897575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ACA13-C1A9-E142-5FB3-8777948E52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5EF21D-B5DF-B982-299F-0A268AC80A9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021BDC4-9E26-295A-E5EF-31183415B8D3}"/>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32625608-729F-84A0-8A74-34757EC0F8FF}"/>
              </a:ext>
            </a:extLst>
          </p:cNvPr>
          <p:cNvSpPr>
            <a:spLocks noGrp="1"/>
          </p:cNvSpPr>
          <p:nvPr>
            <p:ph type="sldNum" sz="quarter" idx="5"/>
          </p:nvPr>
        </p:nvSpPr>
        <p:spPr/>
        <p:txBody>
          <a:bodyPr/>
          <a:lstStyle/>
          <a:p>
            <a:fld id="{009A7612-DBC4-42FD-AF5C-03C5F90E2665}" type="slidenum">
              <a:rPr lang="en-GB" smtClean="0"/>
              <a:t>16</a:t>
            </a:fld>
            <a:endParaRPr lang="en-GB"/>
          </a:p>
        </p:txBody>
      </p:sp>
    </p:spTree>
    <p:extLst>
      <p:ext uri="{BB962C8B-B14F-4D97-AF65-F5344CB8AC3E}">
        <p14:creationId xmlns:p14="http://schemas.microsoft.com/office/powerpoint/2010/main" val="1737093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EBDD1-803D-1BF8-BA34-BBE86E68C9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4C684F-A42E-34BE-6DFF-2805AD9375D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FDA6C9E-2EDE-A141-0E32-024EE174F90D}"/>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8EE866EB-2737-D838-B43C-5084A3FA40BA}"/>
              </a:ext>
            </a:extLst>
          </p:cNvPr>
          <p:cNvSpPr>
            <a:spLocks noGrp="1"/>
          </p:cNvSpPr>
          <p:nvPr>
            <p:ph type="sldNum" sz="quarter" idx="5"/>
          </p:nvPr>
        </p:nvSpPr>
        <p:spPr/>
        <p:txBody>
          <a:bodyPr/>
          <a:lstStyle/>
          <a:p>
            <a:fld id="{009A7612-DBC4-42FD-AF5C-03C5F90E2665}" type="slidenum">
              <a:rPr lang="en-GB" smtClean="0"/>
              <a:t>17</a:t>
            </a:fld>
            <a:endParaRPr lang="en-GB"/>
          </a:p>
        </p:txBody>
      </p:sp>
    </p:spTree>
    <p:extLst>
      <p:ext uri="{BB962C8B-B14F-4D97-AF65-F5344CB8AC3E}">
        <p14:creationId xmlns:p14="http://schemas.microsoft.com/office/powerpoint/2010/main" val="310246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A74A1-7495-EAA8-F54D-69EFBD6E4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1021BC-C489-A1DD-7224-9B005BF62E9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C617E35-48F5-82E2-E28B-C9C327CEE9D0}"/>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BD6D622A-CC1F-B038-BB20-146708FBA79C}"/>
              </a:ext>
            </a:extLst>
          </p:cNvPr>
          <p:cNvSpPr>
            <a:spLocks noGrp="1"/>
          </p:cNvSpPr>
          <p:nvPr>
            <p:ph type="sldNum" sz="quarter" idx="5"/>
          </p:nvPr>
        </p:nvSpPr>
        <p:spPr/>
        <p:txBody>
          <a:bodyPr/>
          <a:lstStyle/>
          <a:p>
            <a:fld id="{009A7612-DBC4-42FD-AF5C-03C5F90E2665}" type="slidenum">
              <a:rPr lang="en-GB" smtClean="0"/>
              <a:t>18</a:t>
            </a:fld>
            <a:endParaRPr lang="en-GB"/>
          </a:p>
        </p:txBody>
      </p:sp>
    </p:spTree>
    <p:extLst>
      <p:ext uri="{BB962C8B-B14F-4D97-AF65-F5344CB8AC3E}">
        <p14:creationId xmlns:p14="http://schemas.microsoft.com/office/powerpoint/2010/main" val="15689492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4758C-3360-FB60-6317-1D008C4EB4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2D2DAF-AA1C-4067-C85A-2816E938F91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9755774-50F4-3745-6B3F-2B727F02ED8A}"/>
              </a:ext>
            </a:extLst>
          </p:cNvPr>
          <p:cNvSpPr>
            <a:spLocks noGrp="1"/>
          </p:cNvSpPr>
          <p:nvPr>
            <p:ph type="body" idx="1"/>
          </p:nvPr>
        </p:nvSpPr>
        <p:spPr/>
        <p:txBody>
          <a:bodyPr/>
          <a:lstStyle/>
          <a:p>
            <a:r>
              <a:rPr lang="en-GB" sz="1200" dirty="0">
                <a:solidFill>
                  <a:srgbClr val="003B66"/>
                </a:solidFill>
                <a:latin typeface="Aptos" panose="020B0004020202020204" pitchFamily="34" charset="0"/>
              </a:rPr>
              <a:t>Let’s revisit the execution diagram. </a:t>
            </a:r>
            <a:r>
              <a:rPr lang="en-GB" dirty="0">
                <a:latin typeface="Aptos" panose="020B0004020202020204" pitchFamily="34" charset="0"/>
              </a:rPr>
              <a:t>This slide compares Diagram 1 (A.vi is set to NR) with Diagram 2 (A.vi is set to PCR). Diagram 2 illustrates a much more performant situation.</a:t>
            </a:r>
          </a:p>
        </p:txBody>
      </p:sp>
      <p:sp>
        <p:nvSpPr>
          <p:cNvPr id="4" name="Slide Number Placeholder 3">
            <a:extLst>
              <a:ext uri="{FF2B5EF4-FFF2-40B4-BE49-F238E27FC236}">
                <a16:creationId xmlns:a16="http://schemas.microsoft.com/office/drawing/2014/main" id="{6FB23FE2-1F7C-880D-843C-4156CA18AFD6}"/>
              </a:ext>
            </a:extLst>
          </p:cNvPr>
          <p:cNvSpPr>
            <a:spLocks noGrp="1"/>
          </p:cNvSpPr>
          <p:nvPr>
            <p:ph type="sldNum" sz="quarter" idx="5"/>
          </p:nvPr>
        </p:nvSpPr>
        <p:spPr/>
        <p:txBody>
          <a:bodyPr/>
          <a:lstStyle/>
          <a:p>
            <a:fld id="{009A7612-DBC4-42FD-AF5C-03C5F90E2665}" type="slidenum">
              <a:rPr lang="en-GB" smtClean="0"/>
              <a:t>19</a:t>
            </a:fld>
            <a:endParaRPr lang="en-GB"/>
          </a:p>
        </p:txBody>
      </p:sp>
    </p:spTree>
    <p:extLst>
      <p:ext uri="{BB962C8B-B14F-4D97-AF65-F5344CB8AC3E}">
        <p14:creationId xmlns:p14="http://schemas.microsoft.com/office/powerpoint/2010/main" val="34242092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973D0-6921-AA56-C7F3-DE56B2F747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1BAD0F-6D55-55B7-2096-7F15A07A153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D2CA9EA-6540-6636-A03E-55C00B597859}"/>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3B60A9D5-C115-AD37-58EF-CF900CC59C47}"/>
              </a:ext>
            </a:extLst>
          </p:cNvPr>
          <p:cNvSpPr>
            <a:spLocks noGrp="1"/>
          </p:cNvSpPr>
          <p:nvPr>
            <p:ph type="sldNum" sz="quarter" idx="5"/>
          </p:nvPr>
        </p:nvSpPr>
        <p:spPr/>
        <p:txBody>
          <a:bodyPr/>
          <a:lstStyle/>
          <a:p>
            <a:fld id="{009A7612-DBC4-42FD-AF5C-03C5F90E2665}" type="slidenum">
              <a:rPr lang="en-GB" smtClean="0"/>
              <a:t>20</a:t>
            </a:fld>
            <a:endParaRPr lang="en-GB"/>
          </a:p>
        </p:txBody>
      </p:sp>
    </p:spTree>
    <p:extLst>
      <p:ext uri="{BB962C8B-B14F-4D97-AF65-F5344CB8AC3E}">
        <p14:creationId xmlns:p14="http://schemas.microsoft.com/office/powerpoint/2010/main" val="14025032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D9F03-266D-1CD2-2ECC-0B0F942318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F75C55-74C8-47DD-CC6D-6DCC07DAB14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99F47C3-6048-3797-38AE-CC9DC03814D3}"/>
              </a:ext>
            </a:extLst>
          </p:cNvPr>
          <p:cNvSpPr>
            <a:spLocks noGrp="1"/>
          </p:cNvSpPr>
          <p:nvPr>
            <p:ph type="body" idx="1"/>
          </p:nvPr>
        </p:nvSpPr>
        <p:spPr/>
        <p:txBody>
          <a:bodyPr/>
          <a:lstStyle/>
          <a:p>
            <a:r>
              <a:rPr lang="en-GB" dirty="0">
                <a:latin typeface="Aptos" panose="020B0004020202020204" pitchFamily="34" charset="0"/>
              </a:rPr>
              <a:t>Ok, we’ve discussed Non-</a:t>
            </a:r>
            <a:r>
              <a:rPr lang="en-GB" dirty="0" err="1">
                <a:latin typeface="Aptos" panose="020B0004020202020204" pitchFamily="34" charset="0"/>
              </a:rPr>
              <a:t>Reentrant</a:t>
            </a:r>
            <a:r>
              <a:rPr lang="en-GB" dirty="0">
                <a:latin typeface="Aptos" panose="020B0004020202020204" pitchFamily="34" charset="0"/>
              </a:rPr>
              <a:t> and Preallocated Clone </a:t>
            </a:r>
            <a:r>
              <a:rPr lang="en-GB" dirty="0" err="1">
                <a:latin typeface="Aptos" panose="020B0004020202020204" pitchFamily="34" charset="0"/>
              </a:rPr>
              <a:t>Reentrant</a:t>
            </a:r>
            <a:r>
              <a:rPr lang="en-GB" dirty="0">
                <a:latin typeface="Aptos" panose="020B0004020202020204" pitchFamily="34" charset="0"/>
              </a:rPr>
              <a:t>. How about Shared Clone </a:t>
            </a:r>
            <a:r>
              <a:rPr lang="en-GB" dirty="0" err="1">
                <a:latin typeface="Aptos" panose="020B0004020202020204" pitchFamily="34" charset="0"/>
              </a:rPr>
              <a:t>Reentrant</a:t>
            </a:r>
            <a:r>
              <a:rPr lang="en-GB" dirty="0">
                <a:latin typeface="Aptos" panose="020B0004020202020204" pitchFamily="34" charset="0"/>
              </a:rPr>
              <a:t>?</a:t>
            </a:r>
          </a:p>
        </p:txBody>
      </p:sp>
      <p:sp>
        <p:nvSpPr>
          <p:cNvPr id="4" name="Slide Number Placeholder 3">
            <a:extLst>
              <a:ext uri="{FF2B5EF4-FFF2-40B4-BE49-F238E27FC236}">
                <a16:creationId xmlns:a16="http://schemas.microsoft.com/office/drawing/2014/main" id="{A86DA486-B0F5-77BD-5210-E992C3E9442C}"/>
              </a:ext>
            </a:extLst>
          </p:cNvPr>
          <p:cNvSpPr>
            <a:spLocks noGrp="1"/>
          </p:cNvSpPr>
          <p:nvPr>
            <p:ph type="sldNum" sz="quarter" idx="5"/>
          </p:nvPr>
        </p:nvSpPr>
        <p:spPr/>
        <p:txBody>
          <a:bodyPr/>
          <a:lstStyle/>
          <a:p>
            <a:fld id="{009A7612-DBC4-42FD-AF5C-03C5F90E2665}" type="slidenum">
              <a:rPr lang="en-GB" smtClean="0"/>
              <a:t>21</a:t>
            </a:fld>
            <a:endParaRPr lang="en-GB"/>
          </a:p>
        </p:txBody>
      </p:sp>
    </p:spTree>
    <p:extLst>
      <p:ext uri="{BB962C8B-B14F-4D97-AF65-F5344CB8AC3E}">
        <p14:creationId xmlns:p14="http://schemas.microsoft.com/office/powerpoint/2010/main" val="12761708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BEA45-47B7-BB81-F36E-6798F414A9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E7FD31-DE6B-297C-EC95-7D7D3388931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E875FBE-E715-67BE-0FCA-8A209F01A346}"/>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7594C910-E1BE-4EF3-2E5C-A77579E66EA7}"/>
              </a:ext>
            </a:extLst>
          </p:cNvPr>
          <p:cNvSpPr>
            <a:spLocks noGrp="1"/>
          </p:cNvSpPr>
          <p:nvPr>
            <p:ph type="sldNum" sz="quarter" idx="5"/>
          </p:nvPr>
        </p:nvSpPr>
        <p:spPr/>
        <p:txBody>
          <a:bodyPr/>
          <a:lstStyle/>
          <a:p>
            <a:fld id="{009A7612-DBC4-42FD-AF5C-03C5F90E2665}" type="slidenum">
              <a:rPr lang="en-GB" smtClean="0"/>
              <a:t>22</a:t>
            </a:fld>
            <a:endParaRPr lang="en-GB"/>
          </a:p>
        </p:txBody>
      </p:sp>
    </p:spTree>
    <p:extLst>
      <p:ext uri="{BB962C8B-B14F-4D97-AF65-F5344CB8AC3E}">
        <p14:creationId xmlns:p14="http://schemas.microsoft.com/office/powerpoint/2010/main" val="618183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F1E9A-7250-76A9-257F-C6145B13CB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34F816-98F9-529A-96E6-C2D359449FC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E3CA793-43D1-DE85-C4DD-7830A28D483F}"/>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76108DEE-1E16-8285-EE4D-43466731D20C}"/>
              </a:ext>
            </a:extLst>
          </p:cNvPr>
          <p:cNvSpPr>
            <a:spLocks noGrp="1"/>
          </p:cNvSpPr>
          <p:nvPr>
            <p:ph type="sldNum" sz="quarter" idx="5"/>
          </p:nvPr>
        </p:nvSpPr>
        <p:spPr/>
        <p:txBody>
          <a:bodyPr/>
          <a:lstStyle/>
          <a:p>
            <a:fld id="{009A7612-DBC4-42FD-AF5C-03C5F90E2665}" type="slidenum">
              <a:rPr lang="en-GB" smtClean="0"/>
              <a:t>23</a:t>
            </a:fld>
            <a:endParaRPr lang="en-GB"/>
          </a:p>
        </p:txBody>
      </p:sp>
    </p:spTree>
    <p:extLst>
      <p:ext uri="{BB962C8B-B14F-4D97-AF65-F5344CB8AC3E}">
        <p14:creationId xmlns:p14="http://schemas.microsoft.com/office/powerpoint/2010/main" val="17495800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496E6-D75E-FE97-A798-58DD3FD050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0EF58-33DA-AAF4-C8C1-4941333E292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4909253-D878-3BE1-A064-9C1567332661}"/>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19F9B460-62FE-B531-13A2-9EEBDBBDA9E5}"/>
              </a:ext>
            </a:extLst>
          </p:cNvPr>
          <p:cNvSpPr>
            <a:spLocks noGrp="1"/>
          </p:cNvSpPr>
          <p:nvPr>
            <p:ph type="sldNum" sz="quarter" idx="5"/>
          </p:nvPr>
        </p:nvSpPr>
        <p:spPr/>
        <p:txBody>
          <a:bodyPr/>
          <a:lstStyle/>
          <a:p>
            <a:fld id="{009A7612-DBC4-42FD-AF5C-03C5F90E2665}" type="slidenum">
              <a:rPr lang="en-GB" smtClean="0"/>
              <a:t>24</a:t>
            </a:fld>
            <a:endParaRPr lang="en-GB"/>
          </a:p>
        </p:txBody>
      </p:sp>
    </p:spTree>
    <p:extLst>
      <p:ext uri="{BB962C8B-B14F-4D97-AF65-F5344CB8AC3E}">
        <p14:creationId xmlns:p14="http://schemas.microsoft.com/office/powerpoint/2010/main" val="8864268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BFBE2-E15A-2C70-66C2-F6C706BEE0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AB6B95-38AE-9095-F234-59EF4F51DED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5C757ED-80F8-AEBD-9346-9422D870772F}"/>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0041932E-2DDD-6683-07A6-6CFD54B538E8}"/>
              </a:ext>
            </a:extLst>
          </p:cNvPr>
          <p:cNvSpPr>
            <a:spLocks noGrp="1"/>
          </p:cNvSpPr>
          <p:nvPr>
            <p:ph type="sldNum" sz="quarter" idx="5"/>
          </p:nvPr>
        </p:nvSpPr>
        <p:spPr/>
        <p:txBody>
          <a:bodyPr/>
          <a:lstStyle/>
          <a:p>
            <a:fld id="{009A7612-DBC4-42FD-AF5C-03C5F90E2665}" type="slidenum">
              <a:rPr lang="en-GB" smtClean="0"/>
              <a:t>25</a:t>
            </a:fld>
            <a:endParaRPr lang="en-GB"/>
          </a:p>
        </p:txBody>
      </p:sp>
    </p:spTree>
    <p:extLst>
      <p:ext uri="{BB962C8B-B14F-4D97-AF65-F5344CB8AC3E}">
        <p14:creationId xmlns:p14="http://schemas.microsoft.com/office/powerpoint/2010/main" val="18108160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4CE0D-C6A4-44F3-3B37-A2653BCC8D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7DDEFC-B6B7-ECA6-0CFF-BA7484562E8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8635672-491E-C095-421D-896340C34873}"/>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C8244B25-77CD-6D6B-9291-66DE940C32AF}"/>
              </a:ext>
            </a:extLst>
          </p:cNvPr>
          <p:cNvSpPr>
            <a:spLocks noGrp="1"/>
          </p:cNvSpPr>
          <p:nvPr>
            <p:ph type="sldNum" sz="quarter" idx="5"/>
          </p:nvPr>
        </p:nvSpPr>
        <p:spPr/>
        <p:txBody>
          <a:bodyPr/>
          <a:lstStyle/>
          <a:p>
            <a:fld id="{009A7612-DBC4-42FD-AF5C-03C5F90E2665}" type="slidenum">
              <a:rPr lang="en-GB" smtClean="0"/>
              <a:t>26</a:t>
            </a:fld>
            <a:endParaRPr lang="en-GB"/>
          </a:p>
        </p:txBody>
      </p:sp>
    </p:spTree>
    <p:extLst>
      <p:ext uri="{BB962C8B-B14F-4D97-AF65-F5344CB8AC3E}">
        <p14:creationId xmlns:p14="http://schemas.microsoft.com/office/powerpoint/2010/main" val="13566994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ADECC-6AC0-2A06-1C3C-ED16ECD196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729085-9039-14FB-21AE-CEC06C2869D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E801591-F5A8-680D-B65D-AF1C2E749759}"/>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77139886-71AF-4B2B-95A3-B5DB6CDBC312}"/>
              </a:ext>
            </a:extLst>
          </p:cNvPr>
          <p:cNvSpPr>
            <a:spLocks noGrp="1"/>
          </p:cNvSpPr>
          <p:nvPr>
            <p:ph type="sldNum" sz="quarter" idx="5"/>
          </p:nvPr>
        </p:nvSpPr>
        <p:spPr/>
        <p:txBody>
          <a:bodyPr/>
          <a:lstStyle/>
          <a:p>
            <a:fld id="{009A7612-DBC4-42FD-AF5C-03C5F90E2665}" type="slidenum">
              <a:rPr lang="en-GB" smtClean="0"/>
              <a:t>27</a:t>
            </a:fld>
            <a:endParaRPr lang="en-GB"/>
          </a:p>
        </p:txBody>
      </p:sp>
    </p:spTree>
    <p:extLst>
      <p:ext uri="{BB962C8B-B14F-4D97-AF65-F5344CB8AC3E}">
        <p14:creationId xmlns:p14="http://schemas.microsoft.com/office/powerpoint/2010/main" val="37377674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2FFC1-EB90-3211-F323-520F800276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57A82F-07DE-BD20-F60E-DA8480B7B29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36EC694-6B29-7829-4719-3B28FCB0F157}"/>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8EFF7337-7FD6-9D89-D1E4-9691EC5E6B1B}"/>
              </a:ext>
            </a:extLst>
          </p:cNvPr>
          <p:cNvSpPr>
            <a:spLocks noGrp="1"/>
          </p:cNvSpPr>
          <p:nvPr>
            <p:ph type="sldNum" sz="quarter" idx="5"/>
          </p:nvPr>
        </p:nvSpPr>
        <p:spPr/>
        <p:txBody>
          <a:bodyPr/>
          <a:lstStyle/>
          <a:p>
            <a:fld id="{009A7612-DBC4-42FD-AF5C-03C5F90E2665}" type="slidenum">
              <a:rPr lang="en-GB" smtClean="0"/>
              <a:t>28</a:t>
            </a:fld>
            <a:endParaRPr lang="en-GB"/>
          </a:p>
        </p:txBody>
      </p:sp>
    </p:spTree>
    <p:extLst>
      <p:ext uri="{BB962C8B-B14F-4D97-AF65-F5344CB8AC3E}">
        <p14:creationId xmlns:p14="http://schemas.microsoft.com/office/powerpoint/2010/main" val="13139579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1D11E-A703-F86D-F89C-2B4D1968C1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A7191-6A92-82CE-7B60-F38495FD051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DA5BF4F-3136-960E-F866-27CA000EFC5A}"/>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183AB264-03CD-1E9B-B11B-C13DA4533054}"/>
              </a:ext>
            </a:extLst>
          </p:cNvPr>
          <p:cNvSpPr>
            <a:spLocks noGrp="1"/>
          </p:cNvSpPr>
          <p:nvPr>
            <p:ph type="sldNum" sz="quarter" idx="5"/>
          </p:nvPr>
        </p:nvSpPr>
        <p:spPr/>
        <p:txBody>
          <a:bodyPr/>
          <a:lstStyle/>
          <a:p>
            <a:fld id="{009A7612-DBC4-42FD-AF5C-03C5F90E2665}" type="slidenum">
              <a:rPr lang="en-GB" smtClean="0"/>
              <a:t>29</a:t>
            </a:fld>
            <a:endParaRPr lang="en-GB"/>
          </a:p>
        </p:txBody>
      </p:sp>
    </p:spTree>
    <p:extLst>
      <p:ext uri="{BB962C8B-B14F-4D97-AF65-F5344CB8AC3E}">
        <p14:creationId xmlns:p14="http://schemas.microsoft.com/office/powerpoint/2010/main" val="36592786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95E22-887B-8087-0FE3-6BC840D7F6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E7592F-E9C8-6B77-0779-B6DD4BA90E2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0BC1082-4F8A-8354-350C-043BF2B8BAB5}"/>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C883DDF9-82F4-80EB-1551-A5CFE6494B04}"/>
              </a:ext>
            </a:extLst>
          </p:cNvPr>
          <p:cNvSpPr>
            <a:spLocks noGrp="1"/>
          </p:cNvSpPr>
          <p:nvPr>
            <p:ph type="sldNum" sz="quarter" idx="5"/>
          </p:nvPr>
        </p:nvSpPr>
        <p:spPr/>
        <p:txBody>
          <a:bodyPr/>
          <a:lstStyle/>
          <a:p>
            <a:fld id="{009A7612-DBC4-42FD-AF5C-03C5F90E2665}" type="slidenum">
              <a:rPr lang="en-GB" smtClean="0"/>
              <a:t>30</a:t>
            </a:fld>
            <a:endParaRPr lang="en-GB"/>
          </a:p>
        </p:txBody>
      </p:sp>
    </p:spTree>
    <p:extLst>
      <p:ext uri="{BB962C8B-B14F-4D97-AF65-F5344CB8AC3E}">
        <p14:creationId xmlns:p14="http://schemas.microsoft.com/office/powerpoint/2010/main" val="8407921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8632F-5303-FC96-DB31-26291C8C63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6A1EDC-909A-C828-F222-52436343940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138A440-1A27-A9F5-C7FD-443B16171F4F}"/>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64CD9EB4-0BA0-D385-0243-126E12A84835}"/>
              </a:ext>
            </a:extLst>
          </p:cNvPr>
          <p:cNvSpPr>
            <a:spLocks noGrp="1"/>
          </p:cNvSpPr>
          <p:nvPr>
            <p:ph type="sldNum" sz="quarter" idx="5"/>
          </p:nvPr>
        </p:nvSpPr>
        <p:spPr/>
        <p:txBody>
          <a:bodyPr/>
          <a:lstStyle/>
          <a:p>
            <a:fld id="{009A7612-DBC4-42FD-AF5C-03C5F90E2665}" type="slidenum">
              <a:rPr lang="en-GB" smtClean="0"/>
              <a:t>31</a:t>
            </a:fld>
            <a:endParaRPr lang="en-GB"/>
          </a:p>
        </p:txBody>
      </p:sp>
    </p:spTree>
    <p:extLst>
      <p:ext uri="{BB962C8B-B14F-4D97-AF65-F5344CB8AC3E}">
        <p14:creationId xmlns:p14="http://schemas.microsoft.com/office/powerpoint/2010/main" val="32252747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F2F94-D49A-C69B-C8B1-C2CC655B59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1A6234-6AA5-4197-58BF-84B4F57C4B0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86021AA-142F-7796-0F4C-5BE1FF075DA6}"/>
              </a:ext>
            </a:extLst>
          </p:cNvPr>
          <p:cNvSpPr>
            <a:spLocks noGrp="1"/>
          </p:cNvSpPr>
          <p:nvPr>
            <p:ph type="body" idx="1"/>
          </p:nvPr>
        </p:nvSpPr>
        <p:spPr/>
        <p:txBody>
          <a:bodyPr/>
          <a:lstStyle/>
          <a:p>
            <a:r>
              <a:rPr lang="en-GB" dirty="0">
                <a:latin typeface="Aptos" panose="020B0004020202020204" pitchFamily="34" charset="0"/>
              </a:rPr>
              <a:t>Verbally explain:</a:t>
            </a:r>
          </a:p>
          <a:p>
            <a:pPr marL="171450" indent="-171450">
              <a:buFont typeface="Arial" panose="020B0604020202020204" pitchFamily="34" charset="0"/>
              <a:buChar char="•"/>
            </a:pPr>
            <a:r>
              <a:rPr lang="en-GB" dirty="0">
                <a:latin typeface="Aptos" panose="020B0004020202020204" pitchFamily="34" charset="0"/>
              </a:rPr>
              <a:t>The simple VI was 7% more performant when using SCR than NR. And was 57% more performant when using PCR than NR.</a:t>
            </a:r>
          </a:p>
          <a:p>
            <a:pPr marL="171450" indent="-171450">
              <a:buFont typeface="Arial" panose="020B0604020202020204" pitchFamily="34" charset="0"/>
              <a:buChar char="•"/>
            </a:pPr>
            <a:r>
              <a:rPr lang="en-GB" dirty="0">
                <a:latin typeface="Aptos" panose="020B0004020202020204" pitchFamily="34" charset="0"/>
              </a:rPr>
              <a:t>The medium-complexity VI was 23% more performant when using SCR than NR. And was 32% more performant when using PCR than NR.</a:t>
            </a:r>
          </a:p>
          <a:p>
            <a:pPr marL="171450" indent="-171450">
              <a:buFont typeface="Arial" panose="020B0604020202020204" pitchFamily="34" charset="0"/>
              <a:buChar char="•"/>
            </a:pPr>
            <a:r>
              <a:rPr lang="en-GB" dirty="0">
                <a:latin typeface="Aptos" panose="020B0004020202020204" pitchFamily="34" charset="0"/>
              </a:rPr>
              <a:t>The high-complexity VI was slightly less performant (-1%) when using SCR than NR. And was 3% more performant when using PCR than NR.</a:t>
            </a:r>
          </a:p>
          <a:p>
            <a:pPr marL="171450" indent="-171450">
              <a:buFont typeface="Arial" panose="020B0604020202020204" pitchFamily="34" charset="0"/>
              <a:buChar char="•"/>
            </a:pPr>
            <a:r>
              <a:rPr lang="en-GB" dirty="0">
                <a:latin typeface="Aptos" panose="020B0004020202020204" pitchFamily="34" charset="0"/>
              </a:rPr>
              <a:t>Each pie chart highlights the overhead that NR has compared to PCR. The red part is the NR overhead.</a:t>
            </a:r>
          </a:p>
        </p:txBody>
      </p:sp>
      <p:sp>
        <p:nvSpPr>
          <p:cNvPr id="4" name="Slide Number Placeholder 3">
            <a:extLst>
              <a:ext uri="{FF2B5EF4-FFF2-40B4-BE49-F238E27FC236}">
                <a16:creationId xmlns:a16="http://schemas.microsoft.com/office/drawing/2014/main" id="{FCCABD11-335E-2D86-4189-E7212432D236}"/>
              </a:ext>
            </a:extLst>
          </p:cNvPr>
          <p:cNvSpPr>
            <a:spLocks noGrp="1"/>
          </p:cNvSpPr>
          <p:nvPr>
            <p:ph type="sldNum" sz="quarter" idx="5"/>
          </p:nvPr>
        </p:nvSpPr>
        <p:spPr/>
        <p:txBody>
          <a:bodyPr/>
          <a:lstStyle/>
          <a:p>
            <a:fld id="{009A7612-DBC4-42FD-AF5C-03C5F90E2665}" type="slidenum">
              <a:rPr lang="en-GB" smtClean="0"/>
              <a:t>32</a:t>
            </a:fld>
            <a:endParaRPr lang="en-GB"/>
          </a:p>
        </p:txBody>
      </p:sp>
    </p:spTree>
    <p:extLst>
      <p:ext uri="{BB962C8B-B14F-4D97-AF65-F5344CB8AC3E}">
        <p14:creationId xmlns:p14="http://schemas.microsoft.com/office/powerpoint/2010/main" val="39129483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61988-946C-15B6-4CB4-8CE3861E3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5E505A-BCFE-5BD9-74D1-B5A9679D163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D280A9D-BBC6-8FE0-8686-ECC4E3128B8E}"/>
              </a:ext>
            </a:extLst>
          </p:cNvPr>
          <p:cNvSpPr>
            <a:spLocks noGrp="1"/>
          </p:cNvSpPr>
          <p:nvPr>
            <p:ph type="body" idx="1"/>
          </p:nvPr>
        </p:nvSpPr>
        <p:spPr/>
        <p:txBody>
          <a:bodyPr/>
          <a:lstStyle/>
          <a:p>
            <a:r>
              <a:rPr lang="en-GB" dirty="0">
                <a:latin typeface="Aptos" panose="020B0004020202020204" pitchFamily="34" charset="0"/>
              </a:rPr>
              <a:t>Verbally explain:</a:t>
            </a:r>
          </a:p>
          <a:p>
            <a:pPr marL="171450" indent="-171450">
              <a:buFont typeface="Arial" panose="020B0604020202020204" pitchFamily="34" charset="0"/>
              <a:buChar char="•"/>
            </a:pPr>
            <a:r>
              <a:rPr lang="en-GB" dirty="0">
                <a:latin typeface="Aptos" panose="020B0004020202020204" pitchFamily="34" charset="0"/>
              </a:rPr>
              <a:t>In Experiment 2 the location of the two </a:t>
            </a:r>
            <a:r>
              <a:rPr lang="en-GB" b="1" dirty="0">
                <a:latin typeface="Aptos" panose="020B0004020202020204" pitchFamily="34" charset="0"/>
              </a:rPr>
              <a:t>High Resolution Relative Seconds.vi</a:t>
            </a:r>
            <a:r>
              <a:rPr lang="en-GB" dirty="0">
                <a:latin typeface="Aptos" panose="020B0004020202020204" pitchFamily="34" charset="0"/>
              </a:rPr>
              <a:t> was changed. They are inside the loop.</a:t>
            </a:r>
          </a:p>
        </p:txBody>
      </p:sp>
      <p:sp>
        <p:nvSpPr>
          <p:cNvPr id="4" name="Slide Number Placeholder 3">
            <a:extLst>
              <a:ext uri="{FF2B5EF4-FFF2-40B4-BE49-F238E27FC236}">
                <a16:creationId xmlns:a16="http://schemas.microsoft.com/office/drawing/2014/main" id="{949A3A39-83CD-0E36-4597-E03CEA08D114}"/>
              </a:ext>
            </a:extLst>
          </p:cNvPr>
          <p:cNvSpPr>
            <a:spLocks noGrp="1"/>
          </p:cNvSpPr>
          <p:nvPr>
            <p:ph type="sldNum" sz="quarter" idx="5"/>
          </p:nvPr>
        </p:nvSpPr>
        <p:spPr/>
        <p:txBody>
          <a:bodyPr/>
          <a:lstStyle/>
          <a:p>
            <a:fld id="{009A7612-DBC4-42FD-AF5C-03C5F90E2665}" type="slidenum">
              <a:rPr lang="en-GB" smtClean="0"/>
              <a:t>33</a:t>
            </a:fld>
            <a:endParaRPr lang="en-GB"/>
          </a:p>
        </p:txBody>
      </p:sp>
    </p:spTree>
    <p:extLst>
      <p:ext uri="{BB962C8B-B14F-4D97-AF65-F5344CB8AC3E}">
        <p14:creationId xmlns:p14="http://schemas.microsoft.com/office/powerpoint/2010/main" val="38502915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8DEAE-44AC-5F27-93F8-AB432A45EF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37AF90-5FF2-8797-C542-69E8454A070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0728E06-F138-AB2A-71BA-306AA591829D}"/>
              </a:ext>
            </a:extLst>
          </p:cNvPr>
          <p:cNvSpPr>
            <a:spLocks noGrp="1"/>
          </p:cNvSpPr>
          <p:nvPr>
            <p:ph type="body" idx="1"/>
          </p:nvPr>
        </p:nvSpPr>
        <p:spPr/>
        <p:txBody>
          <a:bodyPr/>
          <a:lstStyle/>
          <a:p>
            <a:r>
              <a:rPr lang="en-GB" dirty="0">
                <a:latin typeface="Aptos" panose="020B0004020202020204" pitchFamily="34" charset="0"/>
              </a:rPr>
              <a:t>Verbally explain:</a:t>
            </a:r>
          </a:p>
          <a:p>
            <a:pPr marL="171450" indent="-171450">
              <a:buFont typeface="Arial" panose="020B0604020202020204" pitchFamily="34" charset="0"/>
              <a:buChar char="•"/>
            </a:pPr>
            <a:r>
              <a:rPr lang="en-GB" dirty="0">
                <a:latin typeface="Aptos" panose="020B0004020202020204" pitchFamily="34" charset="0"/>
              </a:rPr>
              <a:t>The simple VI was less performant when using SCR than NR (-6%). And was 54% more performant when using PCR than NR.</a:t>
            </a:r>
          </a:p>
          <a:p>
            <a:pPr marL="171450" indent="-171450">
              <a:buFont typeface="Arial" panose="020B0604020202020204" pitchFamily="34" charset="0"/>
              <a:buChar char="•"/>
            </a:pPr>
            <a:r>
              <a:rPr lang="en-GB" dirty="0">
                <a:latin typeface="Aptos" panose="020B0004020202020204" pitchFamily="34" charset="0"/>
              </a:rPr>
              <a:t>The medium-complexity VI was 11% more performant when using SCR than NR. And was 32% more performant when using PCR than NR.</a:t>
            </a:r>
          </a:p>
          <a:p>
            <a:pPr marL="171450" indent="-171450">
              <a:buFont typeface="Arial" panose="020B0604020202020204" pitchFamily="34" charset="0"/>
              <a:buChar char="•"/>
            </a:pPr>
            <a:r>
              <a:rPr lang="en-GB" dirty="0">
                <a:latin typeface="Aptos" panose="020B0004020202020204" pitchFamily="34" charset="0"/>
              </a:rPr>
              <a:t>The high-complexity VI was slightly less performant (-1%) when using SCR than NR. And was 5% more performant when using PCR than NR.</a:t>
            </a:r>
          </a:p>
        </p:txBody>
      </p:sp>
      <p:sp>
        <p:nvSpPr>
          <p:cNvPr id="4" name="Slide Number Placeholder 3">
            <a:extLst>
              <a:ext uri="{FF2B5EF4-FFF2-40B4-BE49-F238E27FC236}">
                <a16:creationId xmlns:a16="http://schemas.microsoft.com/office/drawing/2014/main" id="{1840ADA2-223A-668E-5664-9555270793B0}"/>
              </a:ext>
            </a:extLst>
          </p:cNvPr>
          <p:cNvSpPr>
            <a:spLocks noGrp="1"/>
          </p:cNvSpPr>
          <p:nvPr>
            <p:ph type="sldNum" sz="quarter" idx="5"/>
          </p:nvPr>
        </p:nvSpPr>
        <p:spPr/>
        <p:txBody>
          <a:bodyPr/>
          <a:lstStyle/>
          <a:p>
            <a:fld id="{009A7612-DBC4-42FD-AF5C-03C5F90E2665}" type="slidenum">
              <a:rPr lang="en-GB" smtClean="0"/>
              <a:t>34</a:t>
            </a:fld>
            <a:endParaRPr lang="en-GB"/>
          </a:p>
        </p:txBody>
      </p:sp>
    </p:spTree>
    <p:extLst>
      <p:ext uri="{BB962C8B-B14F-4D97-AF65-F5344CB8AC3E}">
        <p14:creationId xmlns:p14="http://schemas.microsoft.com/office/powerpoint/2010/main" val="16669434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F41E0-5438-737D-64A1-367F78D461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7E673D-C552-387D-6769-605022429FF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5E4C8C3-5071-96D5-F149-FDBAC0BCDF38}"/>
              </a:ext>
            </a:extLst>
          </p:cNvPr>
          <p:cNvSpPr>
            <a:spLocks noGrp="1"/>
          </p:cNvSpPr>
          <p:nvPr>
            <p:ph type="body" idx="1"/>
          </p:nvPr>
        </p:nvSpPr>
        <p:spPr/>
        <p:txBody>
          <a:bodyPr/>
          <a:lstStyle/>
          <a:p>
            <a:r>
              <a:rPr lang="en-GB" dirty="0">
                <a:latin typeface="Aptos" panose="020B0004020202020204" pitchFamily="34" charset="0"/>
              </a:rPr>
              <a:t>Verbally explain:</a:t>
            </a:r>
          </a:p>
          <a:p>
            <a:pPr marL="171450" indent="-171450">
              <a:buFont typeface="Arial" panose="020B0604020202020204" pitchFamily="34" charset="0"/>
              <a:buChar char="•"/>
            </a:pPr>
            <a:r>
              <a:rPr lang="en-GB" dirty="0">
                <a:latin typeface="Aptos" panose="020B0004020202020204" pitchFamily="34" charset="0"/>
              </a:rPr>
              <a:t>In Experiment 3 two VI calls are chained together inside each for loop iteration.</a:t>
            </a:r>
          </a:p>
        </p:txBody>
      </p:sp>
      <p:sp>
        <p:nvSpPr>
          <p:cNvPr id="4" name="Slide Number Placeholder 3">
            <a:extLst>
              <a:ext uri="{FF2B5EF4-FFF2-40B4-BE49-F238E27FC236}">
                <a16:creationId xmlns:a16="http://schemas.microsoft.com/office/drawing/2014/main" id="{9274C561-AFD5-327F-3AEE-1EE6ED66EC56}"/>
              </a:ext>
            </a:extLst>
          </p:cNvPr>
          <p:cNvSpPr>
            <a:spLocks noGrp="1"/>
          </p:cNvSpPr>
          <p:nvPr>
            <p:ph type="sldNum" sz="quarter" idx="5"/>
          </p:nvPr>
        </p:nvSpPr>
        <p:spPr/>
        <p:txBody>
          <a:bodyPr/>
          <a:lstStyle/>
          <a:p>
            <a:fld id="{009A7612-DBC4-42FD-AF5C-03C5F90E2665}" type="slidenum">
              <a:rPr lang="en-GB" smtClean="0"/>
              <a:t>35</a:t>
            </a:fld>
            <a:endParaRPr lang="en-GB"/>
          </a:p>
        </p:txBody>
      </p:sp>
    </p:spTree>
    <p:extLst>
      <p:ext uri="{BB962C8B-B14F-4D97-AF65-F5344CB8AC3E}">
        <p14:creationId xmlns:p14="http://schemas.microsoft.com/office/powerpoint/2010/main" val="10040656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A6A1A-D2A4-9EBC-6F3B-8F3EAAF04B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E33843-A4D0-F61B-79E2-66F653E1D12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2D43227-5F6D-6F51-E1B2-84DB59232546}"/>
              </a:ext>
            </a:extLst>
          </p:cNvPr>
          <p:cNvSpPr>
            <a:spLocks noGrp="1"/>
          </p:cNvSpPr>
          <p:nvPr>
            <p:ph type="body" idx="1"/>
          </p:nvPr>
        </p:nvSpPr>
        <p:spPr/>
        <p:txBody>
          <a:bodyPr/>
          <a:lstStyle/>
          <a:p>
            <a:r>
              <a:rPr lang="en-GB" dirty="0">
                <a:latin typeface="Aptos" panose="020B0004020202020204" pitchFamily="34" charset="0"/>
              </a:rPr>
              <a:t>Verbally explain:</a:t>
            </a:r>
          </a:p>
          <a:p>
            <a:pPr marL="171450" indent="-171450">
              <a:buFont typeface="Arial" panose="020B0604020202020204" pitchFamily="34" charset="0"/>
              <a:buChar char="•"/>
            </a:pPr>
            <a:r>
              <a:rPr lang="en-GB" dirty="0">
                <a:latin typeface="Aptos" panose="020B0004020202020204" pitchFamily="34" charset="0"/>
              </a:rPr>
              <a:t>SCR + SCR chain had basically no performance difference over NR + NR chain (1%).</a:t>
            </a:r>
          </a:p>
          <a:p>
            <a:pPr marL="171450" indent="-171450">
              <a:buFont typeface="Arial" panose="020B0604020202020204" pitchFamily="34" charset="0"/>
              <a:buChar char="•"/>
            </a:pPr>
            <a:r>
              <a:rPr lang="en-GB" dirty="0">
                <a:latin typeface="Aptos" panose="020B0004020202020204" pitchFamily="34" charset="0"/>
              </a:rPr>
              <a:t>PCR + PCR chain had 32% performance improvement over NR + NR chain.</a:t>
            </a:r>
          </a:p>
        </p:txBody>
      </p:sp>
      <p:sp>
        <p:nvSpPr>
          <p:cNvPr id="4" name="Slide Number Placeholder 3">
            <a:extLst>
              <a:ext uri="{FF2B5EF4-FFF2-40B4-BE49-F238E27FC236}">
                <a16:creationId xmlns:a16="http://schemas.microsoft.com/office/drawing/2014/main" id="{61F4C007-5086-8235-B93C-9DE29A1035D2}"/>
              </a:ext>
            </a:extLst>
          </p:cNvPr>
          <p:cNvSpPr>
            <a:spLocks noGrp="1"/>
          </p:cNvSpPr>
          <p:nvPr>
            <p:ph type="sldNum" sz="quarter" idx="5"/>
          </p:nvPr>
        </p:nvSpPr>
        <p:spPr/>
        <p:txBody>
          <a:bodyPr/>
          <a:lstStyle/>
          <a:p>
            <a:fld id="{009A7612-DBC4-42FD-AF5C-03C5F90E2665}" type="slidenum">
              <a:rPr lang="en-GB" smtClean="0"/>
              <a:t>36</a:t>
            </a:fld>
            <a:endParaRPr lang="en-GB"/>
          </a:p>
        </p:txBody>
      </p:sp>
    </p:spTree>
    <p:extLst>
      <p:ext uri="{BB962C8B-B14F-4D97-AF65-F5344CB8AC3E}">
        <p14:creationId xmlns:p14="http://schemas.microsoft.com/office/powerpoint/2010/main" val="31004957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4A579-5295-22F1-F8BC-2F1C87E6DF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CAE82A-3414-742E-45E9-F2E78C0EA22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99563E2-BC48-5EE6-B58A-D50D7382A2D4}"/>
              </a:ext>
            </a:extLst>
          </p:cNvPr>
          <p:cNvSpPr>
            <a:spLocks noGrp="1"/>
          </p:cNvSpPr>
          <p:nvPr>
            <p:ph type="body" idx="1"/>
          </p:nvPr>
        </p:nvSpPr>
        <p:spPr/>
        <p:txBody>
          <a:bodyPr/>
          <a:lstStyle/>
          <a:p>
            <a:r>
              <a:rPr lang="en-GB" dirty="0">
                <a:latin typeface="Aptos" panose="020B0004020202020204" pitchFamily="34" charset="0"/>
              </a:rPr>
              <a:t>Verbally explain:</a:t>
            </a:r>
          </a:p>
          <a:p>
            <a:pPr marL="171450" indent="-171450">
              <a:buFont typeface="Arial" panose="020B0604020202020204" pitchFamily="34" charset="0"/>
              <a:buChar char="•"/>
            </a:pPr>
            <a:r>
              <a:rPr lang="en-GB" dirty="0">
                <a:latin typeface="Aptos" panose="020B0004020202020204" pitchFamily="34" charset="0"/>
              </a:rPr>
              <a:t>In Experiment 4 all three subVIs were chained together inside each for loop iteration.</a:t>
            </a:r>
          </a:p>
        </p:txBody>
      </p:sp>
      <p:sp>
        <p:nvSpPr>
          <p:cNvPr id="4" name="Slide Number Placeholder 3">
            <a:extLst>
              <a:ext uri="{FF2B5EF4-FFF2-40B4-BE49-F238E27FC236}">
                <a16:creationId xmlns:a16="http://schemas.microsoft.com/office/drawing/2014/main" id="{B1A2B60E-36BA-8FE0-22D8-5F228D6543BC}"/>
              </a:ext>
            </a:extLst>
          </p:cNvPr>
          <p:cNvSpPr>
            <a:spLocks noGrp="1"/>
          </p:cNvSpPr>
          <p:nvPr>
            <p:ph type="sldNum" sz="quarter" idx="5"/>
          </p:nvPr>
        </p:nvSpPr>
        <p:spPr/>
        <p:txBody>
          <a:bodyPr/>
          <a:lstStyle/>
          <a:p>
            <a:fld id="{009A7612-DBC4-42FD-AF5C-03C5F90E2665}" type="slidenum">
              <a:rPr lang="en-GB" smtClean="0"/>
              <a:t>37</a:t>
            </a:fld>
            <a:endParaRPr lang="en-GB"/>
          </a:p>
        </p:txBody>
      </p:sp>
    </p:spTree>
    <p:extLst>
      <p:ext uri="{BB962C8B-B14F-4D97-AF65-F5344CB8AC3E}">
        <p14:creationId xmlns:p14="http://schemas.microsoft.com/office/powerpoint/2010/main" val="24123274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3E304-EBB3-09FA-7060-D66CA31F23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706D25-8B20-94F8-8CFE-AA546C50D29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65BDDCD-5AD2-A9D9-ED53-0F49745D3E4A}"/>
              </a:ext>
            </a:extLst>
          </p:cNvPr>
          <p:cNvSpPr>
            <a:spLocks noGrp="1"/>
          </p:cNvSpPr>
          <p:nvPr>
            <p:ph type="body" idx="1"/>
          </p:nvPr>
        </p:nvSpPr>
        <p:spPr/>
        <p:txBody>
          <a:bodyPr/>
          <a:lstStyle/>
          <a:p>
            <a:r>
              <a:rPr lang="en-GB" dirty="0">
                <a:latin typeface="Aptos" panose="020B0004020202020204" pitchFamily="34" charset="0"/>
              </a:rPr>
              <a:t>Verbally explain:</a:t>
            </a:r>
          </a:p>
          <a:p>
            <a:pPr marL="171450" indent="-171450">
              <a:buFont typeface="Arial" panose="020B0604020202020204" pitchFamily="34" charset="0"/>
              <a:buChar char="•"/>
            </a:pPr>
            <a:r>
              <a:rPr lang="en-GB" dirty="0">
                <a:latin typeface="Aptos" panose="020B0004020202020204" pitchFamily="34" charset="0"/>
              </a:rPr>
              <a:t>SCR + SCR chain had basically no performance difference over NR + NR chain (-1%).</a:t>
            </a:r>
          </a:p>
          <a:p>
            <a:pPr marL="171450" indent="-171450">
              <a:buFont typeface="Arial" panose="020B0604020202020204" pitchFamily="34" charset="0"/>
              <a:buChar char="•"/>
            </a:pPr>
            <a:r>
              <a:rPr lang="en-GB" dirty="0">
                <a:latin typeface="Aptos" panose="020B0004020202020204" pitchFamily="34" charset="0"/>
              </a:rPr>
              <a:t>PCR + PCR chain had 13% performance improvement over NR + NR chain.</a:t>
            </a:r>
          </a:p>
          <a:p>
            <a:pPr marL="628650" lvl="1" indent="-171450">
              <a:buFont typeface="Arial" panose="020B0604020202020204" pitchFamily="34" charset="0"/>
              <a:buChar char="•"/>
            </a:pPr>
            <a:r>
              <a:rPr lang="en-GB" dirty="0">
                <a:latin typeface="Aptos" panose="020B0004020202020204" pitchFamily="34" charset="0"/>
              </a:rPr>
              <a:t>This is to be expected. The complex VI was added to the chain. The overhead computations are smaller </a:t>
            </a:r>
            <a:r>
              <a:rPr lang="en-GB" dirty="0" err="1">
                <a:latin typeface="Aptos" panose="020B0004020202020204" pitchFamily="34" charset="0"/>
              </a:rPr>
              <a:t>w.r.t.</a:t>
            </a:r>
            <a:r>
              <a:rPr lang="en-GB" dirty="0">
                <a:latin typeface="Aptos" panose="020B0004020202020204" pitchFamily="34" charset="0"/>
              </a:rPr>
              <a:t> the actual computations performed inside the VIs.</a:t>
            </a:r>
          </a:p>
        </p:txBody>
      </p:sp>
      <p:sp>
        <p:nvSpPr>
          <p:cNvPr id="4" name="Slide Number Placeholder 3">
            <a:extLst>
              <a:ext uri="{FF2B5EF4-FFF2-40B4-BE49-F238E27FC236}">
                <a16:creationId xmlns:a16="http://schemas.microsoft.com/office/drawing/2014/main" id="{F125EEEC-588C-41AD-3589-4DC3B7CF6B06}"/>
              </a:ext>
            </a:extLst>
          </p:cNvPr>
          <p:cNvSpPr>
            <a:spLocks noGrp="1"/>
          </p:cNvSpPr>
          <p:nvPr>
            <p:ph type="sldNum" sz="quarter" idx="5"/>
          </p:nvPr>
        </p:nvSpPr>
        <p:spPr/>
        <p:txBody>
          <a:bodyPr/>
          <a:lstStyle/>
          <a:p>
            <a:fld id="{009A7612-DBC4-42FD-AF5C-03C5F90E2665}" type="slidenum">
              <a:rPr lang="en-GB" smtClean="0"/>
              <a:t>38</a:t>
            </a:fld>
            <a:endParaRPr lang="en-GB"/>
          </a:p>
        </p:txBody>
      </p:sp>
    </p:spTree>
    <p:extLst>
      <p:ext uri="{BB962C8B-B14F-4D97-AF65-F5344CB8AC3E}">
        <p14:creationId xmlns:p14="http://schemas.microsoft.com/office/powerpoint/2010/main" val="37679623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A44E2-E15C-5CCB-E4EA-A7CB27561F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639B37-11D9-DDA6-857E-C8C59336C16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90F0487-7C3C-7E13-A47A-0AACFF45E211}"/>
              </a:ext>
            </a:extLst>
          </p:cNvPr>
          <p:cNvSpPr>
            <a:spLocks noGrp="1"/>
          </p:cNvSpPr>
          <p:nvPr>
            <p:ph type="body" idx="1"/>
          </p:nvPr>
        </p:nvSpPr>
        <p:spPr/>
        <p:txBody>
          <a:bodyPr/>
          <a:lstStyle/>
          <a:p>
            <a:r>
              <a:rPr lang="en-GB" dirty="0">
                <a:latin typeface="Aptos" panose="020B0004020202020204" pitchFamily="34" charset="0"/>
              </a:rPr>
              <a:t>Verbally explain:</a:t>
            </a:r>
          </a:p>
          <a:p>
            <a:pPr marL="171450" indent="-171450">
              <a:buFont typeface="Arial" panose="020B0604020202020204" pitchFamily="34" charset="0"/>
              <a:buChar char="•"/>
            </a:pPr>
            <a:r>
              <a:rPr lang="en-GB" dirty="0">
                <a:latin typeface="Aptos" panose="020B0004020202020204" pitchFamily="34" charset="0"/>
              </a:rPr>
              <a:t>In Experiment 5 we repeated the chain of three subVIs 5 times. Each loop iteration contained 15 subVI calls (3 x 5).</a:t>
            </a:r>
          </a:p>
        </p:txBody>
      </p:sp>
      <p:sp>
        <p:nvSpPr>
          <p:cNvPr id="4" name="Slide Number Placeholder 3">
            <a:extLst>
              <a:ext uri="{FF2B5EF4-FFF2-40B4-BE49-F238E27FC236}">
                <a16:creationId xmlns:a16="http://schemas.microsoft.com/office/drawing/2014/main" id="{ABC5D139-4335-3839-BE6E-FA66A9E913B9}"/>
              </a:ext>
            </a:extLst>
          </p:cNvPr>
          <p:cNvSpPr>
            <a:spLocks noGrp="1"/>
          </p:cNvSpPr>
          <p:nvPr>
            <p:ph type="sldNum" sz="quarter" idx="5"/>
          </p:nvPr>
        </p:nvSpPr>
        <p:spPr/>
        <p:txBody>
          <a:bodyPr/>
          <a:lstStyle/>
          <a:p>
            <a:fld id="{009A7612-DBC4-42FD-AF5C-03C5F90E2665}" type="slidenum">
              <a:rPr lang="en-GB" smtClean="0"/>
              <a:t>39</a:t>
            </a:fld>
            <a:endParaRPr lang="en-GB"/>
          </a:p>
        </p:txBody>
      </p:sp>
    </p:spTree>
    <p:extLst>
      <p:ext uri="{BB962C8B-B14F-4D97-AF65-F5344CB8AC3E}">
        <p14:creationId xmlns:p14="http://schemas.microsoft.com/office/powerpoint/2010/main" val="35202112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D3336-269E-4FFB-54C3-10C0872366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B1E094-B7B6-DEF1-FB41-9518839C72F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609C3B7-AE4B-A07A-0FB8-A923F7CFDBC4}"/>
              </a:ext>
            </a:extLst>
          </p:cNvPr>
          <p:cNvSpPr>
            <a:spLocks noGrp="1"/>
          </p:cNvSpPr>
          <p:nvPr>
            <p:ph type="body" idx="1"/>
          </p:nvPr>
        </p:nvSpPr>
        <p:spPr/>
        <p:txBody>
          <a:bodyPr/>
          <a:lstStyle/>
          <a:p>
            <a:r>
              <a:rPr lang="en-GB" dirty="0">
                <a:latin typeface="Aptos" panose="020B0004020202020204" pitchFamily="34" charset="0"/>
              </a:rPr>
              <a:t>Verbally explain:</a:t>
            </a:r>
          </a:p>
          <a:p>
            <a:pPr marL="171450" indent="-171450">
              <a:buFont typeface="Arial" panose="020B0604020202020204" pitchFamily="34" charset="0"/>
              <a:buChar char="•"/>
            </a:pPr>
            <a:r>
              <a:rPr lang="en-GB" dirty="0">
                <a:latin typeface="Aptos" panose="020B0004020202020204" pitchFamily="34" charset="0"/>
              </a:rPr>
              <a:t>This experiment tested only a chain of NR VI calls vs. chain of PCR calls. SCR calls were not tested in this experiment.</a:t>
            </a:r>
          </a:p>
          <a:p>
            <a:pPr marL="171450" indent="-171450">
              <a:buFont typeface="Arial" panose="020B0604020202020204" pitchFamily="34" charset="0"/>
              <a:buChar char="•"/>
            </a:pPr>
            <a:r>
              <a:rPr lang="en-GB" dirty="0">
                <a:latin typeface="Aptos" panose="020B0004020202020204" pitchFamily="34" charset="0"/>
              </a:rPr>
              <a:t>Chain of 15 PCR VI calls had 12% performance improvement over chain of 15 NR calls.</a:t>
            </a:r>
          </a:p>
          <a:p>
            <a:pPr marL="628650" lvl="1" indent="-171450">
              <a:buFont typeface="Arial" panose="020B0604020202020204" pitchFamily="34" charset="0"/>
              <a:buChar char="•"/>
            </a:pPr>
            <a:r>
              <a:rPr lang="en-GB" dirty="0">
                <a:latin typeface="Aptos" panose="020B0004020202020204" pitchFamily="34" charset="0"/>
              </a:rPr>
              <a:t>Very similar result to that of Experiment 4. This is as expected.</a:t>
            </a:r>
          </a:p>
        </p:txBody>
      </p:sp>
      <p:sp>
        <p:nvSpPr>
          <p:cNvPr id="4" name="Slide Number Placeholder 3">
            <a:extLst>
              <a:ext uri="{FF2B5EF4-FFF2-40B4-BE49-F238E27FC236}">
                <a16:creationId xmlns:a16="http://schemas.microsoft.com/office/drawing/2014/main" id="{763A5541-115C-2520-9AC1-4FD7652360B3}"/>
              </a:ext>
            </a:extLst>
          </p:cNvPr>
          <p:cNvSpPr>
            <a:spLocks noGrp="1"/>
          </p:cNvSpPr>
          <p:nvPr>
            <p:ph type="sldNum" sz="quarter" idx="5"/>
          </p:nvPr>
        </p:nvSpPr>
        <p:spPr/>
        <p:txBody>
          <a:bodyPr/>
          <a:lstStyle/>
          <a:p>
            <a:fld id="{009A7612-DBC4-42FD-AF5C-03C5F90E2665}" type="slidenum">
              <a:rPr lang="en-GB" smtClean="0"/>
              <a:t>40</a:t>
            </a:fld>
            <a:endParaRPr lang="en-GB"/>
          </a:p>
        </p:txBody>
      </p:sp>
    </p:spTree>
    <p:extLst>
      <p:ext uri="{BB962C8B-B14F-4D97-AF65-F5344CB8AC3E}">
        <p14:creationId xmlns:p14="http://schemas.microsoft.com/office/powerpoint/2010/main" val="30230515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ECF8E-1EEC-675B-E603-AF344E14BD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619978-2F6C-F181-03C6-86B14B9D45C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30B0CCE-2851-D39B-27A6-E3694DDD5427}"/>
              </a:ext>
            </a:extLst>
          </p:cNvPr>
          <p:cNvSpPr>
            <a:spLocks noGrp="1"/>
          </p:cNvSpPr>
          <p:nvPr>
            <p:ph type="body" idx="1"/>
          </p:nvPr>
        </p:nvSpPr>
        <p:spPr/>
        <p:txBody>
          <a:bodyPr/>
          <a:lstStyle/>
          <a:p>
            <a:r>
              <a:rPr lang="en-GB" dirty="0">
                <a:latin typeface="Aptos" panose="020B0004020202020204" pitchFamily="34" charset="0"/>
              </a:rPr>
              <a:t>Verbally explain:</a:t>
            </a:r>
          </a:p>
          <a:p>
            <a:pPr marL="171450" indent="-171450">
              <a:buFont typeface="Arial" panose="020B0604020202020204" pitchFamily="34" charset="0"/>
              <a:buChar char="•"/>
            </a:pPr>
            <a:r>
              <a:rPr lang="en-GB" dirty="0">
                <a:latin typeface="Aptos" panose="020B0004020202020204" pitchFamily="34" charset="0"/>
              </a:rPr>
              <a:t>We are skipping Experiment 6 for now, jumping to Experiment 7.</a:t>
            </a:r>
          </a:p>
          <a:p>
            <a:pPr marL="171450" indent="-171450">
              <a:buFont typeface="Arial" panose="020B0604020202020204" pitchFamily="34" charset="0"/>
              <a:buChar char="•"/>
            </a:pPr>
            <a:r>
              <a:rPr lang="en-GB" dirty="0">
                <a:latin typeface="Aptos" panose="020B0004020202020204" pitchFamily="34" charset="0"/>
              </a:rPr>
              <a:t>This experiment is the first one to test performance of parallel loops.</a:t>
            </a:r>
          </a:p>
          <a:p>
            <a:pPr marL="171450" indent="-171450">
              <a:buFont typeface="Arial" panose="020B0604020202020204" pitchFamily="34" charset="0"/>
              <a:buChar char="•"/>
            </a:pPr>
            <a:r>
              <a:rPr lang="en-GB" dirty="0">
                <a:latin typeface="Aptos" panose="020B0004020202020204" pitchFamily="34" charset="0"/>
              </a:rPr>
              <a:t>Each loop contains a chain of three VIs: either all set to NR, all set to SCR, or all set to PCR</a:t>
            </a:r>
          </a:p>
          <a:p>
            <a:pPr marL="171450" indent="-171450">
              <a:buFont typeface="Arial" panose="020B0604020202020204" pitchFamily="34" charset="0"/>
              <a:buChar char="•"/>
            </a:pPr>
            <a:r>
              <a:rPr lang="en-GB" dirty="0">
                <a:latin typeface="Aptos" panose="020B0004020202020204" pitchFamily="34" charset="0"/>
              </a:rPr>
              <a:t>Loops 2, 3, and 4 are placed inside Diagram Disable Structures. This enabled running the experiment with 1 loop, 2 parallel loops, and all 4 parallel loops, and compare results.</a:t>
            </a:r>
          </a:p>
        </p:txBody>
      </p:sp>
      <p:sp>
        <p:nvSpPr>
          <p:cNvPr id="4" name="Slide Number Placeholder 3">
            <a:extLst>
              <a:ext uri="{FF2B5EF4-FFF2-40B4-BE49-F238E27FC236}">
                <a16:creationId xmlns:a16="http://schemas.microsoft.com/office/drawing/2014/main" id="{B11B6004-B3CE-871C-EA64-8F4ECA435933}"/>
              </a:ext>
            </a:extLst>
          </p:cNvPr>
          <p:cNvSpPr>
            <a:spLocks noGrp="1"/>
          </p:cNvSpPr>
          <p:nvPr>
            <p:ph type="sldNum" sz="quarter" idx="5"/>
          </p:nvPr>
        </p:nvSpPr>
        <p:spPr/>
        <p:txBody>
          <a:bodyPr/>
          <a:lstStyle/>
          <a:p>
            <a:fld id="{009A7612-DBC4-42FD-AF5C-03C5F90E2665}" type="slidenum">
              <a:rPr lang="en-GB" smtClean="0"/>
              <a:t>41</a:t>
            </a:fld>
            <a:endParaRPr lang="en-GB"/>
          </a:p>
        </p:txBody>
      </p:sp>
    </p:spTree>
    <p:extLst>
      <p:ext uri="{BB962C8B-B14F-4D97-AF65-F5344CB8AC3E}">
        <p14:creationId xmlns:p14="http://schemas.microsoft.com/office/powerpoint/2010/main" val="37926636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36DC3-BD4A-9DC4-486D-A0C9E73D91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2DDECE-541F-6A8F-5E5D-1F2D598FD26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BA0162A-622B-01BF-03D7-66B9DD82F333}"/>
              </a:ext>
            </a:extLst>
          </p:cNvPr>
          <p:cNvSpPr>
            <a:spLocks noGrp="1"/>
          </p:cNvSpPr>
          <p:nvPr>
            <p:ph type="body" idx="1"/>
          </p:nvPr>
        </p:nvSpPr>
        <p:spPr/>
        <p:txBody>
          <a:bodyPr/>
          <a:lstStyle/>
          <a:p>
            <a:r>
              <a:rPr lang="en-GB" dirty="0">
                <a:latin typeface="Aptos" panose="020B0004020202020204" pitchFamily="34" charset="0"/>
              </a:rPr>
              <a:t>Verbally explain:</a:t>
            </a:r>
          </a:p>
          <a:p>
            <a:pPr marL="171450" indent="-171450">
              <a:buFont typeface="Arial" panose="020B0604020202020204" pitchFamily="34" charset="0"/>
              <a:buChar char="•"/>
            </a:pPr>
            <a:r>
              <a:rPr lang="en-GB" dirty="0">
                <a:latin typeface="Aptos" panose="020B0004020202020204" pitchFamily="34" charset="0"/>
              </a:rPr>
              <a:t>This experiment shows that:</a:t>
            </a:r>
          </a:p>
          <a:p>
            <a:pPr marL="628650" lvl="1" indent="-171450">
              <a:buFont typeface="Arial" panose="020B0604020202020204" pitchFamily="34" charset="0"/>
              <a:buChar char="•"/>
            </a:pPr>
            <a:r>
              <a:rPr lang="en-GB" dirty="0">
                <a:latin typeface="Aptos" panose="020B0004020202020204" pitchFamily="34" charset="0"/>
              </a:rPr>
              <a:t>The performance of NR VIs goes down dramatically from 1 to 2 to 4 parallel loops. This is because more and more collisions start occurring. The collision overhead is starting to show.</a:t>
            </a:r>
          </a:p>
          <a:p>
            <a:pPr marL="628650" lvl="1" indent="-171450">
              <a:buFont typeface="Arial" panose="020B0604020202020204" pitchFamily="34" charset="0"/>
              <a:buChar char="•"/>
            </a:pPr>
            <a:r>
              <a:rPr lang="en-GB" dirty="0">
                <a:latin typeface="Aptos" panose="020B0004020202020204" pitchFamily="34" charset="0"/>
              </a:rPr>
              <a:t>The performance of SCR VIs is much better than NR VIs.</a:t>
            </a:r>
          </a:p>
          <a:p>
            <a:pPr marL="628650" lvl="1" indent="-171450">
              <a:buFont typeface="Arial" panose="020B0604020202020204" pitchFamily="34" charset="0"/>
              <a:buChar char="•"/>
            </a:pPr>
            <a:r>
              <a:rPr lang="en-GB" dirty="0">
                <a:latin typeface="Aptos" panose="020B0004020202020204" pitchFamily="34" charset="0"/>
              </a:rPr>
              <a:t>The performance of PCR VIs is much better still than SCR VIs.</a:t>
            </a:r>
          </a:p>
          <a:p>
            <a:pPr marL="628650" lvl="1" indent="-171450">
              <a:buFont typeface="Arial" panose="020B0604020202020204" pitchFamily="34" charset="0"/>
              <a:buChar char="•"/>
            </a:pPr>
            <a:r>
              <a:rPr lang="en-GB" dirty="0">
                <a:latin typeface="Aptos" panose="020B0004020202020204" pitchFamily="34" charset="0"/>
              </a:rPr>
              <a:t>The maximum number of iterations that each loop achieves slightly decreases when more and more parallel loops are added. This is as expected.</a:t>
            </a:r>
          </a:p>
        </p:txBody>
      </p:sp>
      <p:sp>
        <p:nvSpPr>
          <p:cNvPr id="4" name="Slide Number Placeholder 3">
            <a:extLst>
              <a:ext uri="{FF2B5EF4-FFF2-40B4-BE49-F238E27FC236}">
                <a16:creationId xmlns:a16="http://schemas.microsoft.com/office/drawing/2014/main" id="{69810B28-A943-878C-89EA-D7463C0843CB}"/>
              </a:ext>
            </a:extLst>
          </p:cNvPr>
          <p:cNvSpPr>
            <a:spLocks noGrp="1"/>
          </p:cNvSpPr>
          <p:nvPr>
            <p:ph type="sldNum" sz="quarter" idx="5"/>
          </p:nvPr>
        </p:nvSpPr>
        <p:spPr/>
        <p:txBody>
          <a:bodyPr/>
          <a:lstStyle/>
          <a:p>
            <a:fld id="{009A7612-DBC4-42FD-AF5C-03C5F90E2665}" type="slidenum">
              <a:rPr lang="en-GB" smtClean="0"/>
              <a:t>42</a:t>
            </a:fld>
            <a:endParaRPr lang="en-GB"/>
          </a:p>
        </p:txBody>
      </p:sp>
    </p:spTree>
    <p:extLst>
      <p:ext uri="{BB962C8B-B14F-4D97-AF65-F5344CB8AC3E}">
        <p14:creationId xmlns:p14="http://schemas.microsoft.com/office/powerpoint/2010/main" val="8682915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21CC0-22D8-D646-A85A-121C1F41CE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E2FDE-D5D2-7F94-0B43-C3D3D3FA2CA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2A82D6E-78F6-0697-9BF4-A573E829F306}"/>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31789345-F16A-0B89-81AF-3A3241EBD32A}"/>
              </a:ext>
            </a:extLst>
          </p:cNvPr>
          <p:cNvSpPr>
            <a:spLocks noGrp="1"/>
          </p:cNvSpPr>
          <p:nvPr>
            <p:ph type="sldNum" sz="quarter" idx="5"/>
          </p:nvPr>
        </p:nvSpPr>
        <p:spPr/>
        <p:txBody>
          <a:bodyPr/>
          <a:lstStyle/>
          <a:p>
            <a:fld id="{009A7612-DBC4-42FD-AF5C-03C5F90E2665}" type="slidenum">
              <a:rPr lang="en-GB" smtClean="0"/>
              <a:t>43</a:t>
            </a:fld>
            <a:endParaRPr lang="en-GB"/>
          </a:p>
        </p:txBody>
      </p:sp>
    </p:spTree>
    <p:extLst>
      <p:ext uri="{BB962C8B-B14F-4D97-AF65-F5344CB8AC3E}">
        <p14:creationId xmlns:p14="http://schemas.microsoft.com/office/powerpoint/2010/main" val="4615379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D07F3-B427-3026-4196-4E64B466A3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E8C95B-A4BD-940C-EC65-6FEC989DA7B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8429150-A416-79A6-F9AC-21D1C7DD65C2}"/>
              </a:ext>
            </a:extLst>
          </p:cNvPr>
          <p:cNvSpPr>
            <a:spLocks noGrp="1"/>
          </p:cNvSpPr>
          <p:nvPr>
            <p:ph type="body" idx="1"/>
          </p:nvPr>
        </p:nvSpPr>
        <p:spPr/>
        <p:txBody>
          <a:bodyPr/>
          <a:lstStyle/>
          <a:p>
            <a:r>
              <a:rPr lang="en-GB" dirty="0">
                <a:latin typeface="Aptos" panose="020B0004020202020204" pitchFamily="34" charset="0"/>
              </a:rPr>
              <a:t>In the past couple of years, when I mentioned my preference towards PCR to colleagues, I got a few common concerns or objections.</a:t>
            </a:r>
          </a:p>
        </p:txBody>
      </p:sp>
      <p:sp>
        <p:nvSpPr>
          <p:cNvPr id="4" name="Slide Number Placeholder 3">
            <a:extLst>
              <a:ext uri="{FF2B5EF4-FFF2-40B4-BE49-F238E27FC236}">
                <a16:creationId xmlns:a16="http://schemas.microsoft.com/office/drawing/2014/main" id="{EC748443-B450-0442-3B3E-31A3C9553EC8}"/>
              </a:ext>
            </a:extLst>
          </p:cNvPr>
          <p:cNvSpPr>
            <a:spLocks noGrp="1"/>
          </p:cNvSpPr>
          <p:nvPr>
            <p:ph type="sldNum" sz="quarter" idx="5"/>
          </p:nvPr>
        </p:nvSpPr>
        <p:spPr/>
        <p:txBody>
          <a:bodyPr/>
          <a:lstStyle/>
          <a:p>
            <a:fld id="{009A7612-DBC4-42FD-AF5C-03C5F90E2665}" type="slidenum">
              <a:rPr lang="en-GB" smtClean="0"/>
              <a:t>44</a:t>
            </a:fld>
            <a:endParaRPr lang="en-GB"/>
          </a:p>
        </p:txBody>
      </p:sp>
    </p:spTree>
    <p:extLst>
      <p:ext uri="{BB962C8B-B14F-4D97-AF65-F5344CB8AC3E}">
        <p14:creationId xmlns:p14="http://schemas.microsoft.com/office/powerpoint/2010/main" val="27634690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2256D-06EB-5176-2C43-9E3371BB9F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0D1DB2-4167-FD4F-0E2C-42BB270C17C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0681148-C417-4181-6F82-8FB07C847216}"/>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AFDE72C0-682E-1F84-5B2B-5DD9CEA6E900}"/>
              </a:ext>
            </a:extLst>
          </p:cNvPr>
          <p:cNvSpPr>
            <a:spLocks noGrp="1"/>
          </p:cNvSpPr>
          <p:nvPr>
            <p:ph type="sldNum" sz="quarter" idx="5"/>
          </p:nvPr>
        </p:nvSpPr>
        <p:spPr/>
        <p:txBody>
          <a:bodyPr/>
          <a:lstStyle/>
          <a:p>
            <a:fld id="{009A7612-DBC4-42FD-AF5C-03C5F90E2665}" type="slidenum">
              <a:rPr lang="en-GB" smtClean="0"/>
              <a:t>45</a:t>
            </a:fld>
            <a:endParaRPr lang="en-GB"/>
          </a:p>
        </p:txBody>
      </p:sp>
    </p:spTree>
    <p:extLst>
      <p:ext uri="{BB962C8B-B14F-4D97-AF65-F5344CB8AC3E}">
        <p14:creationId xmlns:p14="http://schemas.microsoft.com/office/powerpoint/2010/main" val="16716351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782E1-1300-69E9-51F3-098FDAE767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C04DB-B863-8BA9-254A-80571D36235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E205939-473C-91A2-A69F-5A002673186C}"/>
              </a:ext>
            </a:extLst>
          </p:cNvPr>
          <p:cNvSpPr>
            <a:spLocks noGrp="1"/>
          </p:cNvSpPr>
          <p:nvPr>
            <p:ph type="body" idx="1"/>
          </p:nvPr>
        </p:nvSpPr>
        <p:spPr/>
        <p:txBody>
          <a:bodyPr/>
          <a:lstStyle/>
          <a:p>
            <a:r>
              <a:rPr lang="en-GB" dirty="0">
                <a:latin typeface="Aptos" panose="020B0004020202020204" pitchFamily="34" charset="0"/>
              </a:rPr>
              <a:t>This is a very small subset of the native VIs that are correctly set to PCR. There are many more native VIs correctly set to PCR.</a:t>
            </a:r>
          </a:p>
        </p:txBody>
      </p:sp>
      <p:sp>
        <p:nvSpPr>
          <p:cNvPr id="4" name="Slide Number Placeholder 3">
            <a:extLst>
              <a:ext uri="{FF2B5EF4-FFF2-40B4-BE49-F238E27FC236}">
                <a16:creationId xmlns:a16="http://schemas.microsoft.com/office/drawing/2014/main" id="{E48D56F8-90C9-0C33-CC9B-7F6E8D1262E5}"/>
              </a:ext>
            </a:extLst>
          </p:cNvPr>
          <p:cNvSpPr>
            <a:spLocks noGrp="1"/>
          </p:cNvSpPr>
          <p:nvPr>
            <p:ph type="sldNum" sz="quarter" idx="5"/>
          </p:nvPr>
        </p:nvSpPr>
        <p:spPr/>
        <p:txBody>
          <a:bodyPr/>
          <a:lstStyle/>
          <a:p>
            <a:fld id="{009A7612-DBC4-42FD-AF5C-03C5F90E2665}" type="slidenum">
              <a:rPr lang="en-GB" smtClean="0"/>
              <a:t>46</a:t>
            </a:fld>
            <a:endParaRPr lang="en-GB"/>
          </a:p>
        </p:txBody>
      </p:sp>
    </p:spTree>
    <p:extLst>
      <p:ext uri="{BB962C8B-B14F-4D97-AF65-F5344CB8AC3E}">
        <p14:creationId xmlns:p14="http://schemas.microsoft.com/office/powerpoint/2010/main" val="17355492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27698-6419-C8FA-E10F-573B6C66BC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26035C-9D27-5A71-9FA6-13F5A5D1AC5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7C89932-BBAF-4773-31B5-5F389FCEED4B}"/>
              </a:ext>
            </a:extLst>
          </p:cNvPr>
          <p:cNvSpPr>
            <a:spLocks noGrp="1"/>
          </p:cNvSpPr>
          <p:nvPr>
            <p:ph type="body" idx="1"/>
          </p:nvPr>
        </p:nvSpPr>
        <p:spPr/>
        <p:txBody>
          <a:bodyPr/>
          <a:lstStyle/>
          <a:p>
            <a:r>
              <a:rPr lang="en-GB" dirty="0">
                <a:latin typeface="Aptos" panose="020B0004020202020204" pitchFamily="34" charset="0"/>
              </a:rPr>
              <a:t>This is a subset of the popular OpenG VIs that are correctly set to PCR.</a:t>
            </a:r>
          </a:p>
        </p:txBody>
      </p:sp>
      <p:sp>
        <p:nvSpPr>
          <p:cNvPr id="4" name="Slide Number Placeholder 3">
            <a:extLst>
              <a:ext uri="{FF2B5EF4-FFF2-40B4-BE49-F238E27FC236}">
                <a16:creationId xmlns:a16="http://schemas.microsoft.com/office/drawing/2014/main" id="{5813D361-9201-2C4E-19DF-FF5935413431}"/>
              </a:ext>
            </a:extLst>
          </p:cNvPr>
          <p:cNvSpPr>
            <a:spLocks noGrp="1"/>
          </p:cNvSpPr>
          <p:nvPr>
            <p:ph type="sldNum" sz="quarter" idx="5"/>
          </p:nvPr>
        </p:nvSpPr>
        <p:spPr/>
        <p:txBody>
          <a:bodyPr/>
          <a:lstStyle/>
          <a:p>
            <a:fld id="{009A7612-DBC4-42FD-AF5C-03C5F90E2665}" type="slidenum">
              <a:rPr lang="en-GB" smtClean="0"/>
              <a:t>47</a:t>
            </a:fld>
            <a:endParaRPr lang="en-GB"/>
          </a:p>
        </p:txBody>
      </p:sp>
    </p:spTree>
    <p:extLst>
      <p:ext uri="{BB962C8B-B14F-4D97-AF65-F5344CB8AC3E}">
        <p14:creationId xmlns:p14="http://schemas.microsoft.com/office/powerpoint/2010/main" val="296943296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03946-6A75-7A18-868E-3984B63BF4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89F296-3746-50AC-34E3-53521F48649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91E2382-DA25-A88D-B4E9-2790FE3B5F49}"/>
              </a:ext>
            </a:extLst>
          </p:cNvPr>
          <p:cNvSpPr>
            <a:spLocks noGrp="1"/>
          </p:cNvSpPr>
          <p:nvPr>
            <p:ph type="body" idx="1"/>
          </p:nvPr>
        </p:nvSpPr>
        <p:spPr/>
        <p:txBody>
          <a:bodyPr/>
          <a:lstStyle/>
          <a:p>
            <a:r>
              <a:rPr lang="en-GB" dirty="0">
                <a:latin typeface="Aptos" panose="020B0004020202020204" pitchFamily="34" charset="0"/>
              </a:rPr>
              <a:t>The fact that these native VIs are non-</a:t>
            </a:r>
            <a:r>
              <a:rPr lang="en-GB" dirty="0" err="1">
                <a:latin typeface="Aptos" panose="020B0004020202020204" pitchFamily="34" charset="0"/>
              </a:rPr>
              <a:t>reentrant</a:t>
            </a:r>
            <a:r>
              <a:rPr lang="en-GB" dirty="0">
                <a:latin typeface="Aptos" panose="020B0004020202020204" pitchFamily="34" charset="0"/>
              </a:rPr>
              <a:t> means that:</a:t>
            </a:r>
            <a:br>
              <a:rPr lang="en-GB" dirty="0">
                <a:latin typeface="Aptos" panose="020B0004020202020204" pitchFamily="34" charset="0"/>
              </a:rPr>
            </a:br>
            <a:r>
              <a:rPr lang="en-GB" dirty="0">
                <a:latin typeface="Aptos" panose="020B0004020202020204" pitchFamily="34" charset="0"/>
              </a:rPr>
              <a:t>1. </a:t>
            </a:r>
            <a:r>
              <a:rPr lang="en-GB" dirty="0" err="1">
                <a:latin typeface="Aptos" panose="020B0004020202020204" pitchFamily="34" charset="0"/>
              </a:rPr>
              <a:t>Unnecesary</a:t>
            </a:r>
            <a:r>
              <a:rPr lang="en-GB" dirty="0">
                <a:latin typeface="Aptos" panose="020B0004020202020204" pitchFamily="34" charset="0"/>
              </a:rPr>
              <a:t> overhead is being spent by our LabVIEW apps on co-ordinating the sequential execution of these small VIs.</a:t>
            </a:r>
          </a:p>
          <a:p>
            <a:r>
              <a:rPr lang="en-GB" dirty="0">
                <a:latin typeface="Aptos" panose="020B0004020202020204" pitchFamily="34" charset="0"/>
              </a:rPr>
              <a:t>2. Tight-loop, parallel execution of VIs that use any of these VIs as subVIs is severely limited.</a:t>
            </a:r>
          </a:p>
        </p:txBody>
      </p:sp>
      <p:sp>
        <p:nvSpPr>
          <p:cNvPr id="4" name="Slide Number Placeholder 3">
            <a:extLst>
              <a:ext uri="{FF2B5EF4-FFF2-40B4-BE49-F238E27FC236}">
                <a16:creationId xmlns:a16="http://schemas.microsoft.com/office/drawing/2014/main" id="{FEB45DCB-2717-4E10-B13C-CC8673FFB702}"/>
              </a:ext>
            </a:extLst>
          </p:cNvPr>
          <p:cNvSpPr>
            <a:spLocks noGrp="1"/>
          </p:cNvSpPr>
          <p:nvPr>
            <p:ph type="sldNum" sz="quarter" idx="5"/>
          </p:nvPr>
        </p:nvSpPr>
        <p:spPr/>
        <p:txBody>
          <a:bodyPr/>
          <a:lstStyle/>
          <a:p>
            <a:fld id="{009A7612-DBC4-42FD-AF5C-03C5F90E2665}" type="slidenum">
              <a:rPr lang="en-GB" smtClean="0"/>
              <a:t>48</a:t>
            </a:fld>
            <a:endParaRPr lang="en-GB"/>
          </a:p>
        </p:txBody>
      </p:sp>
    </p:spTree>
    <p:extLst>
      <p:ext uri="{BB962C8B-B14F-4D97-AF65-F5344CB8AC3E}">
        <p14:creationId xmlns:p14="http://schemas.microsoft.com/office/powerpoint/2010/main" val="45209628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E8133-0B26-A57D-EEB0-6AEC5B035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E451BF-843A-B5B5-40AE-DDC7D647329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C4E15DB-F3F4-9236-F792-EA915FD73CD8}"/>
              </a:ext>
            </a:extLst>
          </p:cNvPr>
          <p:cNvSpPr>
            <a:spLocks noGrp="1"/>
          </p:cNvSpPr>
          <p:nvPr>
            <p:ph type="body" idx="1"/>
          </p:nvPr>
        </p:nvSpPr>
        <p:spPr/>
        <p:txBody>
          <a:bodyPr/>
          <a:lstStyle/>
          <a:p>
            <a:r>
              <a:rPr lang="en-GB" dirty="0">
                <a:latin typeface="Aptos" panose="020B0004020202020204" pitchFamily="34" charset="0"/>
              </a:rPr>
              <a:t>These are VIs that exist in the </a:t>
            </a:r>
            <a:r>
              <a:rPr lang="en-GB" dirty="0" err="1">
                <a:latin typeface="Aptos" panose="020B0004020202020204" pitchFamily="34" charset="0"/>
              </a:rPr>
              <a:t>AppBuilder</a:t>
            </a:r>
            <a:r>
              <a:rPr lang="en-GB" dirty="0">
                <a:latin typeface="Aptos" panose="020B0004020202020204" pitchFamily="34" charset="0"/>
              </a:rPr>
              <a:t> folder. Setting these VIs to PCR would improve the performance of creating/editing build specs and building EXEs.</a:t>
            </a:r>
          </a:p>
        </p:txBody>
      </p:sp>
      <p:sp>
        <p:nvSpPr>
          <p:cNvPr id="4" name="Slide Number Placeholder 3">
            <a:extLst>
              <a:ext uri="{FF2B5EF4-FFF2-40B4-BE49-F238E27FC236}">
                <a16:creationId xmlns:a16="http://schemas.microsoft.com/office/drawing/2014/main" id="{9E6ED2E9-A486-7A1A-7F5E-B6924DEE38EB}"/>
              </a:ext>
            </a:extLst>
          </p:cNvPr>
          <p:cNvSpPr>
            <a:spLocks noGrp="1"/>
          </p:cNvSpPr>
          <p:nvPr>
            <p:ph type="sldNum" sz="quarter" idx="5"/>
          </p:nvPr>
        </p:nvSpPr>
        <p:spPr/>
        <p:txBody>
          <a:bodyPr/>
          <a:lstStyle/>
          <a:p>
            <a:fld id="{009A7612-DBC4-42FD-AF5C-03C5F90E2665}" type="slidenum">
              <a:rPr lang="en-GB" smtClean="0"/>
              <a:t>49</a:t>
            </a:fld>
            <a:endParaRPr lang="en-GB"/>
          </a:p>
        </p:txBody>
      </p:sp>
    </p:spTree>
    <p:extLst>
      <p:ext uri="{BB962C8B-B14F-4D97-AF65-F5344CB8AC3E}">
        <p14:creationId xmlns:p14="http://schemas.microsoft.com/office/powerpoint/2010/main" val="16923152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E50ED-7B36-AE55-8CCA-062EB4D37A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3EB2C9-16E3-DC6F-0926-80966FBFCB1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9C7BDA7-EFFF-B610-B6D7-F364C5E81F03}"/>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58466E0E-768D-54DF-4CD3-A7FEFB77B4BA}"/>
              </a:ext>
            </a:extLst>
          </p:cNvPr>
          <p:cNvSpPr>
            <a:spLocks noGrp="1"/>
          </p:cNvSpPr>
          <p:nvPr>
            <p:ph type="sldNum" sz="quarter" idx="5"/>
          </p:nvPr>
        </p:nvSpPr>
        <p:spPr/>
        <p:txBody>
          <a:bodyPr/>
          <a:lstStyle/>
          <a:p>
            <a:fld id="{009A7612-DBC4-42FD-AF5C-03C5F90E2665}" type="slidenum">
              <a:rPr lang="en-GB" smtClean="0"/>
              <a:t>50</a:t>
            </a:fld>
            <a:endParaRPr lang="en-GB"/>
          </a:p>
        </p:txBody>
      </p:sp>
    </p:spTree>
    <p:extLst>
      <p:ext uri="{BB962C8B-B14F-4D97-AF65-F5344CB8AC3E}">
        <p14:creationId xmlns:p14="http://schemas.microsoft.com/office/powerpoint/2010/main" val="140527630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BE16C-DEC4-BFEC-9DF9-CAFC3B9486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44746F-0DD1-5F00-2ED6-660D19353A1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D651EE2-24EC-525D-5EC6-E43485E055ED}"/>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C5F2C561-600E-FE00-775B-A32D3613ED9F}"/>
              </a:ext>
            </a:extLst>
          </p:cNvPr>
          <p:cNvSpPr>
            <a:spLocks noGrp="1"/>
          </p:cNvSpPr>
          <p:nvPr>
            <p:ph type="sldNum" sz="quarter" idx="5"/>
          </p:nvPr>
        </p:nvSpPr>
        <p:spPr/>
        <p:txBody>
          <a:bodyPr/>
          <a:lstStyle/>
          <a:p>
            <a:fld id="{009A7612-DBC4-42FD-AF5C-03C5F90E2665}" type="slidenum">
              <a:rPr lang="en-GB" smtClean="0"/>
              <a:t>51</a:t>
            </a:fld>
            <a:endParaRPr lang="en-GB"/>
          </a:p>
        </p:txBody>
      </p:sp>
    </p:spTree>
    <p:extLst>
      <p:ext uri="{BB962C8B-B14F-4D97-AF65-F5344CB8AC3E}">
        <p14:creationId xmlns:p14="http://schemas.microsoft.com/office/powerpoint/2010/main" val="333047612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3CF3D-CB26-148D-6ED0-CF605F3118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1DE12-D16B-7D8A-71C4-D6F4922A9C4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2E4BFB3-0F47-3B4F-5604-59271E8FBE50}"/>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57E04829-F644-6240-F449-AB48B42EDF7F}"/>
              </a:ext>
            </a:extLst>
          </p:cNvPr>
          <p:cNvSpPr>
            <a:spLocks noGrp="1"/>
          </p:cNvSpPr>
          <p:nvPr>
            <p:ph type="sldNum" sz="quarter" idx="5"/>
          </p:nvPr>
        </p:nvSpPr>
        <p:spPr/>
        <p:txBody>
          <a:bodyPr/>
          <a:lstStyle/>
          <a:p>
            <a:fld id="{009A7612-DBC4-42FD-AF5C-03C5F90E2665}" type="slidenum">
              <a:rPr lang="en-GB" smtClean="0"/>
              <a:t>52</a:t>
            </a:fld>
            <a:endParaRPr lang="en-GB"/>
          </a:p>
        </p:txBody>
      </p:sp>
    </p:spTree>
    <p:extLst>
      <p:ext uri="{BB962C8B-B14F-4D97-AF65-F5344CB8AC3E}">
        <p14:creationId xmlns:p14="http://schemas.microsoft.com/office/powerpoint/2010/main" val="11075918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F0580-8EDF-05E4-2196-6B4944EC0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A32871-A581-0B6F-7B9B-0008BE91934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6ED9068-A738-9C2A-3F1A-B4AED06AFE5E}"/>
              </a:ext>
            </a:extLst>
          </p:cNvPr>
          <p:cNvSpPr>
            <a:spLocks noGrp="1"/>
          </p:cNvSpPr>
          <p:nvPr>
            <p:ph type="body" idx="1"/>
          </p:nvPr>
        </p:nvSpPr>
        <p:spPr/>
        <p:txBody>
          <a:bodyPr/>
          <a:lstStyle/>
          <a:p>
            <a:r>
              <a:rPr lang="en-GB" dirty="0">
                <a:latin typeface="Aptos" panose="020B0004020202020204" pitchFamily="34" charset="0"/>
              </a:rPr>
              <a:t>I have tremendous respect and admiration for the OpenG VIs and the people that created them. They have been extremely useful to so many developers for so many years.</a:t>
            </a:r>
          </a:p>
        </p:txBody>
      </p:sp>
      <p:sp>
        <p:nvSpPr>
          <p:cNvPr id="4" name="Slide Number Placeholder 3">
            <a:extLst>
              <a:ext uri="{FF2B5EF4-FFF2-40B4-BE49-F238E27FC236}">
                <a16:creationId xmlns:a16="http://schemas.microsoft.com/office/drawing/2014/main" id="{B9192579-1B1E-306E-AB30-3C62D9FD967B}"/>
              </a:ext>
            </a:extLst>
          </p:cNvPr>
          <p:cNvSpPr>
            <a:spLocks noGrp="1"/>
          </p:cNvSpPr>
          <p:nvPr>
            <p:ph type="sldNum" sz="quarter" idx="5"/>
          </p:nvPr>
        </p:nvSpPr>
        <p:spPr/>
        <p:txBody>
          <a:bodyPr/>
          <a:lstStyle/>
          <a:p>
            <a:fld id="{009A7612-DBC4-42FD-AF5C-03C5F90E2665}" type="slidenum">
              <a:rPr lang="en-GB" smtClean="0"/>
              <a:t>53</a:t>
            </a:fld>
            <a:endParaRPr lang="en-GB"/>
          </a:p>
        </p:txBody>
      </p:sp>
    </p:spTree>
    <p:extLst>
      <p:ext uri="{BB962C8B-B14F-4D97-AF65-F5344CB8AC3E}">
        <p14:creationId xmlns:p14="http://schemas.microsoft.com/office/powerpoint/2010/main" val="279003527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2036A-C29E-BA37-95EF-E82C57F57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9FE245-36F0-A0EA-FB65-0D155769C29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07885FE-C8D9-0063-C3C0-3BC157624798}"/>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21D0BA12-AB92-7089-6328-F722357C569B}"/>
              </a:ext>
            </a:extLst>
          </p:cNvPr>
          <p:cNvSpPr>
            <a:spLocks noGrp="1"/>
          </p:cNvSpPr>
          <p:nvPr>
            <p:ph type="sldNum" sz="quarter" idx="5"/>
          </p:nvPr>
        </p:nvSpPr>
        <p:spPr/>
        <p:txBody>
          <a:bodyPr/>
          <a:lstStyle/>
          <a:p>
            <a:fld id="{009A7612-DBC4-42FD-AF5C-03C5F90E2665}" type="slidenum">
              <a:rPr lang="en-GB" smtClean="0"/>
              <a:t>54</a:t>
            </a:fld>
            <a:endParaRPr lang="en-GB"/>
          </a:p>
        </p:txBody>
      </p:sp>
    </p:spTree>
    <p:extLst>
      <p:ext uri="{BB962C8B-B14F-4D97-AF65-F5344CB8AC3E}">
        <p14:creationId xmlns:p14="http://schemas.microsoft.com/office/powerpoint/2010/main" val="253096531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8F9D7-4882-8F72-3EF7-8356EC4D3E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6BCC49-8FA2-C448-BC1C-1F708259C66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AE32A84-C39D-E34C-AE7E-E4005810B977}"/>
              </a:ext>
            </a:extLst>
          </p:cNvPr>
          <p:cNvSpPr>
            <a:spLocks noGrp="1"/>
          </p:cNvSpPr>
          <p:nvPr>
            <p:ph type="body" idx="1"/>
          </p:nvPr>
        </p:nvSpPr>
        <p:spPr/>
        <p:txBody>
          <a:bodyPr/>
          <a:lstStyle/>
          <a:p>
            <a:r>
              <a:rPr lang="en-GB" dirty="0">
                <a:latin typeface="Aptos" panose="020B0004020202020204" pitchFamily="34" charset="0"/>
              </a:rPr>
              <a:t>We learned from Tony Vento’s presentation yesterday that we need to be like Alice in Wonderland and call out nonsense if we see it.</a:t>
            </a:r>
          </a:p>
        </p:txBody>
      </p:sp>
      <p:sp>
        <p:nvSpPr>
          <p:cNvPr id="4" name="Slide Number Placeholder 3">
            <a:extLst>
              <a:ext uri="{FF2B5EF4-FFF2-40B4-BE49-F238E27FC236}">
                <a16:creationId xmlns:a16="http://schemas.microsoft.com/office/drawing/2014/main" id="{0FC3C7AF-D556-A0C9-C38F-490575136F68}"/>
              </a:ext>
            </a:extLst>
          </p:cNvPr>
          <p:cNvSpPr>
            <a:spLocks noGrp="1"/>
          </p:cNvSpPr>
          <p:nvPr>
            <p:ph type="sldNum" sz="quarter" idx="5"/>
          </p:nvPr>
        </p:nvSpPr>
        <p:spPr/>
        <p:txBody>
          <a:bodyPr/>
          <a:lstStyle/>
          <a:p>
            <a:fld id="{009A7612-DBC4-42FD-AF5C-03C5F90E2665}" type="slidenum">
              <a:rPr lang="en-GB" smtClean="0"/>
              <a:t>55</a:t>
            </a:fld>
            <a:endParaRPr lang="en-GB"/>
          </a:p>
        </p:txBody>
      </p:sp>
    </p:spTree>
    <p:extLst>
      <p:ext uri="{BB962C8B-B14F-4D97-AF65-F5344CB8AC3E}">
        <p14:creationId xmlns:p14="http://schemas.microsoft.com/office/powerpoint/2010/main" val="401306467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B9426-FE64-C9A3-29FC-EE5917A714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7FB823-744A-695F-E76E-086FFF72981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8EB1498-BAA1-1C0F-61AE-EA1CA5D3080C}"/>
              </a:ext>
            </a:extLst>
          </p:cNvPr>
          <p:cNvSpPr>
            <a:spLocks noGrp="1"/>
          </p:cNvSpPr>
          <p:nvPr>
            <p:ph type="body" idx="1"/>
          </p:nvPr>
        </p:nvSpPr>
        <p:spPr/>
        <p:txBody>
          <a:bodyPr/>
          <a:lstStyle/>
          <a:p>
            <a:r>
              <a:rPr lang="en-GB" dirty="0">
                <a:latin typeface="Aptos" panose="020B0004020202020204" pitchFamily="34" charset="0"/>
              </a:rPr>
              <a:t>Let’s discuss subroutine and inline, if time allows.</a:t>
            </a:r>
          </a:p>
        </p:txBody>
      </p:sp>
      <p:sp>
        <p:nvSpPr>
          <p:cNvPr id="4" name="Slide Number Placeholder 3">
            <a:extLst>
              <a:ext uri="{FF2B5EF4-FFF2-40B4-BE49-F238E27FC236}">
                <a16:creationId xmlns:a16="http://schemas.microsoft.com/office/drawing/2014/main" id="{C9EC7E8F-8E8D-B16E-889C-B66CCFA4412F}"/>
              </a:ext>
            </a:extLst>
          </p:cNvPr>
          <p:cNvSpPr>
            <a:spLocks noGrp="1"/>
          </p:cNvSpPr>
          <p:nvPr>
            <p:ph type="sldNum" sz="quarter" idx="5"/>
          </p:nvPr>
        </p:nvSpPr>
        <p:spPr/>
        <p:txBody>
          <a:bodyPr/>
          <a:lstStyle/>
          <a:p>
            <a:fld id="{009A7612-DBC4-42FD-AF5C-03C5F90E2665}" type="slidenum">
              <a:rPr lang="en-GB" smtClean="0"/>
              <a:t>56</a:t>
            </a:fld>
            <a:endParaRPr lang="en-GB"/>
          </a:p>
        </p:txBody>
      </p:sp>
    </p:spTree>
    <p:extLst>
      <p:ext uri="{BB962C8B-B14F-4D97-AF65-F5344CB8AC3E}">
        <p14:creationId xmlns:p14="http://schemas.microsoft.com/office/powerpoint/2010/main" val="205312367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6B999-C0AF-F318-35B3-448894D44D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8080C1-FAD7-5F0E-CE3B-7858334AAFB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0886377-A389-2973-66EC-040947A55F7C}"/>
              </a:ext>
            </a:extLst>
          </p:cNvPr>
          <p:cNvSpPr>
            <a:spLocks noGrp="1"/>
          </p:cNvSpPr>
          <p:nvPr>
            <p:ph type="body" idx="1"/>
          </p:nvPr>
        </p:nvSpPr>
        <p:spPr/>
        <p:txBody>
          <a:bodyPr/>
          <a:lstStyle/>
          <a:p>
            <a:r>
              <a:rPr lang="en-GB" dirty="0">
                <a:latin typeface="Aptos" panose="020B0004020202020204" pitchFamily="34" charset="0"/>
              </a:rPr>
              <a:t>Enabling subroutine on PCR VIs increases performance further. Enabling inline increases performance even further.</a:t>
            </a:r>
          </a:p>
        </p:txBody>
      </p:sp>
      <p:sp>
        <p:nvSpPr>
          <p:cNvPr id="4" name="Slide Number Placeholder 3">
            <a:extLst>
              <a:ext uri="{FF2B5EF4-FFF2-40B4-BE49-F238E27FC236}">
                <a16:creationId xmlns:a16="http://schemas.microsoft.com/office/drawing/2014/main" id="{BD8D22A5-17AC-889C-E0BF-595FC92CC5F2}"/>
              </a:ext>
            </a:extLst>
          </p:cNvPr>
          <p:cNvSpPr>
            <a:spLocks noGrp="1"/>
          </p:cNvSpPr>
          <p:nvPr>
            <p:ph type="sldNum" sz="quarter" idx="5"/>
          </p:nvPr>
        </p:nvSpPr>
        <p:spPr/>
        <p:txBody>
          <a:bodyPr/>
          <a:lstStyle/>
          <a:p>
            <a:fld id="{009A7612-DBC4-42FD-AF5C-03C5F90E2665}" type="slidenum">
              <a:rPr lang="en-GB" smtClean="0"/>
              <a:t>57</a:t>
            </a:fld>
            <a:endParaRPr lang="en-GB"/>
          </a:p>
        </p:txBody>
      </p:sp>
    </p:spTree>
    <p:extLst>
      <p:ext uri="{BB962C8B-B14F-4D97-AF65-F5344CB8AC3E}">
        <p14:creationId xmlns:p14="http://schemas.microsoft.com/office/powerpoint/2010/main" val="28878016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93876-93F0-AC0D-7284-74C913BAEE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5C9EB0-3496-B40A-1728-F2AE351F50B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613A564-4CFA-9D6F-715D-A22A31959297}"/>
              </a:ext>
            </a:extLst>
          </p:cNvPr>
          <p:cNvSpPr>
            <a:spLocks noGrp="1"/>
          </p:cNvSpPr>
          <p:nvPr>
            <p:ph type="body" idx="1"/>
          </p:nvPr>
        </p:nvSpPr>
        <p:spPr/>
        <p:txBody>
          <a:bodyPr/>
          <a:lstStyle/>
          <a:p>
            <a:r>
              <a:rPr lang="en-GB" dirty="0">
                <a:latin typeface="Aptos" panose="020B0004020202020204" pitchFamily="34" charset="0"/>
              </a:rPr>
              <a:t>Enabling subroutine on PCR VIs increases performance further. Enabling inline increases performance even further.</a:t>
            </a:r>
          </a:p>
          <a:p>
            <a:endParaRPr lang="en-GB" dirty="0">
              <a:latin typeface="Aptos"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latin typeface="Aptos" panose="020B0004020202020204" pitchFamily="34" charset="0"/>
              </a:rPr>
              <a:t>By “pure” VIs we mean VIs that take one or more inputs, perform computations on those input values, and produce one or more output values. Such VIs do not read/write global variables or FGVs, do not send or receive asynchronous messages (queues, notifiers, events), do not control hardware, do not perform file I/O, do not send network messages.</a:t>
            </a:r>
          </a:p>
        </p:txBody>
      </p:sp>
      <p:sp>
        <p:nvSpPr>
          <p:cNvPr id="4" name="Slide Number Placeholder 3">
            <a:extLst>
              <a:ext uri="{FF2B5EF4-FFF2-40B4-BE49-F238E27FC236}">
                <a16:creationId xmlns:a16="http://schemas.microsoft.com/office/drawing/2014/main" id="{13319FEF-D032-B396-4A01-9A9910B51EEB}"/>
              </a:ext>
            </a:extLst>
          </p:cNvPr>
          <p:cNvSpPr>
            <a:spLocks noGrp="1"/>
          </p:cNvSpPr>
          <p:nvPr>
            <p:ph type="sldNum" sz="quarter" idx="5"/>
          </p:nvPr>
        </p:nvSpPr>
        <p:spPr/>
        <p:txBody>
          <a:bodyPr/>
          <a:lstStyle/>
          <a:p>
            <a:fld id="{009A7612-DBC4-42FD-AF5C-03C5F90E2665}" type="slidenum">
              <a:rPr lang="en-GB" smtClean="0"/>
              <a:t>58</a:t>
            </a:fld>
            <a:endParaRPr lang="en-GB"/>
          </a:p>
        </p:txBody>
      </p:sp>
    </p:spTree>
    <p:extLst>
      <p:ext uri="{BB962C8B-B14F-4D97-AF65-F5344CB8AC3E}">
        <p14:creationId xmlns:p14="http://schemas.microsoft.com/office/powerpoint/2010/main" val="334125885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45964-1150-3D60-656F-606265D609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AC982A-BC44-6F2A-EF71-A69324427FF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4865DA5-C1E0-51BA-214A-2F88F8330533}"/>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4C506286-C498-749B-3AB0-46C7A9742A72}"/>
              </a:ext>
            </a:extLst>
          </p:cNvPr>
          <p:cNvSpPr>
            <a:spLocks noGrp="1"/>
          </p:cNvSpPr>
          <p:nvPr>
            <p:ph type="sldNum" sz="quarter" idx="5"/>
          </p:nvPr>
        </p:nvSpPr>
        <p:spPr/>
        <p:txBody>
          <a:bodyPr/>
          <a:lstStyle/>
          <a:p>
            <a:fld id="{009A7612-DBC4-42FD-AF5C-03C5F90E2665}" type="slidenum">
              <a:rPr lang="en-GB" smtClean="0"/>
              <a:t>59</a:t>
            </a:fld>
            <a:endParaRPr lang="en-GB"/>
          </a:p>
        </p:txBody>
      </p:sp>
    </p:spTree>
    <p:extLst>
      <p:ext uri="{BB962C8B-B14F-4D97-AF65-F5344CB8AC3E}">
        <p14:creationId xmlns:p14="http://schemas.microsoft.com/office/powerpoint/2010/main" val="38594732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A12A6-F553-EDDD-8156-715C764275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13BAA5-7344-00B9-780E-B0195A666DD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9A2CA64-F158-6400-FABF-05D9C330B4E6}"/>
              </a:ext>
            </a:extLst>
          </p:cNvPr>
          <p:cNvSpPr>
            <a:spLocks noGrp="1"/>
          </p:cNvSpPr>
          <p:nvPr>
            <p:ph type="body" idx="1"/>
          </p:nvPr>
        </p:nvSpPr>
        <p:spPr/>
        <p:txBody>
          <a:bodyPr/>
          <a:lstStyle/>
          <a:p>
            <a:r>
              <a:rPr lang="en-GB" dirty="0">
                <a:latin typeface="Aptos" panose="020B0004020202020204" pitchFamily="34" charset="0"/>
              </a:rPr>
              <a:t>Enabling subroutine on PCR VIs increases performance further. Enabling inline increases performance even further.</a:t>
            </a:r>
          </a:p>
        </p:txBody>
      </p:sp>
      <p:sp>
        <p:nvSpPr>
          <p:cNvPr id="4" name="Slide Number Placeholder 3">
            <a:extLst>
              <a:ext uri="{FF2B5EF4-FFF2-40B4-BE49-F238E27FC236}">
                <a16:creationId xmlns:a16="http://schemas.microsoft.com/office/drawing/2014/main" id="{C87D1EFA-A1D9-8ED5-12B1-98A1D14ED0E8}"/>
              </a:ext>
            </a:extLst>
          </p:cNvPr>
          <p:cNvSpPr>
            <a:spLocks noGrp="1"/>
          </p:cNvSpPr>
          <p:nvPr>
            <p:ph type="sldNum" sz="quarter" idx="5"/>
          </p:nvPr>
        </p:nvSpPr>
        <p:spPr/>
        <p:txBody>
          <a:bodyPr/>
          <a:lstStyle/>
          <a:p>
            <a:fld id="{009A7612-DBC4-42FD-AF5C-03C5F90E2665}" type="slidenum">
              <a:rPr lang="en-GB" smtClean="0"/>
              <a:t>60</a:t>
            </a:fld>
            <a:endParaRPr lang="en-GB"/>
          </a:p>
        </p:txBody>
      </p:sp>
    </p:spTree>
    <p:extLst>
      <p:ext uri="{BB962C8B-B14F-4D97-AF65-F5344CB8AC3E}">
        <p14:creationId xmlns:p14="http://schemas.microsoft.com/office/powerpoint/2010/main" val="287396922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455FA-7DD7-7B40-E383-14B9090B45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F13ED-8401-6BB8-86E7-2C0E2F128F4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E89B10C-A750-5F72-CE29-C0401255EBFA}"/>
              </a:ext>
            </a:extLst>
          </p:cNvPr>
          <p:cNvSpPr>
            <a:spLocks noGrp="1"/>
          </p:cNvSpPr>
          <p:nvPr>
            <p:ph type="body" idx="1"/>
          </p:nvPr>
        </p:nvSpPr>
        <p:spPr/>
        <p:txBody>
          <a:bodyPr/>
          <a:lstStyle/>
          <a:p>
            <a:r>
              <a:rPr lang="en-GB" dirty="0">
                <a:latin typeface="Aptos" panose="020B0004020202020204" pitchFamily="34" charset="0"/>
              </a:rPr>
              <a:t>Enabling subroutine on PCR VIs increases performance further. Enabling inline increases performance even further.</a:t>
            </a:r>
          </a:p>
        </p:txBody>
      </p:sp>
      <p:sp>
        <p:nvSpPr>
          <p:cNvPr id="4" name="Slide Number Placeholder 3">
            <a:extLst>
              <a:ext uri="{FF2B5EF4-FFF2-40B4-BE49-F238E27FC236}">
                <a16:creationId xmlns:a16="http://schemas.microsoft.com/office/drawing/2014/main" id="{3DB6C302-6D38-077F-F57B-9769B4717D32}"/>
              </a:ext>
            </a:extLst>
          </p:cNvPr>
          <p:cNvSpPr>
            <a:spLocks noGrp="1"/>
          </p:cNvSpPr>
          <p:nvPr>
            <p:ph type="sldNum" sz="quarter" idx="5"/>
          </p:nvPr>
        </p:nvSpPr>
        <p:spPr/>
        <p:txBody>
          <a:bodyPr/>
          <a:lstStyle/>
          <a:p>
            <a:fld id="{009A7612-DBC4-42FD-AF5C-03C5F90E2665}" type="slidenum">
              <a:rPr lang="en-GB" smtClean="0"/>
              <a:t>61</a:t>
            </a:fld>
            <a:endParaRPr lang="en-GB"/>
          </a:p>
        </p:txBody>
      </p:sp>
    </p:spTree>
    <p:extLst>
      <p:ext uri="{BB962C8B-B14F-4D97-AF65-F5344CB8AC3E}">
        <p14:creationId xmlns:p14="http://schemas.microsoft.com/office/powerpoint/2010/main" val="295251764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DA8C5-E938-D05E-FBC3-5584DF5BCD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BF8140-F21B-E914-AF49-C7B4D3A562A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397C5B8-F2EE-38D4-B389-F9FCD65AD055}"/>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902C4702-50B2-6E3C-0920-50904FC29C57}"/>
              </a:ext>
            </a:extLst>
          </p:cNvPr>
          <p:cNvSpPr>
            <a:spLocks noGrp="1"/>
          </p:cNvSpPr>
          <p:nvPr>
            <p:ph type="sldNum" sz="quarter" idx="5"/>
          </p:nvPr>
        </p:nvSpPr>
        <p:spPr/>
        <p:txBody>
          <a:bodyPr/>
          <a:lstStyle/>
          <a:p>
            <a:fld id="{009A7612-DBC4-42FD-AF5C-03C5F90E2665}" type="slidenum">
              <a:rPr lang="en-GB" smtClean="0"/>
              <a:t>62</a:t>
            </a:fld>
            <a:endParaRPr lang="en-GB"/>
          </a:p>
        </p:txBody>
      </p:sp>
    </p:spTree>
    <p:extLst>
      <p:ext uri="{BB962C8B-B14F-4D97-AF65-F5344CB8AC3E}">
        <p14:creationId xmlns:p14="http://schemas.microsoft.com/office/powerpoint/2010/main" val="224152921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585D2-E904-2EB4-A26D-A55E09F58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86BA4B-52BB-DC39-AD08-DB152A8809F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3B81CB3-3DDE-2015-C6D7-6D62A6BFC604}"/>
              </a:ext>
            </a:extLst>
          </p:cNvPr>
          <p:cNvSpPr>
            <a:spLocks noGrp="1"/>
          </p:cNvSpPr>
          <p:nvPr>
            <p:ph type="body" idx="1"/>
          </p:nvPr>
        </p:nvSpPr>
        <p:spPr/>
        <p:txBody>
          <a:bodyPr/>
          <a:lstStyle/>
          <a:p>
            <a:endParaRPr lang="en-GB" dirty="0">
              <a:latin typeface="Aptos" panose="020B0004020202020204" pitchFamily="34" charset="0"/>
            </a:endParaRPr>
          </a:p>
        </p:txBody>
      </p:sp>
      <p:sp>
        <p:nvSpPr>
          <p:cNvPr id="4" name="Slide Number Placeholder 3">
            <a:extLst>
              <a:ext uri="{FF2B5EF4-FFF2-40B4-BE49-F238E27FC236}">
                <a16:creationId xmlns:a16="http://schemas.microsoft.com/office/drawing/2014/main" id="{722B82BC-8412-C81B-8F48-6F6AC062A71B}"/>
              </a:ext>
            </a:extLst>
          </p:cNvPr>
          <p:cNvSpPr>
            <a:spLocks noGrp="1"/>
          </p:cNvSpPr>
          <p:nvPr>
            <p:ph type="sldNum" sz="quarter" idx="5"/>
          </p:nvPr>
        </p:nvSpPr>
        <p:spPr/>
        <p:txBody>
          <a:bodyPr/>
          <a:lstStyle/>
          <a:p>
            <a:fld id="{009A7612-DBC4-42FD-AF5C-03C5F90E2665}" type="slidenum">
              <a:rPr lang="en-GB" smtClean="0"/>
              <a:t>63</a:t>
            </a:fld>
            <a:endParaRPr lang="en-GB"/>
          </a:p>
        </p:txBody>
      </p:sp>
    </p:spTree>
    <p:extLst>
      <p:ext uri="{BB962C8B-B14F-4D97-AF65-F5344CB8AC3E}">
        <p14:creationId xmlns:p14="http://schemas.microsoft.com/office/powerpoint/2010/main" val="223030937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indent="0">
              <a:buNone/>
            </a:pPr>
            <a:endParaRPr lang="en-GB" dirty="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009A7612-DBC4-42FD-AF5C-03C5F90E2665}" type="slidenum">
              <a:rPr lang="en-GB" smtClean="0"/>
              <a:t>64</a:t>
            </a:fld>
            <a:endParaRPr lang="en-GB"/>
          </a:p>
        </p:txBody>
      </p:sp>
    </p:spTree>
    <p:extLst>
      <p:ext uri="{BB962C8B-B14F-4D97-AF65-F5344CB8AC3E}">
        <p14:creationId xmlns:p14="http://schemas.microsoft.com/office/powerpoint/2010/main" val="4135160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robustosystems.com/"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8FCED-91B7-8243-1F2D-610F91E95E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7C3719F-8AF1-8401-8120-62B69BA8A3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955BC9B-F046-0456-7D42-690BD7216789}"/>
              </a:ext>
            </a:extLst>
          </p:cNvPr>
          <p:cNvSpPr>
            <a:spLocks noGrp="1"/>
          </p:cNvSpPr>
          <p:nvPr>
            <p:ph type="dt" sz="half" idx="10"/>
          </p:nvPr>
        </p:nvSpPr>
        <p:spPr/>
        <p:txBody>
          <a:bodyPr/>
          <a:lstStyle/>
          <a:p>
            <a:fld id="{0C5C33A4-172A-4A95-9286-07BC7486F6DA}" type="datetime1">
              <a:rPr lang="en-GB" smtClean="0"/>
              <a:t>23/09/2026</a:t>
            </a:fld>
            <a:endParaRPr lang="en-GB"/>
          </a:p>
        </p:txBody>
      </p:sp>
      <p:sp>
        <p:nvSpPr>
          <p:cNvPr id="5" name="Footer Placeholder 4">
            <a:extLst>
              <a:ext uri="{FF2B5EF4-FFF2-40B4-BE49-F238E27FC236}">
                <a16:creationId xmlns:a16="http://schemas.microsoft.com/office/drawing/2014/main" id="{35C06D8B-A7F2-6234-E331-3F588CAB0F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CF5406C-D2DC-362C-AECE-D12ED74584E8}"/>
              </a:ext>
            </a:extLst>
          </p:cNvPr>
          <p:cNvSpPr>
            <a:spLocks noGrp="1"/>
          </p:cNvSpPr>
          <p:nvPr>
            <p:ph type="sldNum" sz="quarter" idx="12"/>
          </p:nvPr>
        </p:nvSpPr>
        <p:spPr/>
        <p:txBody>
          <a:bodyPr/>
          <a:lstStyle/>
          <a:p>
            <a:fld id="{A5BC3523-C363-4BFA-8941-CE9ECEEECBA2}" type="slidenum">
              <a:rPr lang="en-GB" smtClean="0"/>
              <a:t>‹#›</a:t>
            </a:fld>
            <a:endParaRPr lang="en-GB"/>
          </a:p>
        </p:txBody>
      </p:sp>
    </p:spTree>
    <p:extLst>
      <p:ext uri="{BB962C8B-B14F-4D97-AF65-F5344CB8AC3E}">
        <p14:creationId xmlns:p14="http://schemas.microsoft.com/office/powerpoint/2010/main" val="1926955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F9EC0-F067-8734-F164-FB6901343E6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1A216FE-6C20-F353-8519-9F21979B71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FDC7732-45DD-987F-D44E-26723748E5C8}"/>
              </a:ext>
            </a:extLst>
          </p:cNvPr>
          <p:cNvSpPr>
            <a:spLocks noGrp="1"/>
          </p:cNvSpPr>
          <p:nvPr>
            <p:ph type="dt" sz="half" idx="10"/>
          </p:nvPr>
        </p:nvSpPr>
        <p:spPr/>
        <p:txBody>
          <a:bodyPr/>
          <a:lstStyle/>
          <a:p>
            <a:fld id="{BEDB2B52-634B-4FE3-9CB1-4F17872ECC19}" type="datetime1">
              <a:rPr lang="en-GB" smtClean="0"/>
              <a:t>23/09/2026</a:t>
            </a:fld>
            <a:endParaRPr lang="en-GB"/>
          </a:p>
        </p:txBody>
      </p:sp>
      <p:sp>
        <p:nvSpPr>
          <p:cNvPr id="5" name="Footer Placeholder 4">
            <a:extLst>
              <a:ext uri="{FF2B5EF4-FFF2-40B4-BE49-F238E27FC236}">
                <a16:creationId xmlns:a16="http://schemas.microsoft.com/office/drawing/2014/main" id="{3C2B5C2B-7029-16C2-21A9-AD3A21311B9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DF62A1B-531E-BFA7-4C9F-45589137D93E}"/>
              </a:ext>
            </a:extLst>
          </p:cNvPr>
          <p:cNvSpPr>
            <a:spLocks noGrp="1"/>
          </p:cNvSpPr>
          <p:nvPr>
            <p:ph type="sldNum" sz="quarter" idx="12"/>
          </p:nvPr>
        </p:nvSpPr>
        <p:spPr>
          <a:xfrm>
            <a:off x="11676712" y="6356350"/>
            <a:ext cx="515288" cy="365125"/>
          </a:xfrm>
        </p:spPr>
        <p:txBody>
          <a:bodyPr/>
          <a:lstStyle>
            <a:lvl1pPr algn="ctr">
              <a:defRPr sz="1600" b="1">
                <a:solidFill>
                  <a:srgbClr val="003B66"/>
                </a:solidFill>
                <a:latin typeface="Aptos" panose="020B0004020202020204" pitchFamily="34" charset="0"/>
              </a:defRPr>
            </a:lvl1pPr>
          </a:lstStyle>
          <a:p>
            <a:fld id="{A5BC3523-C363-4BFA-8941-CE9ECEEECBA2}" type="slidenum">
              <a:rPr lang="en-GB" smtClean="0"/>
              <a:pPr/>
              <a:t>‹#›</a:t>
            </a:fld>
            <a:endParaRPr lang="en-GB" dirty="0">
              <a:latin typeface="Aptos" panose="020B0004020202020204" pitchFamily="34" charset="0"/>
            </a:endParaRPr>
          </a:p>
        </p:txBody>
      </p:sp>
      <p:pic>
        <p:nvPicPr>
          <p:cNvPr id="8" name="Picture 7">
            <a:hlinkClick r:id="rId2"/>
            <a:extLst>
              <a:ext uri="{FF2B5EF4-FFF2-40B4-BE49-F238E27FC236}">
                <a16:creationId xmlns:a16="http://schemas.microsoft.com/office/drawing/2014/main" id="{C9F88034-D842-F615-4236-38A87C6159B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796713" y="6298912"/>
            <a:ext cx="2880000" cy="480000"/>
          </a:xfrm>
          <a:prstGeom prst="rect">
            <a:avLst/>
          </a:prstGeom>
        </p:spPr>
      </p:pic>
    </p:spTree>
    <p:extLst>
      <p:ext uri="{BB962C8B-B14F-4D97-AF65-F5344CB8AC3E}">
        <p14:creationId xmlns:p14="http://schemas.microsoft.com/office/powerpoint/2010/main" val="2904201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37D9-EE33-6801-C97E-B0647F0D31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62878D8-A126-84E0-2560-4B66553205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D4DC31-DB0E-9372-7E93-8BC6A74AB1DD}"/>
              </a:ext>
            </a:extLst>
          </p:cNvPr>
          <p:cNvSpPr>
            <a:spLocks noGrp="1"/>
          </p:cNvSpPr>
          <p:nvPr>
            <p:ph type="dt" sz="half" idx="10"/>
          </p:nvPr>
        </p:nvSpPr>
        <p:spPr/>
        <p:txBody>
          <a:bodyPr/>
          <a:lstStyle/>
          <a:p>
            <a:fld id="{3BEE3078-4A4A-48DB-9B9A-38CD660D0699}" type="datetime1">
              <a:rPr lang="en-GB" smtClean="0"/>
              <a:t>23/09/2026</a:t>
            </a:fld>
            <a:endParaRPr lang="en-GB"/>
          </a:p>
        </p:txBody>
      </p:sp>
      <p:sp>
        <p:nvSpPr>
          <p:cNvPr id="5" name="Footer Placeholder 4">
            <a:extLst>
              <a:ext uri="{FF2B5EF4-FFF2-40B4-BE49-F238E27FC236}">
                <a16:creationId xmlns:a16="http://schemas.microsoft.com/office/drawing/2014/main" id="{BCDC0B1D-1FF1-C7BE-49CE-885B58EC044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5A3F30-24F1-61D5-379A-35CBF5E9D5AF}"/>
              </a:ext>
            </a:extLst>
          </p:cNvPr>
          <p:cNvSpPr>
            <a:spLocks noGrp="1"/>
          </p:cNvSpPr>
          <p:nvPr>
            <p:ph type="sldNum" sz="quarter" idx="12"/>
          </p:nvPr>
        </p:nvSpPr>
        <p:spPr/>
        <p:txBody>
          <a:bodyPr/>
          <a:lstStyle/>
          <a:p>
            <a:fld id="{A5BC3523-C363-4BFA-8941-CE9ECEEECBA2}" type="slidenum">
              <a:rPr lang="en-GB" smtClean="0"/>
              <a:t>‹#›</a:t>
            </a:fld>
            <a:endParaRPr lang="en-GB"/>
          </a:p>
        </p:txBody>
      </p:sp>
    </p:spTree>
    <p:extLst>
      <p:ext uri="{BB962C8B-B14F-4D97-AF65-F5344CB8AC3E}">
        <p14:creationId xmlns:p14="http://schemas.microsoft.com/office/powerpoint/2010/main" val="2001825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371EC-7F61-D118-F3D2-E125AA69CA7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1160A76-34E9-2EC7-E609-4AF7C33E0C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2B5F2AA-5EC3-BDA5-C27F-8FFCF5FF15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D03EC44-17E0-56C9-11C2-77BCF3B22EDA}"/>
              </a:ext>
            </a:extLst>
          </p:cNvPr>
          <p:cNvSpPr>
            <a:spLocks noGrp="1"/>
          </p:cNvSpPr>
          <p:nvPr>
            <p:ph type="dt" sz="half" idx="10"/>
          </p:nvPr>
        </p:nvSpPr>
        <p:spPr/>
        <p:txBody>
          <a:bodyPr/>
          <a:lstStyle/>
          <a:p>
            <a:fld id="{061736D3-8CB9-4B1F-9FA0-8A791D30583C}" type="datetime1">
              <a:rPr lang="en-GB" smtClean="0"/>
              <a:t>23/09/2026</a:t>
            </a:fld>
            <a:endParaRPr lang="en-GB"/>
          </a:p>
        </p:txBody>
      </p:sp>
      <p:sp>
        <p:nvSpPr>
          <p:cNvPr id="6" name="Footer Placeholder 5">
            <a:extLst>
              <a:ext uri="{FF2B5EF4-FFF2-40B4-BE49-F238E27FC236}">
                <a16:creationId xmlns:a16="http://schemas.microsoft.com/office/drawing/2014/main" id="{FF79010F-DB80-851F-333B-6269F7CB6B2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DFB686F-5198-C54D-8E6C-3A9B504442AB}"/>
              </a:ext>
            </a:extLst>
          </p:cNvPr>
          <p:cNvSpPr>
            <a:spLocks noGrp="1"/>
          </p:cNvSpPr>
          <p:nvPr>
            <p:ph type="sldNum" sz="quarter" idx="12"/>
          </p:nvPr>
        </p:nvSpPr>
        <p:spPr/>
        <p:txBody>
          <a:bodyPr/>
          <a:lstStyle/>
          <a:p>
            <a:fld id="{A5BC3523-C363-4BFA-8941-CE9ECEEECBA2}" type="slidenum">
              <a:rPr lang="en-GB" smtClean="0"/>
              <a:t>‹#›</a:t>
            </a:fld>
            <a:endParaRPr lang="en-GB"/>
          </a:p>
        </p:txBody>
      </p:sp>
    </p:spTree>
    <p:extLst>
      <p:ext uri="{BB962C8B-B14F-4D97-AF65-F5344CB8AC3E}">
        <p14:creationId xmlns:p14="http://schemas.microsoft.com/office/powerpoint/2010/main" val="3840373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66E4F-6D54-7696-B8E2-98D9F90717B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173629E-6ECF-E7EF-7DA4-D2ABBC814B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08A793-79D4-12DD-38FF-6DF2775050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7FB149D-F219-98F7-8808-1A976A6F12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B9DFE0-2042-1825-9B2D-7155D0AAF1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F95275E-64D2-5A84-6937-751360CFB8D3}"/>
              </a:ext>
            </a:extLst>
          </p:cNvPr>
          <p:cNvSpPr>
            <a:spLocks noGrp="1"/>
          </p:cNvSpPr>
          <p:nvPr>
            <p:ph type="dt" sz="half" idx="10"/>
          </p:nvPr>
        </p:nvSpPr>
        <p:spPr/>
        <p:txBody>
          <a:bodyPr/>
          <a:lstStyle/>
          <a:p>
            <a:fld id="{12B9BA19-C9B8-4135-BA9F-D058BE5FC515}" type="datetime1">
              <a:rPr lang="en-GB" smtClean="0"/>
              <a:t>23/09/2026</a:t>
            </a:fld>
            <a:endParaRPr lang="en-GB"/>
          </a:p>
        </p:txBody>
      </p:sp>
      <p:sp>
        <p:nvSpPr>
          <p:cNvPr id="8" name="Footer Placeholder 7">
            <a:extLst>
              <a:ext uri="{FF2B5EF4-FFF2-40B4-BE49-F238E27FC236}">
                <a16:creationId xmlns:a16="http://schemas.microsoft.com/office/drawing/2014/main" id="{57474B4B-85F2-5AE3-C766-52AE8FC6CA0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0CD0C5D-80F7-58F8-6B21-847992B32DDB}"/>
              </a:ext>
            </a:extLst>
          </p:cNvPr>
          <p:cNvSpPr>
            <a:spLocks noGrp="1"/>
          </p:cNvSpPr>
          <p:nvPr>
            <p:ph type="sldNum" sz="quarter" idx="12"/>
          </p:nvPr>
        </p:nvSpPr>
        <p:spPr/>
        <p:txBody>
          <a:bodyPr/>
          <a:lstStyle/>
          <a:p>
            <a:fld id="{A5BC3523-C363-4BFA-8941-CE9ECEEECBA2}" type="slidenum">
              <a:rPr lang="en-GB" smtClean="0"/>
              <a:t>‹#›</a:t>
            </a:fld>
            <a:endParaRPr lang="en-GB"/>
          </a:p>
        </p:txBody>
      </p:sp>
    </p:spTree>
    <p:extLst>
      <p:ext uri="{BB962C8B-B14F-4D97-AF65-F5344CB8AC3E}">
        <p14:creationId xmlns:p14="http://schemas.microsoft.com/office/powerpoint/2010/main" val="703834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C9402-F119-EC91-DA4D-8F9A5A2B44A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CB09DF7-3DF5-659E-9A09-909CC0AF2735}"/>
              </a:ext>
            </a:extLst>
          </p:cNvPr>
          <p:cNvSpPr>
            <a:spLocks noGrp="1"/>
          </p:cNvSpPr>
          <p:nvPr>
            <p:ph type="dt" sz="half" idx="10"/>
          </p:nvPr>
        </p:nvSpPr>
        <p:spPr/>
        <p:txBody>
          <a:bodyPr/>
          <a:lstStyle/>
          <a:p>
            <a:fld id="{70D2F5E2-01C2-44C9-AD10-BDEB53FACCEB}" type="datetime1">
              <a:rPr lang="en-GB" smtClean="0"/>
              <a:t>23/09/2026</a:t>
            </a:fld>
            <a:endParaRPr lang="en-GB"/>
          </a:p>
        </p:txBody>
      </p:sp>
      <p:sp>
        <p:nvSpPr>
          <p:cNvPr id="4" name="Footer Placeholder 3">
            <a:extLst>
              <a:ext uri="{FF2B5EF4-FFF2-40B4-BE49-F238E27FC236}">
                <a16:creationId xmlns:a16="http://schemas.microsoft.com/office/drawing/2014/main" id="{6194008A-BEBD-5AE4-D2F7-23BBB5501F0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75C78B6-108B-EDAC-4F8F-E8D85FF89607}"/>
              </a:ext>
            </a:extLst>
          </p:cNvPr>
          <p:cNvSpPr>
            <a:spLocks noGrp="1"/>
          </p:cNvSpPr>
          <p:nvPr>
            <p:ph type="sldNum" sz="quarter" idx="12"/>
          </p:nvPr>
        </p:nvSpPr>
        <p:spPr/>
        <p:txBody>
          <a:bodyPr/>
          <a:lstStyle/>
          <a:p>
            <a:fld id="{A5BC3523-C363-4BFA-8941-CE9ECEEECBA2}" type="slidenum">
              <a:rPr lang="en-GB" smtClean="0"/>
              <a:t>‹#›</a:t>
            </a:fld>
            <a:endParaRPr lang="en-GB"/>
          </a:p>
        </p:txBody>
      </p:sp>
    </p:spTree>
    <p:extLst>
      <p:ext uri="{BB962C8B-B14F-4D97-AF65-F5344CB8AC3E}">
        <p14:creationId xmlns:p14="http://schemas.microsoft.com/office/powerpoint/2010/main" val="2860076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6F37A9-9076-B8B3-CCE0-83E46F12302D}"/>
              </a:ext>
            </a:extLst>
          </p:cNvPr>
          <p:cNvSpPr>
            <a:spLocks noGrp="1"/>
          </p:cNvSpPr>
          <p:nvPr>
            <p:ph type="dt" sz="half" idx="10"/>
          </p:nvPr>
        </p:nvSpPr>
        <p:spPr/>
        <p:txBody>
          <a:bodyPr/>
          <a:lstStyle/>
          <a:p>
            <a:fld id="{3981DE2F-7974-482C-8DDA-7054DC5FECDD}" type="datetime1">
              <a:rPr lang="en-GB" smtClean="0"/>
              <a:t>23/09/2026</a:t>
            </a:fld>
            <a:endParaRPr lang="en-GB"/>
          </a:p>
        </p:txBody>
      </p:sp>
      <p:sp>
        <p:nvSpPr>
          <p:cNvPr id="3" name="Footer Placeholder 2">
            <a:extLst>
              <a:ext uri="{FF2B5EF4-FFF2-40B4-BE49-F238E27FC236}">
                <a16:creationId xmlns:a16="http://schemas.microsoft.com/office/drawing/2014/main" id="{6A0A3C3E-85FF-B7F2-5DA2-21C9BE56F3D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BBE6343-E302-3631-9FDC-33B7A9C4A45A}"/>
              </a:ext>
            </a:extLst>
          </p:cNvPr>
          <p:cNvSpPr>
            <a:spLocks noGrp="1"/>
          </p:cNvSpPr>
          <p:nvPr>
            <p:ph type="sldNum" sz="quarter" idx="12"/>
          </p:nvPr>
        </p:nvSpPr>
        <p:spPr/>
        <p:txBody>
          <a:bodyPr/>
          <a:lstStyle/>
          <a:p>
            <a:fld id="{A5BC3523-C363-4BFA-8941-CE9ECEEECBA2}" type="slidenum">
              <a:rPr lang="en-GB" smtClean="0"/>
              <a:t>‹#›</a:t>
            </a:fld>
            <a:endParaRPr lang="en-GB"/>
          </a:p>
        </p:txBody>
      </p:sp>
    </p:spTree>
    <p:extLst>
      <p:ext uri="{BB962C8B-B14F-4D97-AF65-F5344CB8AC3E}">
        <p14:creationId xmlns:p14="http://schemas.microsoft.com/office/powerpoint/2010/main" val="4213742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E583C-83AD-6E7F-0618-31B7642A4C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F17B81D-C7D1-10C4-8659-95D32BEAEB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874B149-9CCE-BE33-92ED-EA735CA5A5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FD7B60-3AE0-9640-9161-B23116361AF4}"/>
              </a:ext>
            </a:extLst>
          </p:cNvPr>
          <p:cNvSpPr>
            <a:spLocks noGrp="1"/>
          </p:cNvSpPr>
          <p:nvPr>
            <p:ph type="dt" sz="half" idx="10"/>
          </p:nvPr>
        </p:nvSpPr>
        <p:spPr/>
        <p:txBody>
          <a:bodyPr/>
          <a:lstStyle/>
          <a:p>
            <a:fld id="{75D3A193-B0C6-4186-B10B-252811725895}" type="datetime1">
              <a:rPr lang="en-GB" smtClean="0"/>
              <a:t>23/09/2026</a:t>
            </a:fld>
            <a:endParaRPr lang="en-GB"/>
          </a:p>
        </p:txBody>
      </p:sp>
      <p:sp>
        <p:nvSpPr>
          <p:cNvPr id="6" name="Footer Placeholder 5">
            <a:extLst>
              <a:ext uri="{FF2B5EF4-FFF2-40B4-BE49-F238E27FC236}">
                <a16:creationId xmlns:a16="http://schemas.microsoft.com/office/drawing/2014/main" id="{36052345-045D-4C80-14AE-B7C32611858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4E9545D-BB01-2E99-3F46-DC5E45A6DA7E}"/>
              </a:ext>
            </a:extLst>
          </p:cNvPr>
          <p:cNvSpPr>
            <a:spLocks noGrp="1"/>
          </p:cNvSpPr>
          <p:nvPr>
            <p:ph type="sldNum" sz="quarter" idx="12"/>
          </p:nvPr>
        </p:nvSpPr>
        <p:spPr/>
        <p:txBody>
          <a:bodyPr/>
          <a:lstStyle/>
          <a:p>
            <a:fld id="{A5BC3523-C363-4BFA-8941-CE9ECEEECBA2}" type="slidenum">
              <a:rPr lang="en-GB" smtClean="0"/>
              <a:t>‹#›</a:t>
            </a:fld>
            <a:endParaRPr lang="en-GB"/>
          </a:p>
        </p:txBody>
      </p:sp>
    </p:spTree>
    <p:extLst>
      <p:ext uri="{BB962C8B-B14F-4D97-AF65-F5344CB8AC3E}">
        <p14:creationId xmlns:p14="http://schemas.microsoft.com/office/powerpoint/2010/main" val="3114061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96060-6ABE-397E-80C0-3461D42C7C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22F2E62-1451-4C72-CFBE-CCF28A268E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3CD60B4-20FA-9A27-CAB2-F40B3FB1A4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FE4912-9758-D4C9-761B-647F22FB9AA4}"/>
              </a:ext>
            </a:extLst>
          </p:cNvPr>
          <p:cNvSpPr>
            <a:spLocks noGrp="1"/>
          </p:cNvSpPr>
          <p:nvPr>
            <p:ph type="dt" sz="half" idx="10"/>
          </p:nvPr>
        </p:nvSpPr>
        <p:spPr/>
        <p:txBody>
          <a:bodyPr/>
          <a:lstStyle/>
          <a:p>
            <a:fld id="{1D98AAE4-9F8F-4873-A5CF-52F66B567CFA}" type="datetime1">
              <a:rPr lang="en-GB" smtClean="0"/>
              <a:t>23/09/2026</a:t>
            </a:fld>
            <a:endParaRPr lang="en-GB"/>
          </a:p>
        </p:txBody>
      </p:sp>
      <p:sp>
        <p:nvSpPr>
          <p:cNvPr id="6" name="Footer Placeholder 5">
            <a:extLst>
              <a:ext uri="{FF2B5EF4-FFF2-40B4-BE49-F238E27FC236}">
                <a16:creationId xmlns:a16="http://schemas.microsoft.com/office/drawing/2014/main" id="{D10D4409-AEE6-560E-7F5B-9A64E4DBD16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CC56A26-2C60-96CC-0448-280CDE90FA8F}"/>
              </a:ext>
            </a:extLst>
          </p:cNvPr>
          <p:cNvSpPr>
            <a:spLocks noGrp="1"/>
          </p:cNvSpPr>
          <p:nvPr>
            <p:ph type="sldNum" sz="quarter" idx="12"/>
          </p:nvPr>
        </p:nvSpPr>
        <p:spPr/>
        <p:txBody>
          <a:bodyPr/>
          <a:lstStyle/>
          <a:p>
            <a:fld id="{A5BC3523-C363-4BFA-8941-CE9ECEEECBA2}" type="slidenum">
              <a:rPr lang="en-GB" smtClean="0"/>
              <a:t>‹#›</a:t>
            </a:fld>
            <a:endParaRPr lang="en-GB"/>
          </a:p>
        </p:txBody>
      </p:sp>
    </p:spTree>
    <p:extLst>
      <p:ext uri="{BB962C8B-B14F-4D97-AF65-F5344CB8AC3E}">
        <p14:creationId xmlns:p14="http://schemas.microsoft.com/office/powerpoint/2010/main" val="1200218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7E994-8472-591F-F531-6A178820852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B445BF8-D25B-A246-248E-E8735400CB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CB470D-8773-D99A-EF2B-0779ACCA73E4}"/>
              </a:ext>
            </a:extLst>
          </p:cNvPr>
          <p:cNvSpPr>
            <a:spLocks noGrp="1"/>
          </p:cNvSpPr>
          <p:nvPr>
            <p:ph type="dt" sz="half" idx="10"/>
          </p:nvPr>
        </p:nvSpPr>
        <p:spPr/>
        <p:txBody>
          <a:bodyPr/>
          <a:lstStyle/>
          <a:p>
            <a:fld id="{67D7B363-7FE0-4B5C-AA52-4AB00EFF9418}" type="datetime1">
              <a:rPr lang="en-GB" smtClean="0"/>
              <a:t>23/09/2026</a:t>
            </a:fld>
            <a:endParaRPr lang="en-GB"/>
          </a:p>
        </p:txBody>
      </p:sp>
      <p:sp>
        <p:nvSpPr>
          <p:cNvPr id="5" name="Footer Placeholder 4">
            <a:extLst>
              <a:ext uri="{FF2B5EF4-FFF2-40B4-BE49-F238E27FC236}">
                <a16:creationId xmlns:a16="http://schemas.microsoft.com/office/drawing/2014/main" id="{8CDD2ADA-F251-AE81-7532-77AA239BEFB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6233D37-95EC-19ED-4A9A-4832A77D0F89}"/>
              </a:ext>
            </a:extLst>
          </p:cNvPr>
          <p:cNvSpPr>
            <a:spLocks noGrp="1"/>
          </p:cNvSpPr>
          <p:nvPr>
            <p:ph type="sldNum" sz="quarter" idx="12"/>
          </p:nvPr>
        </p:nvSpPr>
        <p:spPr/>
        <p:txBody>
          <a:bodyPr/>
          <a:lstStyle/>
          <a:p>
            <a:fld id="{A5BC3523-C363-4BFA-8941-CE9ECEEECBA2}" type="slidenum">
              <a:rPr lang="en-GB" smtClean="0"/>
              <a:t>‹#›</a:t>
            </a:fld>
            <a:endParaRPr lang="en-GB"/>
          </a:p>
        </p:txBody>
      </p:sp>
    </p:spTree>
    <p:extLst>
      <p:ext uri="{BB962C8B-B14F-4D97-AF65-F5344CB8AC3E}">
        <p14:creationId xmlns:p14="http://schemas.microsoft.com/office/powerpoint/2010/main" val="1325991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1B56F8-7F39-7157-AD65-D0D8CDBE98F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9B517FC-62E1-D842-8B6D-D1C0B8D3AA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1AB045C-E143-6531-9227-ED40848C6BC3}"/>
              </a:ext>
            </a:extLst>
          </p:cNvPr>
          <p:cNvSpPr>
            <a:spLocks noGrp="1"/>
          </p:cNvSpPr>
          <p:nvPr>
            <p:ph type="dt" sz="half" idx="10"/>
          </p:nvPr>
        </p:nvSpPr>
        <p:spPr/>
        <p:txBody>
          <a:bodyPr/>
          <a:lstStyle/>
          <a:p>
            <a:fld id="{F698CEA5-3A39-49A5-9435-4C2F63733D59}" type="datetime1">
              <a:rPr lang="en-GB" smtClean="0"/>
              <a:t>23/09/2026</a:t>
            </a:fld>
            <a:endParaRPr lang="en-GB"/>
          </a:p>
        </p:txBody>
      </p:sp>
      <p:sp>
        <p:nvSpPr>
          <p:cNvPr id="5" name="Footer Placeholder 4">
            <a:extLst>
              <a:ext uri="{FF2B5EF4-FFF2-40B4-BE49-F238E27FC236}">
                <a16:creationId xmlns:a16="http://schemas.microsoft.com/office/drawing/2014/main" id="{53CA64AB-AB81-3668-1E79-35554488124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A8B7704-A806-0353-15E4-EE606183BA51}"/>
              </a:ext>
            </a:extLst>
          </p:cNvPr>
          <p:cNvSpPr>
            <a:spLocks noGrp="1"/>
          </p:cNvSpPr>
          <p:nvPr>
            <p:ph type="sldNum" sz="quarter" idx="12"/>
          </p:nvPr>
        </p:nvSpPr>
        <p:spPr/>
        <p:txBody>
          <a:bodyPr/>
          <a:lstStyle/>
          <a:p>
            <a:fld id="{A5BC3523-C363-4BFA-8941-CE9ECEEECBA2}" type="slidenum">
              <a:rPr lang="en-GB" smtClean="0"/>
              <a:t>‹#›</a:t>
            </a:fld>
            <a:endParaRPr lang="en-GB"/>
          </a:p>
        </p:txBody>
      </p:sp>
    </p:spTree>
    <p:extLst>
      <p:ext uri="{BB962C8B-B14F-4D97-AF65-F5344CB8AC3E}">
        <p14:creationId xmlns:p14="http://schemas.microsoft.com/office/powerpoint/2010/main" val="3363656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BE9993-E126-CFB8-1769-EEB747DBDE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78229B7-A8DB-CEEF-23E8-D9FAED6B8E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E3815AA-60E6-01D8-7CA0-A57A4E3C90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017F57-0928-4AB4-9227-68A9D0F44877}" type="datetime1">
              <a:rPr lang="en-GB" smtClean="0"/>
              <a:t>23/09/2026</a:t>
            </a:fld>
            <a:endParaRPr lang="en-GB"/>
          </a:p>
        </p:txBody>
      </p:sp>
      <p:sp>
        <p:nvSpPr>
          <p:cNvPr id="5" name="Footer Placeholder 4">
            <a:extLst>
              <a:ext uri="{FF2B5EF4-FFF2-40B4-BE49-F238E27FC236}">
                <a16:creationId xmlns:a16="http://schemas.microsoft.com/office/drawing/2014/main" id="{B5886074-F631-FF95-3430-822ABA461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DE732AB-8127-1AFA-BC47-264B06C965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BC3523-C363-4BFA-8941-CE9ECEEECBA2}" type="slidenum">
              <a:rPr lang="en-GB" smtClean="0"/>
              <a:t>‹#›</a:t>
            </a:fld>
            <a:endParaRPr lang="en-GB"/>
          </a:p>
        </p:txBody>
      </p:sp>
    </p:spTree>
    <p:extLst>
      <p:ext uri="{BB962C8B-B14F-4D97-AF65-F5344CB8AC3E}">
        <p14:creationId xmlns:p14="http://schemas.microsoft.com/office/powerpoint/2010/main" val="24683407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devcon.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3.jpg"/><Relationship Id="rId7"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www.robustosystems.com/" TargetMode="External"/><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RobustoSystems/LabVIEWMultithreading"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imdb.com/title/tt0057261"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8.jpg"/><Relationship Id="rId4" Type="http://schemas.openxmlformats.org/officeDocument/2006/relationships/image" Target="../media/image17.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forums.ni.com/t5/LabVIEW-Idea-Exchange/Many-native-VIs-that-are-currently-Non-reentrant-should-be/idi-p/4429431"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hyperlink" Target="https://forums.ni.com/t5/LabVIEW-Idea-Exchange/The-reentrancy-of-new-VIs-should-be-quot-Preallocated-clone-quot/idi-p/4429369" TargetMode="External"/></Relationships>
</file>

<file path=ppt/slides/_rels/slide51.xml.rels><?xml version="1.0" encoding="UTF-8" standalone="yes"?>
<Relationships xmlns="http://schemas.openxmlformats.org/package/2006/relationships"><Relationship Id="rId3" Type="http://schemas.openxmlformats.org/officeDocument/2006/relationships/hyperlink" Target="https://www.ni.com/en/support/documentation/supplemental/07/multicore-programming-fundamentals.html"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52.xml.rels><?xml version="1.0" encoding="UTF-8" standalone="yes"?>
<Relationships xmlns="http://schemas.openxmlformats.org/package/2006/relationships"><Relationship Id="rId3" Type="http://schemas.openxmlformats.org/officeDocument/2006/relationships/hyperlink" Target="https://www.ni.com/en/support/documentation/supplemental/07/will-my-labview-programs-run-faster-when-i-upgrade-to-a-multicor.html" TargetMode="External"/><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5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www.ni.com/docs/en-US/bundle/labview-api-ref/page/dialog-boxes/execution-page-vi-properties-dialog-box.html" TargetMode="External"/><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59.xml.rels><?xml version="1.0" encoding="UTF-8" standalone="yes"?>
<Relationships xmlns="http://schemas.openxmlformats.org/package/2006/relationships"><Relationship Id="rId3" Type="http://schemas.openxmlformats.org/officeDocument/2006/relationships/hyperlink" Target="https://forums.ni.com/t5/LabVIEW-Idea-Exchange/Performance-improvement-More-native-VIs-should-be-set-to/idi-p/4485882" TargetMode="External"/><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hyperlink" Target="https://www.ni.com/docs/en-US/bundle/labview/page/multitasking-multithreading-and-multiprocessing.html" TargetMode="External"/><Relationship Id="rId3" Type="http://schemas.openxmlformats.org/officeDocument/2006/relationships/hyperlink" Target="https://github.com/RobustoSystems/LabVIEWMultithreading" TargetMode="External"/><Relationship Id="rId7" Type="http://schemas.openxmlformats.org/officeDocument/2006/relationships/hyperlink" Target="https://www.ni.com/docs/en-US/bundle/labview/page/prioritizing-parallel-tasks.html" TargetMode="External"/><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hyperlink" Target="https://www.ni.com/docs/en-US/bundle/labview-api-ref/page/dialog-boxes/execution-page-vi-properties-dialog-box.html" TargetMode="External"/><Relationship Id="rId11" Type="http://schemas.openxmlformats.org/officeDocument/2006/relationships/hyperlink" Target="https://www.youtube.com/watch?v=86mKpFlREPo" TargetMode="External"/><Relationship Id="rId5" Type="http://schemas.openxmlformats.org/officeDocument/2006/relationships/hyperlink" Target="https://www.ni.com/en/support/documentation/supplemental/07/will-my-labview-programs-run-faster-when-i-upgrade-to-a-multicor.html" TargetMode="External"/><Relationship Id="rId10" Type="http://schemas.openxmlformats.org/officeDocument/2006/relationships/hyperlink" Target="https://forums.ni.com/t5/LabVIEW-Development-Best/LabVIEW-Under-the-Hood-The-Evolution-of-the-Compiler/ta-p/3515651" TargetMode="External"/><Relationship Id="rId4" Type="http://schemas.openxmlformats.org/officeDocument/2006/relationships/hyperlink" Target="https://www.ni.com/en/support/documentation/supplemental/07/multicore-programming-fundamentals.html" TargetMode="External"/><Relationship Id="rId9" Type="http://schemas.openxmlformats.org/officeDocument/2006/relationships/hyperlink" Target="https://www.ni.com/en/support/documentation/supplemental/10/ni-labview-compiler--under-the-hood.html" TargetMode="External"/></Relationships>
</file>

<file path=ppt/slides/_rels/slide63.xml.rels><?xml version="1.0" encoding="UTF-8" standalone="yes"?>
<Relationships xmlns="http://schemas.openxmlformats.org/package/2006/relationships"><Relationship Id="rId3" Type="http://schemas.openxmlformats.org/officeDocument/2006/relationships/hyperlink" Target="https://forums.ni.com/t5/LabVIEW-Idea-Exchange/Many-native-VIs-that-are-currently-Non-reentrant-should-be/idi-p/4429431" TargetMode="External"/><Relationship Id="rId7" Type="http://schemas.openxmlformats.org/officeDocument/2006/relationships/hyperlink" Target="https://forums.ni.com/t5/LabVIEW-Idea-Exchange/Open-Source-LabVIEW-Benchmark-Suite/idi-p/4485843" TargetMode="External"/><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hyperlink" Target="https://forums.ni.com/t5/LabVIEW-Idea-Exchange/Performance-improvement-All-native-VIs-should-be-set-to-Allow/idi-p/4485897" TargetMode="External"/><Relationship Id="rId5" Type="http://schemas.openxmlformats.org/officeDocument/2006/relationships/hyperlink" Target="https://forums.ni.com/t5/LabVIEW-Idea-Exchange/Performance-improvement-More-native-VIs-should-be-set-to/idi-p/4485882" TargetMode="External"/><Relationship Id="rId4" Type="http://schemas.openxmlformats.org/officeDocument/2006/relationships/hyperlink" Target="https://forums.ni.com/t5/LabVIEW-Idea-Exchange/The-reentrancy-of-new-VIs-should-be-quot-Preallocated-clone-quot/idi-p/4429369" TargetMode="Externa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08697-C8EC-DF7A-EBAC-7193D371CD47}"/>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3F0E4C90-C451-F4A9-921C-161860411B66}"/>
              </a:ext>
            </a:extLst>
          </p:cNvPr>
          <p:cNvSpPr txBox="1">
            <a:spLocks/>
          </p:cNvSpPr>
          <p:nvPr/>
        </p:nvSpPr>
        <p:spPr>
          <a:xfrm>
            <a:off x="0" y="58968"/>
            <a:ext cx="12192000" cy="6597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000" dirty="0">
                <a:solidFill>
                  <a:srgbClr val="003B66"/>
                </a:solidFill>
                <a:latin typeface="Aptos Display" panose="020B0004020202020204" pitchFamily="34" charset="0"/>
              </a:rPr>
              <a:t>LabVIEW Multithreading and VI Execution Settings</a:t>
            </a:r>
          </a:p>
        </p:txBody>
      </p:sp>
      <p:sp>
        <p:nvSpPr>
          <p:cNvPr id="15" name="TextBox 14">
            <a:extLst>
              <a:ext uri="{FF2B5EF4-FFF2-40B4-BE49-F238E27FC236}">
                <a16:creationId xmlns:a16="http://schemas.microsoft.com/office/drawing/2014/main" id="{82574085-BCA4-2147-FEED-A3402E474249}"/>
              </a:ext>
            </a:extLst>
          </p:cNvPr>
          <p:cNvSpPr txBox="1"/>
          <p:nvPr/>
        </p:nvSpPr>
        <p:spPr>
          <a:xfrm>
            <a:off x="209555" y="6226567"/>
            <a:ext cx="7248525" cy="523220"/>
          </a:xfrm>
          <a:prstGeom prst="rect">
            <a:avLst/>
          </a:prstGeom>
          <a:noFill/>
        </p:spPr>
        <p:txBody>
          <a:bodyPr wrap="square" rtlCol="0">
            <a:spAutoFit/>
          </a:bodyPr>
          <a:lstStyle/>
          <a:p>
            <a:r>
              <a:rPr lang="en-GB" sz="1400" dirty="0">
                <a:solidFill>
                  <a:srgbClr val="003B66"/>
                </a:solidFill>
                <a:latin typeface="Aptos" panose="020B0004020202020204" pitchFamily="34" charset="0"/>
              </a:rPr>
              <a:t>Event: </a:t>
            </a:r>
            <a:r>
              <a:rPr lang="en-GB" sz="1400" dirty="0">
                <a:latin typeface="Aptos" panose="020B0004020202020204" pitchFamily="34" charset="0"/>
                <a:hlinkClick r:id="rId3"/>
              </a:rPr>
              <a:t>GDevCon #7 (Brussels, Belgium)</a:t>
            </a:r>
            <a:endParaRPr lang="en-GB" sz="1400" dirty="0">
              <a:latin typeface="Aptos" panose="020B0004020202020204" pitchFamily="34" charset="0"/>
            </a:endParaRPr>
          </a:p>
          <a:p>
            <a:r>
              <a:rPr lang="en-GB" sz="1400" dirty="0">
                <a:solidFill>
                  <a:srgbClr val="003B66"/>
                </a:solidFill>
                <a:latin typeface="Aptos" panose="020B0004020202020204" pitchFamily="34" charset="0"/>
              </a:rPr>
              <a:t>Presentation Date: Wednesday, 23 September 2026</a:t>
            </a:r>
          </a:p>
        </p:txBody>
      </p:sp>
      <p:grpSp>
        <p:nvGrpSpPr>
          <p:cNvPr id="16" name="Group 15">
            <a:extLst>
              <a:ext uri="{FF2B5EF4-FFF2-40B4-BE49-F238E27FC236}">
                <a16:creationId xmlns:a16="http://schemas.microsoft.com/office/drawing/2014/main" id="{D5F4A5CA-F7C6-1493-EDDD-4BD767132D30}"/>
              </a:ext>
            </a:extLst>
          </p:cNvPr>
          <p:cNvGrpSpPr/>
          <p:nvPr/>
        </p:nvGrpSpPr>
        <p:grpSpPr>
          <a:xfrm>
            <a:off x="2496000" y="740778"/>
            <a:ext cx="7200000" cy="5157785"/>
            <a:chOff x="2319975" y="867631"/>
            <a:chExt cx="7200000" cy="5157785"/>
          </a:xfrm>
        </p:grpSpPr>
        <p:pic>
          <p:nvPicPr>
            <p:cNvPr id="17" name="Picture 16">
              <a:extLst>
                <a:ext uri="{FF2B5EF4-FFF2-40B4-BE49-F238E27FC236}">
                  <a16:creationId xmlns:a16="http://schemas.microsoft.com/office/drawing/2014/main" id="{6EE0C10B-0D1A-EBE9-955B-A51720635A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19975" y="867631"/>
              <a:ext cx="7200000" cy="4302167"/>
            </a:xfrm>
            <a:prstGeom prst="rect">
              <a:avLst/>
            </a:prstGeom>
          </p:spPr>
        </p:pic>
        <p:sp>
          <p:nvSpPr>
            <p:cNvPr id="18" name="Title 1">
              <a:extLst>
                <a:ext uri="{FF2B5EF4-FFF2-40B4-BE49-F238E27FC236}">
                  <a16:creationId xmlns:a16="http://schemas.microsoft.com/office/drawing/2014/main" id="{01F4A006-A98E-929C-996C-56E2680B2DB3}"/>
                </a:ext>
              </a:extLst>
            </p:cNvPr>
            <p:cNvSpPr txBox="1">
              <a:spLocks/>
            </p:cNvSpPr>
            <p:nvPr/>
          </p:nvSpPr>
          <p:spPr>
            <a:xfrm>
              <a:off x="2319975" y="5169798"/>
              <a:ext cx="7200000" cy="855618"/>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800" i="1" dirty="0">
                  <a:solidFill>
                    <a:schemeClr val="bg1">
                      <a:lumMod val="50000"/>
                    </a:schemeClr>
                  </a:solidFill>
                  <a:latin typeface="Aptos" panose="020B0004020202020204" pitchFamily="34" charset="0"/>
                </a:rPr>
                <a:t>The recommended execution settings to achieve maximum performance while avoiding IDE slowdown. Recommended for most small, “pure” VIs, including low-level reusable VIs.</a:t>
              </a:r>
            </a:p>
          </p:txBody>
        </p:sp>
      </p:grpSp>
      <p:sp>
        <p:nvSpPr>
          <p:cNvPr id="19" name="Slide Number Placeholder 18">
            <a:extLst>
              <a:ext uri="{FF2B5EF4-FFF2-40B4-BE49-F238E27FC236}">
                <a16:creationId xmlns:a16="http://schemas.microsoft.com/office/drawing/2014/main" id="{76D44CBB-6C52-608F-59B5-8FFACCB28012}"/>
              </a:ext>
            </a:extLst>
          </p:cNvPr>
          <p:cNvSpPr>
            <a:spLocks noGrp="1"/>
          </p:cNvSpPr>
          <p:nvPr>
            <p:ph type="sldNum" sz="quarter" idx="12"/>
          </p:nvPr>
        </p:nvSpPr>
        <p:spPr/>
        <p:txBody>
          <a:bodyPr/>
          <a:lstStyle/>
          <a:p>
            <a:fld id="{A5BC3523-C363-4BFA-8941-CE9ECEEECBA2}" type="slidenum">
              <a:rPr lang="en-GB" smtClean="0"/>
              <a:pPr/>
              <a:t>1</a:t>
            </a:fld>
            <a:endParaRPr lang="en-GB" dirty="0"/>
          </a:p>
        </p:txBody>
      </p:sp>
    </p:spTree>
    <p:extLst>
      <p:ext uri="{BB962C8B-B14F-4D97-AF65-F5344CB8AC3E}">
        <p14:creationId xmlns:p14="http://schemas.microsoft.com/office/powerpoint/2010/main" val="4057736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6951F-3CAB-873B-3412-79C1E020103B}"/>
              </a:ext>
            </a:extLst>
          </p:cNvPr>
          <p:cNvSpPr>
            <a:spLocks noGrp="1"/>
          </p:cNvSpPr>
          <p:nvPr>
            <p:ph type="title"/>
          </p:nvPr>
        </p:nvSpPr>
        <p:spPr>
          <a:xfrm>
            <a:off x="743609" y="173735"/>
            <a:ext cx="10800000" cy="662164"/>
          </a:xfrm>
        </p:spPr>
        <p:txBody>
          <a:bodyPr>
            <a:normAutofit fontScale="90000"/>
          </a:bodyPr>
          <a:lstStyle/>
          <a:p>
            <a:r>
              <a:rPr lang="en-GB" dirty="0">
                <a:solidFill>
                  <a:srgbClr val="003B66"/>
                </a:solidFill>
                <a:latin typeface="Aptos Display" panose="020B0004020202020204" pitchFamily="34" charset="0"/>
              </a:rPr>
              <a:t>Presenter</a:t>
            </a:r>
          </a:p>
        </p:txBody>
      </p:sp>
      <p:pic>
        <p:nvPicPr>
          <p:cNvPr id="8" name="Picture 7" descr="A picture containing building, person, outdoor, person&#10;&#10;Description automatically generated">
            <a:extLst>
              <a:ext uri="{FF2B5EF4-FFF2-40B4-BE49-F238E27FC236}">
                <a16:creationId xmlns:a16="http://schemas.microsoft.com/office/drawing/2014/main" id="{07E2F328-01FB-FC62-09BF-624BD56B79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835899"/>
            <a:ext cx="2520000" cy="2520000"/>
          </a:xfrm>
          <a:prstGeom prst="rect">
            <a:avLst/>
          </a:prstGeom>
          <a:ln>
            <a:solidFill>
              <a:schemeClr val="bg1">
                <a:lumMod val="50000"/>
              </a:schemeClr>
            </a:solidFill>
          </a:ln>
        </p:spPr>
      </p:pic>
      <p:sp>
        <p:nvSpPr>
          <p:cNvPr id="10" name="TextBox 9">
            <a:extLst>
              <a:ext uri="{FF2B5EF4-FFF2-40B4-BE49-F238E27FC236}">
                <a16:creationId xmlns:a16="http://schemas.microsoft.com/office/drawing/2014/main" id="{1DE6700A-C224-DFCF-2235-3584847ED0F0}"/>
              </a:ext>
            </a:extLst>
          </p:cNvPr>
          <p:cNvSpPr txBox="1"/>
          <p:nvPr/>
        </p:nvSpPr>
        <p:spPr>
          <a:xfrm>
            <a:off x="838200" y="5198984"/>
            <a:ext cx="6053960" cy="1169551"/>
          </a:xfrm>
          <a:prstGeom prst="rect">
            <a:avLst/>
          </a:prstGeom>
          <a:noFill/>
        </p:spPr>
        <p:txBody>
          <a:bodyPr wrap="square" rtlCol="0">
            <a:spAutoFit/>
          </a:bodyPr>
          <a:lstStyle/>
          <a:p>
            <a:r>
              <a:rPr lang="en-GB" sz="1400" b="1" u="sng" dirty="0">
                <a:solidFill>
                  <a:srgbClr val="003B66"/>
                </a:solidFill>
                <a:latin typeface="Aptos" panose="020B0004020202020204" pitchFamily="34" charset="0"/>
                <a:ea typeface="DengXian" panose="02010600030101010101" pitchFamily="2" charset="-122"/>
              </a:rPr>
              <a:t>Contact Details</a:t>
            </a:r>
          </a:p>
          <a:p>
            <a:r>
              <a:rPr lang="en-GB" sz="1400" dirty="0">
                <a:solidFill>
                  <a:srgbClr val="003B66"/>
                </a:solidFill>
                <a:latin typeface="Aptos" panose="020B0004020202020204" pitchFamily="34" charset="0"/>
                <a:ea typeface="DengXian" panose="02010600030101010101" pitchFamily="2" charset="-122"/>
              </a:rPr>
              <a:t>Email: petru@robustosystems.com</a:t>
            </a:r>
            <a:endParaRPr lang="en-GB" sz="1400" dirty="0">
              <a:solidFill>
                <a:srgbClr val="003B66"/>
              </a:solidFill>
              <a:effectLst/>
              <a:latin typeface="Aptos" panose="020B0004020202020204" pitchFamily="34" charset="0"/>
              <a:ea typeface="DengXian" panose="02010600030101010101" pitchFamily="2" charset="-122"/>
            </a:endParaRPr>
          </a:p>
          <a:p>
            <a:r>
              <a:rPr lang="en-GB" sz="1400" dirty="0">
                <a:solidFill>
                  <a:srgbClr val="003B66"/>
                </a:solidFill>
                <a:effectLst/>
                <a:latin typeface="Aptos" panose="020B0004020202020204" pitchFamily="34" charset="0"/>
                <a:ea typeface="DengXian" panose="02010600030101010101" pitchFamily="2" charset="-122"/>
              </a:rPr>
              <a:t>Tel: 01452 452 165</a:t>
            </a:r>
          </a:p>
          <a:p>
            <a:r>
              <a:rPr lang="en-GB" sz="1400" dirty="0">
                <a:solidFill>
                  <a:srgbClr val="003B66"/>
                </a:solidFill>
                <a:effectLst/>
                <a:latin typeface="Aptos" panose="020B0004020202020204" pitchFamily="34" charset="0"/>
                <a:ea typeface="DengXian" panose="02010600030101010101" pitchFamily="2" charset="-122"/>
              </a:rPr>
              <a:t>Robusto Systems Ltd (UK)</a:t>
            </a:r>
          </a:p>
          <a:p>
            <a:r>
              <a:rPr lang="en-GB" sz="1400" u="sng" dirty="0">
                <a:solidFill>
                  <a:srgbClr val="0563C1"/>
                </a:solidFill>
                <a:effectLst/>
                <a:latin typeface="Aptos" panose="020B0004020202020204" pitchFamily="34" charset="0"/>
                <a:ea typeface="DengXian" panose="02010600030101010101" pitchFamily="2" charset="-122"/>
                <a:hlinkClick r:id="rId4"/>
              </a:rPr>
              <a:t>www.robustosystems.com</a:t>
            </a:r>
            <a:endParaRPr lang="en-GB" sz="1400" dirty="0">
              <a:effectLst/>
              <a:latin typeface="Aptos" panose="020B0004020202020204" pitchFamily="34" charset="0"/>
              <a:ea typeface="DengXian" panose="02010600030101010101" pitchFamily="2" charset="-122"/>
            </a:endParaRPr>
          </a:p>
        </p:txBody>
      </p:sp>
      <p:sp>
        <p:nvSpPr>
          <p:cNvPr id="7" name="TextBox 6">
            <a:extLst>
              <a:ext uri="{FF2B5EF4-FFF2-40B4-BE49-F238E27FC236}">
                <a16:creationId xmlns:a16="http://schemas.microsoft.com/office/drawing/2014/main" id="{8ED33030-985A-CC9F-05DD-F8483AA06547}"/>
              </a:ext>
            </a:extLst>
          </p:cNvPr>
          <p:cNvSpPr txBox="1"/>
          <p:nvPr/>
        </p:nvSpPr>
        <p:spPr>
          <a:xfrm>
            <a:off x="743609" y="3327891"/>
            <a:ext cx="10800000" cy="523220"/>
          </a:xfrm>
          <a:prstGeom prst="rect">
            <a:avLst/>
          </a:prstGeom>
          <a:noFill/>
        </p:spPr>
        <p:txBody>
          <a:bodyPr wrap="square" rtlCol="0">
            <a:spAutoFit/>
          </a:bodyPr>
          <a:lstStyle/>
          <a:p>
            <a:r>
              <a:rPr lang="en-GB" sz="2800" dirty="0">
                <a:solidFill>
                  <a:srgbClr val="003B66"/>
                </a:solidFill>
                <a:effectLst/>
                <a:latin typeface="Aptos" panose="020B0004020202020204" pitchFamily="34" charset="0"/>
                <a:ea typeface="DengXian" panose="02010600030101010101" pitchFamily="2" charset="-122"/>
              </a:rPr>
              <a:t>Petru Tarabuta</a:t>
            </a:r>
            <a:r>
              <a:rPr lang="en-GB" sz="1800" dirty="0">
                <a:solidFill>
                  <a:srgbClr val="003B66"/>
                </a:solidFill>
                <a:effectLst/>
                <a:latin typeface="Aptos" panose="020B0004020202020204" pitchFamily="34" charset="0"/>
                <a:ea typeface="DengXian" panose="02010600030101010101" pitchFamily="2" charset="-122"/>
              </a:rPr>
              <a:t> </a:t>
            </a:r>
            <a:r>
              <a:rPr lang="en-GB" sz="1600" dirty="0">
                <a:solidFill>
                  <a:srgbClr val="003B66"/>
                </a:solidFill>
                <a:effectLst/>
                <a:latin typeface="Aptos" panose="020B0004020202020204" pitchFamily="34" charset="0"/>
                <a:ea typeface="DengXian" panose="02010600030101010101" pitchFamily="2" charset="-122"/>
              </a:rPr>
              <a:t>MEng MIET | Test Systems Engineer, founder and director of Robusto Systems Ltd</a:t>
            </a:r>
            <a:endParaRPr lang="en-GB" sz="1800" dirty="0">
              <a:solidFill>
                <a:srgbClr val="003B66"/>
              </a:solidFill>
              <a:effectLst/>
              <a:latin typeface="Aptos" panose="020B0004020202020204" pitchFamily="34" charset="0"/>
              <a:ea typeface="DengXian" panose="02010600030101010101" pitchFamily="2" charset="-122"/>
            </a:endParaRPr>
          </a:p>
        </p:txBody>
      </p:sp>
      <p:sp>
        <p:nvSpPr>
          <p:cNvPr id="11" name="Slide Number Placeholder 10">
            <a:extLst>
              <a:ext uri="{FF2B5EF4-FFF2-40B4-BE49-F238E27FC236}">
                <a16:creationId xmlns:a16="http://schemas.microsoft.com/office/drawing/2014/main" id="{BDE9E0C2-ECC9-B495-8FEF-B645861E158A}"/>
              </a:ext>
            </a:extLst>
          </p:cNvPr>
          <p:cNvSpPr>
            <a:spLocks noGrp="1"/>
          </p:cNvSpPr>
          <p:nvPr>
            <p:ph type="sldNum" sz="quarter" idx="12"/>
          </p:nvPr>
        </p:nvSpPr>
        <p:spPr/>
        <p:txBody>
          <a:bodyPr/>
          <a:lstStyle/>
          <a:p>
            <a:fld id="{A5BC3523-C363-4BFA-8941-CE9ECEEECBA2}" type="slidenum">
              <a:rPr lang="en-GB" smtClean="0"/>
              <a:t>2</a:t>
            </a:fld>
            <a:endParaRPr lang="en-GB" dirty="0"/>
          </a:p>
        </p:txBody>
      </p:sp>
      <p:grpSp>
        <p:nvGrpSpPr>
          <p:cNvPr id="18" name="Group 17">
            <a:extLst>
              <a:ext uri="{FF2B5EF4-FFF2-40B4-BE49-F238E27FC236}">
                <a16:creationId xmlns:a16="http://schemas.microsoft.com/office/drawing/2014/main" id="{0A057B7B-F117-AA25-F3C9-03D85448750E}"/>
              </a:ext>
            </a:extLst>
          </p:cNvPr>
          <p:cNvGrpSpPr/>
          <p:nvPr/>
        </p:nvGrpSpPr>
        <p:grpSpPr>
          <a:xfrm>
            <a:off x="743609" y="3758984"/>
            <a:ext cx="7474129" cy="1440000"/>
            <a:chOff x="743609" y="3758984"/>
            <a:chExt cx="7474129" cy="1440000"/>
          </a:xfrm>
        </p:grpSpPr>
        <p:pic>
          <p:nvPicPr>
            <p:cNvPr id="5" name="Picture 4" descr="A yellow square with black text&#10;&#10;Description automatically generated">
              <a:extLst>
                <a:ext uri="{FF2B5EF4-FFF2-40B4-BE49-F238E27FC236}">
                  <a16:creationId xmlns:a16="http://schemas.microsoft.com/office/drawing/2014/main" id="{962E83BB-E51E-3C07-C598-CF81A1594A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04663" y="3758984"/>
              <a:ext cx="1440000" cy="1440000"/>
            </a:xfrm>
            <a:prstGeom prst="rect">
              <a:avLst/>
            </a:prstGeom>
          </p:spPr>
        </p:pic>
        <p:pic>
          <p:nvPicPr>
            <p:cNvPr id="9" name="Picture 8" descr="A black and white logo&#10;&#10;Description automatically generated">
              <a:extLst>
                <a:ext uri="{FF2B5EF4-FFF2-40B4-BE49-F238E27FC236}">
                  <a16:creationId xmlns:a16="http://schemas.microsoft.com/office/drawing/2014/main" id="{9039A557-C676-AB58-B162-B323DEDCE95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07390" y="3851111"/>
              <a:ext cx="1260000" cy="1260000"/>
            </a:xfrm>
            <a:prstGeom prst="rect">
              <a:avLst/>
            </a:prstGeom>
          </p:spPr>
        </p:pic>
        <p:pic>
          <p:nvPicPr>
            <p:cNvPr id="12" name="Picture 11" descr="A green logo with black text&#10;&#10;Description automatically generated">
              <a:extLst>
                <a:ext uri="{FF2B5EF4-FFF2-40B4-BE49-F238E27FC236}">
                  <a16:creationId xmlns:a16="http://schemas.microsoft.com/office/drawing/2014/main" id="{FD6F2C36-D0B1-A487-7362-FD2F9560F1C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30117" y="3851111"/>
              <a:ext cx="1260000" cy="1260000"/>
            </a:xfrm>
            <a:prstGeom prst="rect">
              <a:avLst/>
            </a:prstGeom>
          </p:spPr>
        </p:pic>
        <p:pic>
          <p:nvPicPr>
            <p:cNvPr id="4" name="Picture 3">
              <a:extLst>
                <a:ext uri="{FF2B5EF4-FFF2-40B4-BE49-F238E27FC236}">
                  <a16:creationId xmlns:a16="http://schemas.microsoft.com/office/drawing/2014/main" id="{B4E692A2-07FD-1A7D-850A-B2EAB3F92AC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3609" y="3851111"/>
              <a:ext cx="1260000" cy="1261963"/>
            </a:xfrm>
            <a:prstGeom prst="rect">
              <a:avLst/>
            </a:prstGeom>
          </p:spPr>
        </p:pic>
        <p:pic>
          <p:nvPicPr>
            <p:cNvPr id="16" name="Picture 15">
              <a:extLst>
                <a:ext uri="{FF2B5EF4-FFF2-40B4-BE49-F238E27FC236}">
                  <a16:creationId xmlns:a16="http://schemas.microsoft.com/office/drawing/2014/main" id="{F71ECD9A-2A76-4B2B-6A4B-17615B7CA1D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957738" y="3851111"/>
              <a:ext cx="1260000" cy="1260000"/>
            </a:xfrm>
            <a:prstGeom prst="rect">
              <a:avLst/>
            </a:prstGeom>
          </p:spPr>
        </p:pic>
      </p:grpSp>
    </p:spTree>
    <p:extLst>
      <p:ext uri="{BB962C8B-B14F-4D97-AF65-F5344CB8AC3E}">
        <p14:creationId xmlns:p14="http://schemas.microsoft.com/office/powerpoint/2010/main" val="43822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6951F-3CAB-873B-3412-79C1E020103B}"/>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Introduction</a:t>
            </a:r>
          </a:p>
        </p:txBody>
      </p:sp>
      <p:sp>
        <p:nvSpPr>
          <p:cNvPr id="3" name="Content Placeholder 2">
            <a:extLst>
              <a:ext uri="{FF2B5EF4-FFF2-40B4-BE49-F238E27FC236}">
                <a16:creationId xmlns:a16="http://schemas.microsoft.com/office/drawing/2014/main" id="{C9E225EF-8FB7-C051-548B-0D2CEE3D5028}"/>
              </a:ext>
            </a:extLst>
          </p:cNvPr>
          <p:cNvSpPr>
            <a:spLocks noGrp="1"/>
          </p:cNvSpPr>
          <p:nvPr>
            <p:ph idx="1"/>
          </p:nvPr>
        </p:nvSpPr>
        <p:spPr>
          <a:xfrm>
            <a:off x="838200" y="1027290"/>
            <a:ext cx="10515600" cy="766447"/>
          </a:xfrm>
        </p:spPr>
        <p:txBody>
          <a:bodyPr>
            <a:normAutofit/>
          </a:bodyPr>
          <a:lstStyle/>
          <a:p>
            <a:r>
              <a:rPr lang="en-GB" sz="2000" dirty="0">
                <a:solidFill>
                  <a:srgbClr val="003B66"/>
                </a:solidFill>
                <a:latin typeface="Aptos" panose="020B0004020202020204" pitchFamily="34" charset="0"/>
              </a:rPr>
              <a:t>A key advantage to LabVIEW is its ability to create parallel code easily. Code consisting of two parallel loops is rightly introduced as early as the first lesson of LabVIEW Core 2.</a:t>
            </a:r>
          </a:p>
        </p:txBody>
      </p:sp>
      <p:sp>
        <p:nvSpPr>
          <p:cNvPr id="4" name="Slide Number Placeholder 3">
            <a:extLst>
              <a:ext uri="{FF2B5EF4-FFF2-40B4-BE49-F238E27FC236}">
                <a16:creationId xmlns:a16="http://schemas.microsoft.com/office/drawing/2014/main" id="{E33D8A67-17C2-F3C1-586E-561A37616054}"/>
              </a:ext>
            </a:extLst>
          </p:cNvPr>
          <p:cNvSpPr>
            <a:spLocks noGrp="1"/>
          </p:cNvSpPr>
          <p:nvPr>
            <p:ph type="sldNum" sz="quarter" idx="12"/>
          </p:nvPr>
        </p:nvSpPr>
        <p:spPr/>
        <p:txBody>
          <a:bodyPr/>
          <a:lstStyle/>
          <a:p>
            <a:fld id="{A5BC3523-C363-4BFA-8941-CE9ECEEECBA2}" type="slidenum">
              <a:rPr lang="en-GB" smtClean="0"/>
              <a:t>3</a:t>
            </a:fld>
            <a:endParaRPr lang="en-GB" dirty="0"/>
          </a:p>
        </p:txBody>
      </p:sp>
      <p:pic>
        <p:nvPicPr>
          <p:cNvPr id="6" name="Picture 5">
            <a:extLst>
              <a:ext uri="{FF2B5EF4-FFF2-40B4-BE49-F238E27FC236}">
                <a16:creationId xmlns:a16="http://schemas.microsoft.com/office/drawing/2014/main" id="{1394B9C5-E1EB-5EC3-1440-01BF62BBC6F5}"/>
              </a:ext>
            </a:extLst>
          </p:cNvPr>
          <p:cNvPicPr>
            <a:picLocks noChangeAspect="1"/>
          </p:cNvPicPr>
          <p:nvPr/>
        </p:nvPicPr>
        <p:blipFill>
          <a:blip r:embed="rId3">
            <a:extLst>
              <a:ext uri="{28A0092B-C50C-407E-A947-70E740481C1C}">
                <a14:useLocalDpi xmlns:a14="http://schemas.microsoft.com/office/drawing/2010/main" val="0"/>
              </a:ext>
            </a:extLst>
          </a:blip>
          <a:srcRect l="3033" t="16543" r="1896" b="2075"/>
          <a:stretch>
            <a:fillRect/>
          </a:stretch>
        </p:blipFill>
        <p:spPr>
          <a:xfrm>
            <a:off x="1162878" y="1793737"/>
            <a:ext cx="5814392" cy="3527456"/>
          </a:xfrm>
          <a:prstGeom prst="rect">
            <a:avLst/>
          </a:prstGeom>
          <a:ln>
            <a:solidFill>
              <a:schemeClr val="bg1">
                <a:lumMod val="50000"/>
              </a:schemeClr>
            </a:solidFill>
          </a:ln>
        </p:spPr>
      </p:pic>
    </p:spTree>
    <p:extLst>
      <p:ext uri="{BB962C8B-B14F-4D97-AF65-F5344CB8AC3E}">
        <p14:creationId xmlns:p14="http://schemas.microsoft.com/office/powerpoint/2010/main" val="1173004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F3E60-71C2-B306-583B-01801011DA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9CD62-CB32-7A64-08D5-D2D575C63A04}"/>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Introduction</a:t>
            </a:r>
          </a:p>
        </p:txBody>
      </p:sp>
      <p:sp>
        <p:nvSpPr>
          <p:cNvPr id="3" name="Content Placeholder 2">
            <a:extLst>
              <a:ext uri="{FF2B5EF4-FFF2-40B4-BE49-F238E27FC236}">
                <a16:creationId xmlns:a16="http://schemas.microsoft.com/office/drawing/2014/main" id="{B83FE733-9234-A025-490A-FC36DC4644B8}"/>
              </a:ext>
            </a:extLst>
          </p:cNvPr>
          <p:cNvSpPr>
            <a:spLocks noGrp="1"/>
          </p:cNvSpPr>
          <p:nvPr>
            <p:ph idx="1"/>
          </p:nvPr>
        </p:nvSpPr>
        <p:spPr>
          <a:xfrm>
            <a:off x="838200" y="1027290"/>
            <a:ext cx="10515600" cy="881023"/>
          </a:xfrm>
        </p:spPr>
        <p:txBody>
          <a:bodyPr>
            <a:normAutofit fontScale="92500" lnSpcReduction="20000"/>
          </a:bodyPr>
          <a:lstStyle/>
          <a:p>
            <a:r>
              <a:rPr lang="en-GB" sz="2000" dirty="0">
                <a:solidFill>
                  <a:srgbClr val="003B66"/>
                </a:solidFill>
                <a:latin typeface="Aptos" panose="020B0004020202020204" pitchFamily="34" charset="0"/>
              </a:rPr>
              <a:t>Creating simple multithreaded code is easy.</a:t>
            </a:r>
          </a:p>
          <a:p>
            <a:r>
              <a:rPr lang="en-GB" sz="2000" dirty="0">
                <a:solidFill>
                  <a:srgbClr val="003B66"/>
                </a:solidFill>
                <a:latin typeface="Aptos" panose="020B0004020202020204" pitchFamily="34" charset="0"/>
              </a:rPr>
              <a:t>Creating highly multithreaded, high-performance code is difficult. It requires mastering concepts such as </a:t>
            </a:r>
            <a:r>
              <a:rPr lang="en-GB" sz="2000" b="1" dirty="0">
                <a:solidFill>
                  <a:srgbClr val="003B66"/>
                </a:solidFill>
                <a:latin typeface="Aptos" panose="020B0004020202020204" pitchFamily="34" charset="0"/>
              </a:rPr>
              <a:t>reentrancy</a:t>
            </a:r>
            <a:r>
              <a:rPr lang="en-GB" sz="2000" dirty="0">
                <a:solidFill>
                  <a:srgbClr val="003B66"/>
                </a:solidFill>
                <a:latin typeface="Aptos" panose="020B0004020202020204" pitchFamily="34" charset="0"/>
              </a:rPr>
              <a:t>, </a:t>
            </a:r>
            <a:r>
              <a:rPr lang="en-GB" sz="2000" b="1" dirty="0">
                <a:solidFill>
                  <a:srgbClr val="003B66"/>
                </a:solidFill>
                <a:latin typeface="Aptos" panose="020B0004020202020204" pitchFamily="34" charset="0"/>
              </a:rPr>
              <a:t>priority</a:t>
            </a:r>
            <a:r>
              <a:rPr lang="en-GB" sz="2000" dirty="0">
                <a:solidFill>
                  <a:srgbClr val="003B66"/>
                </a:solidFill>
                <a:latin typeface="Aptos" panose="020B0004020202020204" pitchFamily="34" charset="0"/>
              </a:rPr>
              <a:t>, and </a:t>
            </a:r>
            <a:r>
              <a:rPr lang="en-GB" sz="2000" b="1" dirty="0">
                <a:solidFill>
                  <a:srgbClr val="003B66"/>
                </a:solidFill>
                <a:latin typeface="Aptos" panose="020B0004020202020204" pitchFamily="34" charset="0"/>
              </a:rPr>
              <a:t>preferred execution system</a:t>
            </a:r>
            <a:r>
              <a:rPr lang="en-GB" sz="2000" dirty="0">
                <a:solidFill>
                  <a:srgbClr val="003B66"/>
                </a:solidFill>
                <a:latin typeface="Aptos" panose="020B0004020202020204" pitchFamily="34" charset="0"/>
              </a:rPr>
              <a:t>.</a:t>
            </a:r>
          </a:p>
        </p:txBody>
      </p:sp>
      <p:sp>
        <p:nvSpPr>
          <p:cNvPr id="4" name="Slide Number Placeholder 3">
            <a:extLst>
              <a:ext uri="{FF2B5EF4-FFF2-40B4-BE49-F238E27FC236}">
                <a16:creationId xmlns:a16="http://schemas.microsoft.com/office/drawing/2014/main" id="{9705ECDB-42A0-EC39-3454-5ACDBB90E9FB}"/>
              </a:ext>
            </a:extLst>
          </p:cNvPr>
          <p:cNvSpPr>
            <a:spLocks noGrp="1"/>
          </p:cNvSpPr>
          <p:nvPr>
            <p:ph type="sldNum" sz="quarter" idx="12"/>
          </p:nvPr>
        </p:nvSpPr>
        <p:spPr/>
        <p:txBody>
          <a:bodyPr/>
          <a:lstStyle/>
          <a:p>
            <a:fld id="{A5BC3523-C363-4BFA-8941-CE9ECEEECBA2}" type="slidenum">
              <a:rPr lang="en-GB" smtClean="0"/>
              <a:t>4</a:t>
            </a:fld>
            <a:endParaRPr lang="en-GB" dirty="0"/>
          </a:p>
        </p:txBody>
      </p:sp>
      <p:grpSp>
        <p:nvGrpSpPr>
          <p:cNvPr id="9" name="Group 8">
            <a:extLst>
              <a:ext uri="{FF2B5EF4-FFF2-40B4-BE49-F238E27FC236}">
                <a16:creationId xmlns:a16="http://schemas.microsoft.com/office/drawing/2014/main" id="{0D216895-B6C2-AB29-AF91-1D8C46E8F4E6}"/>
              </a:ext>
            </a:extLst>
          </p:cNvPr>
          <p:cNvGrpSpPr/>
          <p:nvPr/>
        </p:nvGrpSpPr>
        <p:grpSpPr>
          <a:xfrm>
            <a:off x="5486658" y="1845609"/>
            <a:ext cx="6120002" cy="4312866"/>
            <a:chOff x="5953798" y="1597356"/>
            <a:chExt cx="6120002" cy="4312866"/>
          </a:xfrm>
        </p:grpSpPr>
        <p:pic>
          <p:nvPicPr>
            <p:cNvPr id="6" name="Picture 5">
              <a:extLst>
                <a:ext uri="{FF2B5EF4-FFF2-40B4-BE49-F238E27FC236}">
                  <a16:creationId xmlns:a16="http://schemas.microsoft.com/office/drawing/2014/main" id="{B61DC780-BD6A-CB1B-2EC9-5E927BB6BB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3800" y="1597356"/>
              <a:ext cx="6120000" cy="3656842"/>
            </a:xfrm>
            <a:prstGeom prst="rect">
              <a:avLst/>
            </a:prstGeom>
          </p:spPr>
        </p:pic>
        <p:sp>
          <p:nvSpPr>
            <p:cNvPr id="8" name="Title 1">
              <a:extLst>
                <a:ext uri="{FF2B5EF4-FFF2-40B4-BE49-F238E27FC236}">
                  <a16:creationId xmlns:a16="http://schemas.microsoft.com/office/drawing/2014/main" id="{4BFC6F55-6377-D935-2517-0FFE5335DA8F}"/>
                </a:ext>
              </a:extLst>
            </p:cNvPr>
            <p:cNvSpPr txBox="1">
              <a:spLocks/>
            </p:cNvSpPr>
            <p:nvPr/>
          </p:nvSpPr>
          <p:spPr>
            <a:xfrm>
              <a:off x="5953798" y="5248058"/>
              <a:ext cx="6119999" cy="662164"/>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i="1" dirty="0">
                  <a:solidFill>
                    <a:schemeClr val="bg1">
                      <a:lumMod val="50000"/>
                    </a:schemeClr>
                  </a:solidFill>
                  <a:latin typeface="Aptos" panose="020B0004020202020204" pitchFamily="34" charset="0"/>
                </a:rPr>
                <a:t>The default VI Execution settings configuration when a new VI is created.</a:t>
              </a:r>
            </a:p>
          </p:txBody>
        </p:sp>
      </p:grpSp>
      <p:sp>
        <p:nvSpPr>
          <p:cNvPr id="10" name="Content Placeholder 2">
            <a:extLst>
              <a:ext uri="{FF2B5EF4-FFF2-40B4-BE49-F238E27FC236}">
                <a16:creationId xmlns:a16="http://schemas.microsoft.com/office/drawing/2014/main" id="{0E1CF5EF-DBDC-D672-18B6-B8CE4A4FDA7E}"/>
              </a:ext>
            </a:extLst>
          </p:cNvPr>
          <p:cNvSpPr txBox="1">
            <a:spLocks/>
          </p:cNvSpPr>
          <p:nvPr/>
        </p:nvSpPr>
        <p:spPr>
          <a:xfrm>
            <a:off x="838200" y="1845608"/>
            <a:ext cx="4648455" cy="48758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dirty="0">
                <a:solidFill>
                  <a:srgbClr val="003B66"/>
                </a:solidFill>
                <a:latin typeface="Aptos" panose="020B0004020202020204" pitchFamily="34" charset="0"/>
              </a:rPr>
              <a:t>This talk will:</a:t>
            </a:r>
          </a:p>
          <a:p>
            <a:pPr lvl="1"/>
            <a:r>
              <a:rPr lang="en-GB" sz="1600" dirty="0">
                <a:solidFill>
                  <a:srgbClr val="003B66"/>
                </a:solidFill>
                <a:latin typeface="Aptos" panose="020B0004020202020204" pitchFamily="34" charset="0"/>
              </a:rPr>
              <a:t>Explain VI execution settings</a:t>
            </a:r>
          </a:p>
          <a:p>
            <a:pPr lvl="1"/>
            <a:r>
              <a:rPr lang="en-GB" sz="1600" dirty="0">
                <a:solidFill>
                  <a:srgbClr val="003B66"/>
                </a:solidFill>
                <a:latin typeface="Aptos" panose="020B0004020202020204" pitchFamily="34" charset="0"/>
              </a:rPr>
              <a:t>Present experiments that illustrate the effect of various settings</a:t>
            </a:r>
          </a:p>
          <a:p>
            <a:pPr lvl="1"/>
            <a:r>
              <a:rPr lang="en-GB" sz="1600" dirty="0">
                <a:solidFill>
                  <a:srgbClr val="003B66"/>
                </a:solidFill>
                <a:latin typeface="Aptos" panose="020B0004020202020204" pitchFamily="34" charset="0"/>
              </a:rPr>
              <a:t>Recommend when to use each setting</a:t>
            </a:r>
          </a:p>
          <a:p>
            <a:pPr lvl="1"/>
            <a:r>
              <a:rPr lang="en-GB" sz="1600" dirty="0">
                <a:solidFill>
                  <a:srgbClr val="003B66"/>
                </a:solidFill>
                <a:latin typeface="Aptos" panose="020B0004020202020204" pitchFamily="34" charset="0"/>
              </a:rPr>
              <a:t>Reference </a:t>
            </a:r>
            <a:r>
              <a:rPr lang="en-GB" sz="1600" b="1" dirty="0">
                <a:solidFill>
                  <a:srgbClr val="003B66"/>
                </a:solidFill>
                <a:latin typeface="Aptos" panose="020B0004020202020204" pitchFamily="34" charset="0"/>
              </a:rPr>
              <a:t>LabVIEW Idea Exchange ideas </a:t>
            </a:r>
            <a:r>
              <a:rPr lang="en-GB" sz="1600" dirty="0">
                <a:solidFill>
                  <a:srgbClr val="003B66"/>
                </a:solidFill>
                <a:latin typeface="Aptos" panose="020B0004020202020204" pitchFamily="34" charset="0"/>
              </a:rPr>
              <a:t>that describe potential improvements to LabVIEW itself</a:t>
            </a:r>
          </a:p>
          <a:p>
            <a:r>
              <a:rPr lang="en-GB" sz="2000" dirty="0">
                <a:solidFill>
                  <a:srgbClr val="003B66"/>
                </a:solidFill>
                <a:latin typeface="Aptos" panose="020B0004020202020204" pitchFamily="34" charset="0"/>
              </a:rPr>
              <a:t>These concepts are foundational. They apply to all VIs and LabVIEW apps, regardless of higher-level organisation patterns such as which framework is being used. They can be particularly relevant to creating </a:t>
            </a:r>
            <a:r>
              <a:rPr lang="en-GB" sz="2000" b="1" dirty="0">
                <a:solidFill>
                  <a:srgbClr val="003B66"/>
                </a:solidFill>
                <a:latin typeface="Aptos" panose="020B0004020202020204" pitchFamily="34" charset="0"/>
              </a:rPr>
              <a:t>high-performance reusable libraries</a:t>
            </a:r>
            <a:r>
              <a:rPr lang="en-GB" sz="2000" dirty="0">
                <a:solidFill>
                  <a:srgbClr val="003B66"/>
                </a:solidFill>
                <a:latin typeface="Aptos" panose="020B0004020202020204" pitchFamily="34" charset="0"/>
              </a:rPr>
              <a:t>.</a:t>
            </a:r>
          </a:p>
        </p:txBody>
      </p:sp>
    </p:spTree>
    <p:extLst>
      <p:ext uri="{BB962C8B-B14F-4D97-AF65-F5344CB8AC3E}">
        <p14:creationId xmlns:p14="http://schemas.microsoft.com/office/powerpoint/2010/main" val="2446220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FC2D9-1248-ABB5-FD1C-FFB5C15D2B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D5F5BC-9B6E-58DC-9359-F898E917C998}"/>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Disclaimer</a:t>
            </a:r>
          </a:p>
        </p:txBody>
      </p:sp>
      <p:sp>
        <p:nvSpPr>
          <p:cNvPr id="3" name="Content Placeholder 2">
            <a:extLst>
              <a:ext uri="{FF2B5EF4-FFF2-40B4-BE49-F238E27FC236}">
                <a16:creationId xmlns:a16="http://schemas.microsoft.com/office/drawing/2014/main" id="{AEE959C0-60F0-52AB-E678-095011766FBF}"/>
              </a:ext>
            </a:extLst>
          </p:cNvPr>
          <p:cNvSpPr>
            <a:spLocks noGrp="1"/>
          </p:cNvSpPr>
          <p:nvPr>
            <p:ph idx="1"/>
          </p:nvPr>
        </p:nvSpPr>
        <p:spPr>
          <a:xfrm>
            <a:off x="838200" y="1027290"/>
            <a:ext cx="10515600" cy="5142016"/>
          </a:xfrm>
        </p:spPr>
        <p:txBody>
          <a:bodyPr>
            <a:normAutofit/>
          </a:bodyPr>
          <a:lstStyle/>
          <a:p>
            <a:r>
              <a:rPr lang="en-GB" sz="2000" dirty="0">
                <a:solidFill>
                  <a:srgbClr val="003B66"/>
                </a:solidFill>
                <a:latin typeface="Aptos" panose="020B0004020202020204" pitchFamily="34" charset="0"/>
              </a:rPr>
              <a:t>LabVIEW multithreading is a large topic. A comprehensive treatment, such as a </a:t>
            </a:r>
            <a:r>
              <a:rPr lang="en-GB" sz="2000" b="1" dirty="0">
                <a:solidFill>
                  <a:srgbClr val="003B66"/>
                </a:solidFill>
                <a:latin typeface="Aptos" panose="020B0004020202020204" pitchFamily="34" charset="0"/>
              </a:rPr>
              <a:t>manual containing text, diagrams and code examples</a:t>
            </a:r>
            <a:r>
              <a:rPr lang="en-GB" sz="2000" dirty="0">
                <a:solidFill>
                  <a:srgbClr val="003B66"/>
                </a:solidFill>
                <a:latin typeface="Aptos" panose="020B0004020202020204" pitchFamily="34" charset="0"/>
              </a:rPr>
              <a:t>, would cover hundreds of A4 pages. Such a manual does not exist yet.</a:t>
            </a:r>
          </a:p>
          <a:p>
            <a:r>
              <a:rPr lang="en-GB" sz="2000" dirty="0">
                <a:solidFill>
                  <a:srgbClr val="003B66"/>
                </a:solidFill>
                <a:latin typeface="Aptos" panose="020B0004020202020204" pitchFamily="34" charset="0"/>
              </a:rPr>
              <a:t>This 30-minute presentation is naturally only the tip of an iceberg. Nevertheless, it should be useful to most programmers.</a:t>
            </a:r>
          </a:p>
        </p:txBody>
      </p:sp>
      <p:sp>
        <p:nvSpPr>
          <p:cNvPr id="4" name="Slide Number Placeholder 3">
            <a:extLst>
              <a:ext uri="{FF2B5EF4-FFF2-40B4-BE49-F238E27FC236}">
                <a16:creationId xmlns:a16="http://schemas.microsoft.com/office/drawing/2014/main" id="{DEA63E3E-1BF4-0097-8971-83FF3BB7A3D0}"/>
              </a:ext>
            </a:extLst>
          </p:cNvPr>
          <p:cNvSpPr>
            <a:spLocks noGrp="1"/>
          </p:cNvSpPr>
          <p:nvPr>
            <p:ph type="sldNum" sz="quarter" idx="12"/>
          </p:nvPr>
        </p:nvSpPr>
        <p:spPr/>
        <p:txBody>
          <a:bodyPr/>
          <a:lstStyle/>
          <a:p>
            <a:fld id="{A5BC3523-C363-4BFA-8941-CE9ECEEECBA2}" type="slidenum">
              <a:rPr lang="en-GB" smtClean="0"/>
              <a:t>5</a:t>
            </a:fld>
            <a:endParaRPr lang="en-GB" dirty="0"/>
          </a:p>
        </p:txBody>
      </p:sp>
    </p:spTree>
    <p:extLst>
      <p:ext uri="{BB962C8B-B14F-4D97-AF65-F5344CB8AC3E}">
        <p14:creationId xmlns:p14="http://schemas.microsoft.com/office/powerpoint/2010/main" val="587376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B7E18-119B-64E0-45E5-EF3C612EDF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414F07-AD9B-E579-7944-B16DA312357A}"/>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Questions</a:t>
            </a:r>
          </a:p>
        </p:txBody>
      </p:sp>
      <p:sp>
        <p:nvSpPr>
          <p:cNvPr id="3" name="Content Placeholder 2">
            <a:extLst>
              <a:ext uri="{FF2B5EF4-FFF2-40B4-BE49-F238E27FC236}">
                <a16:creationId xmlns:a16="http://schemas.microsoft.com/office/drawing/2014/main" id="{990BA7BB-348A-E88C-0391-EB2B490A98BA}"/>
              </a:ext>
            </a:extLst>
          </p:cNvPr>
          <p:cNvSpPr>
            <a:spLocks noGrp="1"/>
          </p:cNvSpPr>
          <p:nvPr>
            <p:ph idx="1"/>
          </p:nvPr>
        </p:nvSpPr>
        <p:spPr>
          <a:xfrm>
            <a:off x="838200" y="1027290"/>
            <a:ext cx="10515600" cy="1253897"/>
          </a:xfrm>
        </p:spPr>
        <p:txBody>
          <a:bodyPr>
            <a:normAutofit/>
          </a:bodyPr>
          <a:lstStyle/>
          <a:p>
            <a:r>
              <a:rPr lang="en-GB" sz="2000" dirty="0">
                <a:solidFill>
                  <a:srgbClr val="003B66"/>
                </a:solidFill>
                <a:latin typeface="Aptos" panose="020B0004020202020204" pitchFamily="34" charset="0"/>
              </a:rPr>
              <a:t>Please ask questions at the end of the presentation and in the dedicated Discord channel. I will reply to every question or comment made on Discord.</a:t>
            </a:r>
          </a:p>
        </p:txBody>
      </p:sp>
      <p:sp>
        <p:nvSpPr>
          <p:cNvPr id="4" name="Slide Number Placeholder 3">
            <a:extLst>
              <a:ext uri="{FF2B5EF4-FFF2-40B4-BE49-F238E27FC236}">
                <a16:creationId xmlns:a16="http://schemas.microsoft.com/office/drawing/2014/main" id="{EFD20438-6BAF-3983-658F-C35B24AEA6BE}"/>
              </a:ext>
            </a:extLst>
          </p:cNvPr>
          <p:cNvSpPr>
            <a:spLocks noGrp="1"/>
          </p:cNvSpPr>
          <p:nvPr>
            <p:ph type="sldNum" sz="quarter" idx="12"/>
          </p:nvPr>
        </p:nvSpPr>
        <p:spPr/>
        <p:txBody>
          <a:bodyPr/>
          <a:lstStyle/>
          <a:p>
            <a:fld id="{A5BC3523-C363-4BFA-8941-CE9ECEEECBA2}" type="slidenum">
              <a:rPr lang="en-GB" smtClean="0"/>
              <a:t>6</a:t>
            </a:fld>
            <a:endParaRPr lang="en-GB" dirty="0"/>
          </a:p>
        </p:txBody>
      </p:sp>
      <p:pic>
        <p:nvPicPr>
          <p:cNvPr id="6" name="Picture 5">
            <a:extLst>
              <a:ext uri="{FF2B5EF4-FFF2-40B4-BE49-F238E27FC236}">
                <a16:creationId xmlns:a16="http://schemas.microsoft.com/office/drawing/2014/main" id="{15CCD54F-8246-5929-83E9-F20DDA5666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689454"/>
            <a:ext cx="3391373" cy="5039428"/>
          </a:xfrm>
          <a:prstGeom prst="rect">
            <a:avLst/>
          </a:prstGeom>
        </p:spPr>
      </p:pic>
      <p:pic>
        <p:nvPicPr>
          <p:cNvPr id="8" name="Picture 7">
            <a:extLst>
              <a:ext uri="{FF2B5EF4-FFF2-40B4-BE49-F238E27FC236}">
                <a16:creationId xmlns:a16="http://schemas.microsoft.com/office/drawing/2014/main" id="{FFB0C26B-6650-8B9A-27B7-8C573CE1AF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51614" y="1689454"/>
            <a:ext cx="2700000" cy="4735513"/>
          </a:xfrm>
          <a:prstGeom prst="rect">
            <a:avLst/>
          </a:prstGeom>
        </p:spPr>
      </p:pic>
    </p:spTree>
    <p:extLst>
      <p:ext uri="{BB962C8B-B14F-4D97-AF65-F5344CB8AC3E}">
        <p14:creationId xmlns:p14="http://schemas.microsoft.com/office/powerpoint/2010/main" val="3252061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1248B-8B36-3B4C-2235-989117830C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00A48-9B0A-5042-EA7A-2C428643E8A3}"/>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GitHub Repository</a:t>
            </a:r>
          </a:p>
        </p:txBody>
      </p:sp>
      <p:sp>
        <p:nvSpPr>
          <p:cNvPr id="3" name="Content Placeholder 2">
            <a:extLst>
              <a:ext uri="{FF2B5EF4-FFF2-40B4-BE49-F238E27FC236}">
                <a16:creationId xmlns:a16="http://schemas.microsoft.com/office/drawing/2014/main" id="{337CE463-FDE3-1D65-A9D9-CB9D4192F29B}"/>
              </a:ext>
            </a:extLst>
          </p:cNvPr>
          <p:cNvSpPr>
            <a:spLocks noGrp="1"/>
          </p:cNvSpPr>
          <p:nvPr>
            <p:ph idx="1"/>
          </p:nvPr>
        </p:nvSpPr>
        <p:spPr>
          <a:xfrm>
            <a:off x="838200" y="1027290"/>
            <a:ext cx="10515600" cy="1169811"/>
          </a:xfrm>
        </p:spPr>
        <p:txBody>
          <a:bodyPr>
            <a:normAutofit fontScale="92500" lnSpcReduction="10000"/>
          </a:bodyPr>
          <a:lstStyle/>
          <a:p>
            <a:r>
              <a:rPr lang="en-GB" sz="2000" dirty="0">
                <a:solidFill>
                  <a:srgbClr val="003B66"/>
                </a:solidFill>
                <a:latin typeface="Aptos" panose="020B0004020202020204" pitchFamily="34" charset="0"/>
              </a:rPr>
              <a:t>Everything related to this presentation – slides, experiment source code, experiment results – is shared in a GitHub repository that uses the permissive open-source MIT license: </a:t>
            </a:r>
            <a:r>
              <a:rPr lang="en-GB" sz="2000" dirty="0">
                <a:solidFill>
                  <a:srgbClr val="003B66"/>
                </a:solidFill>
                <a:latin typeface="Aptos" panose="020B0004020202020204" pitchFamily="34" charset="0"/>
                <a:hlinkClick r:id="rId3"/>
              </a:rPr>
              <a:t>https://github.com/RobustoSystems/LabVIEWMultithreading</a:t>
            </a:r>
            <a:r>
              <a:rPr lang="en-GB" sz="2000" dirty="0">
                <a:solidFill>
                  <a:srgbClr val="003B66"/>
                </a:solidFill>
                <a:latin typeface="Aptos" panose="020B0004020202020204" pitchFamily="34" charset="0"/>
              </a:rPr>
              <a:t> </a:t>
            </a:r>
          </a:p>
          <a:p>
            <a:r>
              <a:rPr lang="en-GB" sz="2000" dirty="0">
                <a:solidFill>
                  <a:srgbClr val="003B66"/>
                </a:solidFill>
                <a:latin typeface="Aptos" panose="020B0004020202020204" pitchFamily="34" charset="0"/>
              </a:rPr>
              <a:t>The link will be posted on Discord immediately after the presentation</a:t>
            </a:r>
          </a:p>
        </p:txBody>
      </p:sp>
      <p:sp>
        <p:nvSpPr>
          <p:cNvPr id="4" name="Slide Number Placeholder 3">
            <a:extLst>
              <a:ext uri="{FF2B5EF4-FFF2-40B4-BE49-F238E27FC236}">
                <a16:creationId xmlns:a16="http://schemas.microsoft.com/office/drawing/2014/main" id="{992DEFD2-EDB4-D0E6-7B2A-3BD3FBBAA3E9}"/>
              </a:ext>
            </a:extLst>
          </p:cNvPr>
          <p:cNvSpPr>
            <a:spLocks noGrp="1"/>
          </p:cNvSpPr>
          <p:nvPr>
            <p:ph type="sldNum" sz="quarter" idx="12"/>
          </p:nvPr>
        </p:nvSpPr>
        <p:spPr/>
        <p:txBody>
          <a:bodyPr/>
          <a:lstStyle/>
          <a:p>
            <a:fld id="{A5BC3523-C363-4BFA-8941-CE9ECEEECBA2}" type="slidenum">
              <a:rPr lang="en-GB" smtClean="0"/>
              <a:t>7</a:t>
            </a:fld>
            <a:endParaRPr lang="en-GB" dirty="0"/>
          </a:p>
        </p:txBody>
      </p:sp>
      <p:pic>
        <p:nvPicPr>
          <p:cNvPr id="6" name="Picture 5">
            <a:extLst>
              <a:ext uri="{FF2B5EF4-FFF2-40B4-BE49-F238E27FC236}">
                <a16:creationId xmlns:a16="http://schemas.microsoft.com/office/drawing/2014/main" id="{AD1AF3C3-FAC9-EFEF-987A-E265D506EE95}"/>
              </a:ext>
            </a:extLst>
          </p:cNvPr>
          <p:cNvPicPr>
            <a:picLocks noChangeAspect="1"/>
          </p:cNvPicPr>
          <p:nvPr/>
        </p:nvPicPr>
        <p:blipFill>
          <a:blip r:embed="rId4">
            <a:extLst>
              <a:ext uri="{28A0092B-C50C-407E-A947-70E740481C1C}">
                <a14:useLocalDpi xmlns:a14="http://schemas.microsoft.com/office/drawing/2010/main" val="0"/>
              </a:ext>
            </a:extLst>
          </a:blip>
          <a:srcRect b="18909"/>
          <a:stretch>
            <a:fillRect/>
          </a:stretch>
        </p:blipFill>
        <p:spPr>
          <a:xfrm>
            <a:off x="1176131" y="2197101"/>
            <a:ext cx="5400000" cy="4482983"/>
          </a:xfrm>
          <a:prstGeom prst="rect">
            <a:avLst/>
          </a:prstGeom>
          <a:ln w="19050">
            <a:solidFill>
              <a:schemeClr val="bg1">
                <a:lumMod val="50000"/>
              </a:schemeClr>
            </a:solidFill>
          </a:ln>
        </p:spPr>
      </p:pic>
    </p:spTree>
    <p:extLst>
      <p:ext uri="{BB962C8B-B14F-4D97-AF65-F5344CB8AC3E}">
        <p14:creationId xmlns:p14="http://schemas.microsoft.com/office/powerpoint/2010/main" val="1914536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B1BE4-43DB-7C50-49C9-8D3B76FFB7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45FBA-E21A-C2A5-F7A3-243E977778CC}"/>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Reentrancy</a:t>
            </a:r>
          </a:p>
        </p:txBody>
      </p:sp>
      <p:sp>
        <p:nvSpPr>
          <p:cNvPr id="3" name="Content Placeholder 2">
            <a:extLst>
              <a:ext uri="{FF2B5EF4-FFF2-40B4-BE49-F238E27FC236}">
                <a16:creationId xmlns:a16="http://schemas.microsoft.com/office/drawing/2014/main" id="{AFC8CCA6-27D2-C0E8-85CB-E5789D65E119}"/>
              </a:ext>
            </a:extLst>
          </p:cNvPr>
          <p:cNvSpPr>
            <a:spLocks noGrp="1"/>
          </p:cNvSpPr>
          <p:nvPr>
            <p:ph idx="1"/>
          </p:nvPr>
        </p:nvSpPr>
        <p:spPr>
          <a:xfrm>
            <a:off x="838200" y="1027290"/>
            <a:ext cx="10515600" cy="878512"/>
          </a:xfrm>
        </p:spPr>
        <p:txBody>
          <a:bodyPr>
            <a:normAutofit/>
          </a:bodyPr>
          <a:lstStyle/>
          <a:p>
            <a:r>
              <a:rPr lang="en-GB" sz="2000" dirty="0">
                <a:solidFill>
                  <a:srgbClr val="003B66"/>
                </a:solidFill>
                <a:latin typeface="Aptos" panose="020B0004020202020204" pitchFamily="34" charset="0"/>
              </a:rPr>
              <a:t>Reentrancy is the most important setting to get right. It’s the setting that, in my experience, is often misconfigured.</a:t>
            </a:r>
          </a:p>
        </p:txBody>
      </p:sp>
      <p:sp>
        <p:nvSpPr>
          <p:cNvPr id="4" name="Slide Number Placeholder 3">
            <a:extLst>
              <a:ext uri="{FF2B5EF4-FFF2-40B4-BE49-F238E27FC236}">
                <a16:creationId xmlns:a16="http://schemas.microsoft.com/office/drawing/2014/main" id="{B8B2E083-14BB-1036-89EE-37BFD4F6E85D}"/>
              </a:ext>
            </a:extLst>
          </p:cNvPr>
          <p:cNvSpPr>
            <a:spLocks noGrp="1"/>
          </p:cNvSpPr>
          <p:nvPr>
            <p:ph type="sldNum" sz="quarter" idx="12"/>
          </p:nvPr>
        </p:nvSpPr>
        <p:spPr/>
        <p:txBody>
          <a:bodyPr/>
          <a:lstStyle/>
          <a:p>
            <a:fld id="{A5BC3523-C363-4BFA-8941-CE9ECEEECBA2}" type="slidenum">
              <a:rPr lang="en-GB" smtClean="0"/>
              <a:t>8</a:t>
            </a:fld>
            <a:endParaRPr lang="en-GB" dirty="0"/>
          </a:p>
        </p:txBody>
      </p:sp>
      <p:sp>
        <p:nvSpPr>
          <p:cNvPr id="8" name="Content Placeholder 2">
            <a:extLst>
              <a:ext uri="{FF2B5EF4-FFF2-40B4-BE49-F238E27FC236}">
                <a16:creationId xmlns:a16="http://schemas.microsoft.com/office/drawing/2014/main" id="{95D4D193-7E75-D3DD-AE81-5EF5167048CB}"/>
              </a:ext>
            </a:extLst>
          </p:cNvPr>
          <p:cNvSpPr txBox="1">
            <a:spLocks/>
          </p:cNvSpPr>
          <p:nvPr/>
        </p:nvSpPr>
        <p:spPr>
          <a:xfrm>
            <a:off x="838200" y="1720941"/>
            <a:ext cx="5257800" cy="485311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dirty="0">
                <a:solidFill>
                  <a:srgbClr val="003B66"/>
                </a:solidFill>
                <a:latin typeface="Aptos" panose="020B0004020202020204" pitchFamily="34" charset="0"/>
              </a:rPr>
              <a:t>Each LabVIEW VI can use one of three reentrancy options:</a:t>
            </a:r>
          </a:p>
          <a:p>
            <a:pPr lvl="1"/>
            <a:r>
              <a:rPr lang="en-GB" sz="1600" dirty="0">
                <a:solidFill>
                  <a:srgbClr val="003B66"/>
                </a:solidFill>
                <a:latin typeface="Aptos" panose="020B0004020202020204" pitchFamily="34" charset="0"/>
              </a:rPr>
              <a:t>Non-</a:t>
            </a:r>
            <a:r>
              <a:rPr lang="en-GB" sz="1600" dirty="0" err="1">
                <a:solidFill>
                  <a:srgbClr val="003B66"/>
                </a:solidFill>
                <a:latin typeface="Aptos" panose="020B0004020202020204" pitchFamily="34" charset="0"/>
              </a:rPr>
              <a:t>Reentrant</a:t>
            </a:r>
            <a:r>
              <a:rPr lang="en-GB" sz="1600" dirty="0">
                <a:solidFill>
                  <a:srgbClr val="003B66"/>
                </a:solidFill>
                <a:latin typeface="Aptos" panose="020B0004020202020204" pitchFamily="34" charset="0"/>
              </a:rPr>
              <a:t> (NR)</a:t>
            </a:r>
          </a:p>
          <a:p>
            <a:pPr lvl="1"/>
            <a:r>
              <a:rPr lang="en-GB" sz="1600" dirty="0">
                <a:solidFill>
                  <a:srgbClr val="003B66"/>
                </a:solidFill>
                <a:latin typeface="Aptos" panose="020B0004020202020204" pitchFamily="34" charset="0"/>
              </a:rPr>
              <a:t>Shared Clone </a:t>
            </a:r>
            <a:r>
              <a:rPr lang="en-GB" sz="1600" dirty="0" err="1">
                <a:solidFill>
                  <a:srgbClr val="003B66"/>
                </a:solidFill>
                <a:latin typeface="Aptos" panose="020B0004020202020204" pitchFamily="34" charset="0"/>
              </a:rPr>
              <a:t>Reentrant</a:t>
            </a:r>
            <a:r>
              <a:rPr lang="en-GB" sz="1600" dirty="0">
                <a:solidFill>
                  <a:srgbClr val="003B66"/>
                </a:solidFill>
                <a:latin typeface="Aptos" panose="020B0004020202020204" pitchFamily="34" charset="0"/>
              </a:rPr>
              <a:t> (SCR)</a:t>
            </a:r>
          </a:p>
          <a:p>
            <a:pPr lvl="1"/>
            <a:r>
              <a:rPr lang="en-GB" sz="1600" dirty="0" err="1">
                <a:solidFill>
                  <a:srgbClr val="003B66"/>
                </a:solidFill>
                <a:latin typeface="Aptos" panose="020B0004020202020204" pitchFamily="34" charset="0"/>
              </a:rPr>
              <a:t>Preallocated</a:t>
            </a:r>
            <a:r>
              <a:rPr lang="en-GB" sz="1600" dirty="0">
                <a:solidFill>
                  <a:srgbClr val="003B66"/>
                </a:solidFill>
                <a:latin typeface="Aptos" panose="020B0004020202020204" pitchFamily="34" charset="0"/>
              </a:rPr>
              <a:t> Clone </a:t>
            </a:r>
            <a:r>
              <a:rPr lang="en-GB" sz="1600" dirty="0" err="1">
                <a:solidFill>
                  <a:srgbClr val="003B66"/>
                </a:solidFill>
                <a:latin typeface="Aptos" panose="020B0004020202020204" pitchFamily="34" charset="0"/>
              </a:rPr>
              <a:t>Reentrant</a:t>
            </a:r>
            <a:r>
              <a:rPr lang="en-GB" sz="1600" dirty="0">
                <a:solidFill>
                  <a:srgbClr val="003B66"/>
                </a:solidFill>
                <a:latin typeface="Aptos" panose="020B0004020202020204" pitchFamily="34" charset="0"/>
              </a:rPr>
              <a:t> (PCR)</a:t>
            </a:r>
          </a:p>
          <a:p>
            <a:r>
              <a:rPr lang="en-GB" sz="2000" dirty="0">
                <a:solidFill>
                  <a:srgbClr val="003B66"/>
                </a:solidFill>
                <a:latin typeface="Aptos" panose="020B0004020202020204" pitchFamily="34" charset="0"/>
              </a:rPr>
              <a:t>Reentrancy influences </a:t>
            </a:r>
            <a:r>
              <a:rPr lang="en-GB" sz="2000" b="1" dirty="0">
                <a:solidFill>
                  <a:srgbClr val="003B66"/>
                </a:solidFill>
                <a:latin typeface="Aptos" panose="020B0004020202020204" pitchFamily="34" charset="0"/>
              </a:rPr>
              <a:t>multiple execution aspects</a:t>
            </a:r>
            <a:r>
              <a:rPr lang="en-GB" sz="2000" dirty="0">
                <a:solidFill>
                  <a:srgbClr val="003B66"/>
                </a:solidFill>
                <a:latin typeface="Aptos" panose="020B0004020202020204" pitchFamily="34" charset="0"/>
              </a:rPr>
              <a:t> that are normally unrelated. This can make it confusing.</a:t>
            </a:r>
          </a:p>
          <a:p>
            <a:r>
              <a:rPr lang="en-GB" sz="2000" dirty="0">
                <a:solidFill>
                  <a:srgbClr val="003B66"/>
                </a:solidFill>
                <a:latin typeface="Aptos" panose="020B0004020202020204" pitchFamily="34" charset="0"/>
              </a:rPr>
              <a:t>Deciding which setting is </a:t>
            </a:r>
            <a:r>
              <a:rPr lang="en-GB" sz="2000" b="1" dirty="0">
                <a:solidFill>
                  <a:srgbClr val="003B66"/>
                </a:solidFill>
                <a:latin typeface="Aptos" panose="020B0004020202020204" pitchFamily="34" charset="0"/>
              </a:rPr>
              <a:t>best for a given VI</a:t>
            </a:r>
            <a:r>
              <a:rPr lang="en-GB" sz="2000" dirty="0">
                <a:solidFill>
                  <a:srgbClr val="003B66"/>
                </a:solidFill>
                <a:latin typeface="Aptos" panose="020B0004020202020204" pitchFamily="34" charset="0"/>
              </a:rPr>
              <a:t> means evaluating the different effects and selecting the choice that, </a:t>
            </a:r>
            <a:r>
              <a:rPr lang="en-GB" sz="2000" b="1" dirty="0">
                <a:solidFill>
                  <a:srgbClr val="003B66"/>
                </a:solidFill>
                <a:latin typeface="Aptos" panose="020B0004020202020204" pitchFamily="34" charset="0"/>
              </a:rPr>
              <a:t>on balance</a:t>
            </a:r>
            <a:r>
              <a:rPr lang="en-GB" sz="2000" dirty="0">
                <a:solidFill>
                  <a:srgbClr val="003B66"/>
                </a:solidFill>
                <a:latin typeface="Aptos" panose="020B0004020202020204" pitchFamily="34" charset="0"/>
              </a:rPr>
              <a:t>, is the most suitable for the given VI.</a:t>
            </a:r>
          </a:p>
          <a:p>
            <a:r>
              <a:rPr lang="en-GB" sz="2000" dirty="0">
                <a:solidFill>
                  <a:srgbClr val="003B66"/>
                </a:solidFill>
                <a:latin typeface="Aptos" panose="020B0004020202020204" pitchFamily="34" charset="0"/>
              </a:rPr>
              <a:t>Each reentrancy setting has its place. Each was created for a legitimate, useful purpose. Each setting best serves at least one use case.</a:t>
            </a:r>
          </a:p>
        </p:txBody>
      </p:sp>
      <p:grpSp>
        <p:nvGrpSpPr>
          <p:cNvPr id="11" name="Group 10">
            <a:extLst>
              <a:ext uri="{FF2B5EF4-FFF2-40B4-BE49-F238E27FC236}">
                <a16:creationId xmlns:a16="http://schemas.microsoft.com/office/drawing/2014/main" id="{FCA31A5D-9663-00C5-BA84-C61B75DBDD00}"/>
              </a:ext>
            </a:extLst>
          </p:cNvPr>
          <p:cNvGrpSpPr/>
          <p:nvPr/>
        </p:nvGrpSpPr>
        <p:grpSpPr>
          <a:xfrm>
            <a:off x="6096000" y="1449879"/>
            <a:ext cx="5400001" cy="4295691"/>
            <a:chOff x="6096000" y="1449879"/>
            <a:chExt cx="5400001" cy="4295691"/>
          </a:xfrm>
        </p:grpSpPr>
        <p:pic>
          <p:nvPicPr>
            <p:cNvPr id="7" name="Picture 6">
              <a:extLst>
                <a:ext uri="{FF2B5EF4-FFF2-40B4-BE49-F238E27FC236}">
                  <a16:creationId xmlns:a16="http://schemas.microsoft.com/office/drawing/2014/main" id="{AA1F8B66-5B63-A2A2-556F-BC521C8A79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449879"/>
              <a:ext cx="5400000" cy="3587670"/>
            </a:xfrm>
            <a:prstGeom prst="rect">
              <a:avLst/>
            </a:prstGeom>
          </p:spPr>
        </p:pic>
        <p:sp>
          <p:nvSpPr>
            <p:cNvPr id="10" name="Title 1">
              <a:extLst>
                <a:ext uri="{FF2B5EF4-FFF2-40B4-BE49-F238E27FC236}">
                  <a16:creationId xmlns:a16="http://schemas.microsoft.com/office/drawing/2014/main" id="{2A19057C-24AE-D3C2-180E-FCC44110B96A}"/>
                </a:ext>
              </a:extLst>
            </p:cNvPr>
            <p:cNvSpPr txBox="1">
              <a:spLocks/>
            </p:cNvSpPr>
            <p:nvPr/>
          </p:nvSpPr>
          <p:spPr>
            <a:xfrm>
              <a:off x="6096001" y="5083406"/>
              <a:ext cx="5400000" cy="662164"/>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i="1" dirty="0">
                  <a:solidFill>
                    <a:schemeClr val="bg1">
                      <a:lumMod val="50000"/>
                    </a:schemeClr>
                  </a:solidFill>
                  <a:latin typeface="Aptos" panose="020B0004020202020204" pitchFamily="34" charset="0"/>
                </a:rPr>
                <a:t>The three reentrancy options. By default, new VIs use Non-Reentrant (NR).</a:t>
              </a:r>
            </a:p>
          </p:txBody>
        </p:sp>
      </p:grpSp>
      <p:grpSp>
        <p:nvGrpSpPr>
          <p:cNvPr id="17" name="Group 16">
            <a:extLst>
              <a:ext uri="{FF2B5EF4-FFF2-40B4-BE49-F238E27FC236}">
                <a16:creationId xmlns:a16="http://schemas.microsoft.com/office/drawing/2014/main" id="{7316699D-CCC6-4FFA-4A16-89462DB53797}"/>
              </a:ext>
            </a:extLst>
          </p:cNvPr>
          <p:cNvGrpSpPr/>
          <p:nvPr/>
        </p:nvGrpSpPr>
        <p:grpSpPr>
          <a:xfrm>
            <a:off x="1337912" y="3532472"/>
            <a:ext cx="9987013" cy="1731836"/>
            <a:chOff x="1337912" y="3532472"/>
            <a:chExt cx="9987013" cy="1731836"/>
          </a:xfrm>
        </p:grpSpPr>
        <p:cxnSp>
          <p:nvCxnSpPr>
            <p:cNvPr id="13" name="Straight Arrow Connector 12">
              <a:extLst>
                <a:ext uri="{FF2B5EF4-FFF2-40B4-BE49-F238E27FC236}">
                  <a16:creationId xmlns:a16="http://schemas.microsoft.com/office/drawing/2014/main" id="{CFFCAB7A-9C70-7AFF-10BB-202ECAD738F7}"/>
                </a:ext>
              </a:extLst>
            </p:cNvPr>
            <p:cNvCxnSpPr>
              <a:cxnSpLocks/>
            </p:cNvCxnSpPr>
            <p:nvPr/>
          </p:nvCxnSpPr>
          <p:spPr>
            <a:xfrm flipV="1">
              <a:off x="1337912" y="4417996"/>
              <a:ext cx="5005136" cy="846312"/>
            </a:xfrm>
            <a:prstGeom prst="straightConnector1">
              <a:avLst/>
            </a:prstGeom>
            <a:ln w="19050">
              <a:solidFill>
                <a:srgbClr val="003B66"/>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680B1B93-C962-7DE1-B5AD-FB40CAB7458B}"/>
                </a:ext>
              </a:extLst>
            </p:cNvPr>
            <p:cNvSpPr/>
            <p:nvPr/>
          </p:nvSpPr>
          <p:spPr>
            <a:xfrm>
              <a:off x="6439302" y="3532472"/>
              <a:ext cx="4885623" cy="1270534"/>
            </a:xfrm>
            <a:prstGeom prst="rect">
              <a:avLst/>
            </a:prstGeom>
            <a:noFill/>
            <a:ln>
              <a:solidFill>
                <a:srgbClr val="003B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570008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17"/>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1AB11-F473-0B17-F183-AA012B421F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0F5184-B0BF-3D54-5762-2ECF80CADD95}"/>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Non-</a:t>
            </a:r>
            <a:r>
              <a:rPr lang="en-GB" dirty="0" err="1">
                <a:solidFill>
                  <a:srgbClr val="003B66"/>
                </a:solidFill>
                <a:latin typeface="Aptos Display" panose="020B0004020202020204" pitchFamily="34" charset="0"/>
              </a:rPr>
              <a:t>Reentrant</a:t>
            </a:r>
            <a:r>
              <a:rPr lang="en-GB" dirty="0">
                <a:solidFill>
                  <a:srgbClr val="003B66"/>
                </a:solidFill>
                <a:latin typeface="Aptos Display" panose="020B0004020202020204" pitchFamily="34" charset="0"/>
              </a:rPr>
              <a:t> (NR)</a:t>
            </a:r>
          </a:p>
        </p:txBody>
      </p:sp>
      <p:sp>
        <p:nvSpPr>
          <p:cNvPr id="3" name="Content Placeholder 2">
            <a:extLst>
              <a:ext uri="{FF2B5EF4-FFF2-40B4-BE49-F238E27FC236}">
                <a16:creationId xmlns:a16="http://schemas.microsoft.com/office/drawing/2014/main" id="{E54BC97D-D857-39B2-DD1A-E6266AAE396E}"/>
              </a:ext>
            </a:extLst>
          </p:cNvPr>
          <p:cNvSpPr>
            <a:spLocks noGrp="1"/>
          </p:cNvSpPr>
          <p:nvPr>
            <p:ph idx="1"/>
          </p:nvPr>
        </p:nvSpPr>
        <p:spPr>
          <a:xfrm>
            <a:off x="838200" y="1027290"/>
            <a:ext cx="5825690" cy="4160727"/>
          </a:xfrm>
        </p:spPr>
        <p:txBody>
          <a:bodyPr>
            <a:normAutofit/>
          </a:bodyPr>
          <a:lstStyle/>
          <a:p>
            <a:r>
              <a:rPr lang="en-GB" sz="2000" dirty="0">
                <a:solidFill>
                  <a:srgbClr val="003B66"/>
                </a:solidFill>
                <a:latin typeface="Aptos" panose="020B0004020202020204" pitchFamily="34" charset="0"/>
              </a:rPr>
              <a:t>Non-</a:t>
            </a:r>
            <a:r>
              <a:rPr lang="en-GB" sz="2000" dirty="0" err="1">
                <a:solidFill>
                  <a:srgbClr val="003B66"/>
                </a:solidFill>
                <a:latin typeface="Aptos" panose="020B0004020202020204" pitchFamily="34" charset="0"/>
              </a:rPr>
              <a:t>Reentrant</a:t>
            </a:r>
            <a:r>
              <a:rPr lang="en-GB" sz="2000" dirty="0">
                <a:solidFill>
                  <a:srgbClr val="003B66"/>
                </a:solidFill>
                <a:latin typeface="Aptos" panose="020B0004020202020204" pitchFamily="34" charset="0"/>
              </a:rPr>
              <a:t> is the default choice for new VIs.</a:t>
            </a:r>
          </a:p>
          <a:p>
            <a:r>
              <a:rPr lang="en-GB" sz="2000" dirty="0">
                <a:solidFill>
                  <a:srgbClr val="003B66"/>
                </a:solidFill>
                <a:latin typeface="Aptos" panose="020B0004020202020204" pitchFamily="34" charset="0"/>
              </a:rPr>
              <a:t>In my experience, most codebases use mostly Non-</a:t>
            </a:r>
            <a:r>
              <a:rPr lang="en-GB" sz="2000" dirty="0" err="1">
                <a:solidFill>
                  <a:srgbClr val="003B66"/>
                </a:solidFill>
                <a:latin typeface="Aptos" panose="020B0004020202020204" pitchFamily="34" charset="0"/>
              </a:rPr>
              <a:t>Reentrant</a:t>
            </a:r>
            <a:r>
              <a:rPr lang="en-GB" sz="2000" dirty="0">
                <a:solidFill>
                  <a:srgbClr val="003B66"/>
                </a:solidFill>
                <a:latin typeface="Aptos" panose="020B0004020202020204" pitchFamily="34" charset="0"/>
              </a:rPr>
              <a:t> VIs. I believe this results from:</a:t>
            </a:r>
          </a:p>
          <a:p>
            <a:pPr lvl="1"/>
            <a:r>
              <a:rPr lang="en-GB" sz="2000" dirty="0">
                <a:solidFill>
                  <a:srgbClr val="003B66"/>
                </a:solidFill>
                <a:latin typeface="Aptos" panose="020B0004020202020204" pitchFamily="34" charset="0"/>
              </a:rPr>
              <a:t>Non-</a:t>
            </a:r>
            <a:r>
              <a:rPr lang="en-GB" sz="2000" dirty="0" err="1">
                <a:solidFill>
                  <a:srgbClr val="003B66"/>
                </a:solidFill>
                <a:latin typeface="Aptos" panose="020B0004020202020204" pitchFamily="34" charset="0"/>
              </a:rPr>
              <a:t>Reentrant</a:t>
            </a:r>
            <a:r>
              <a:rPr lang="en-GB" sz="2000" dirty="0">
                <a:solidFill>
                  <a:srgbClr val="003B66"/>
                </a:solidFill>
                <a:latin typeface="Aptos" panose="020B0004020202020204" pitchFamily="34" charset="0"/>
              </a:rPr>
              <a:t> being the default setting</a:t>
            </a:r>
          </a:p>
          <a:p>
            <a:pPr lvl="1"/>
            <a:r>
              <a:rPr lang="en-GB" sz="2000" dirty="0">
                <a:solidFill>
                  <a:srgbClr val="003B66"/>
                </a:solidFill>
                <a:latin typeface="Aptos" panose="020B0004020202020204" pitchFamily="34" charset="0"/>
              </a:rPr>
              <a:t>Most programmers, myself included, needing several years before starting to wonder: “</a:t>
            </a:r>
            <a:r>
              <a:rPr lang="en-GB" sz="2000" i="1" dirty="0">
                <a:solidFill>
                  <a:srgbClr val="003B66"/>
                </a:solidFill>
                <a:latin typeface="Aptos" panose="020B0004020202020204" pitchFamily="34" charset="0"/>
              </a:rPr>
              <a:t>What is this reentrancy setting all about? How can I make better choices in this area?</a:t>
            </a:r>
            <a:r>
              <a:rPr lang="en-GB" sz="2000" dirty="0">
                <a:solidFill>
                  <a:srgbClr val="003B66"/>
                </a:solidFill>
                <a:latin typeface="Aptos" panose="020B0004020202020204" pitchFamily="34" charset="0"/>
              </a:rPr>
              <a:t>”.</a:t>
            </a:r>
          </a:p>
          <a:p>
            <a:r>
              <a:rPr lang="en-GB" sz="2000" dirty="0">
                <a:solidFill>
                  <a:srgbClr val="003B66"/>
                </a:solidFill>
                <a:latin typeface="Aptos" panose="020B0004020202020204" pitchFamily="34" charset="0"/>
              </a:rPr>
              <a:t>This presentation aims to encourage people to </a:t>
            </a:r>
            <a:r>
              <a:rPr lang="en-GB" sz="2000" b="1" dirty="0">
                <a:solidFill>
                  <a:srgbClr val="003B66"/>
                </a:solidFill>
                <a:latin typeface="Aptos" panose="020B0004020202020204" pitchFamily="34" charset="0"/>
              </a:rPr>
              <a:t>move away from using so many Non-</a:t>
            </a:r>
            <a:r>
              <a:rPr lang="en-GB" sz="2000" b="1" dirty="0" err="1">
                <a:solidFill>
                  <a:srgbClr val="003B66"/>
                </a:solidFill>
                <a:latin typeface="Aptos" panose="020B0004020202020204" pitchFamily="34" charset="0"/>
              </a:rPr>
              <a:t>reentrant</a:t>
            </a:r>
            <a:r>
              <a:rPr lang="en-GB" sz="2000" b="1" dirty="0">
                <a:solidFill>
                  <a:srgbClr val="003B66"/>
                </a:solidFill>
                <a:latin typeface="Aptos" panose="020B0004020202020204" pitchFamily="34" charset="0"/>
              </a:rPr>
              <a:t> VIs</a:t>
            </a:r>
            <a:r>
              <a:rPr lang="en-GB" sz="2000" dirty="0">
                <a:solidFill>
                  <a:srgbClr val="003B66"/>
                </a:solidFill>
                <a:latin typeface="Aptos" panose="020B0004020202020204" pitchFamily="34" charset="0"/>
              </a:rPr>
              <a:t>! Let’s see why.</a:t>
            </a:r>
          </a:p>
        </p:txBody>
      </p:sp>
      <p:sp>
        <p:nvSpPr>
          <p:cNvPr id="4" name="Slide Number Placeholder 3">
            <a:extLst>
              <a:ext uri="{FF2B5EF4-FFF2-40B4-BE49-F238E27FC236}">
                <a16:creationId xmlns:a16="http://schemas.microsoft.com/office/drawing/2014/main" id="{1B433A14-A35E-51E4-EEBB-D1E8C786725C}"/>
              </a:ext>
            </a:extLst>
          </p:cNvPr>
          <p:cNvSpPr>
            <a:spLocks noGrp="1"/>
          </p:cNvSpPr>
          <p:nvPr>
            <p:ph type="sldNum" sz="quarter" idx="12"/>
          </p:nvPr>
        </p:nvSpPr>
        <p:spPr/>
        <p:txBody>
          <a:bodyPr/>
          <a:lstStyle/>
          <a:p>
            <a:fld id="{A5BC3523-C363-4BFA-8941-CE9ECEEECBA2}" type="slidenum">
              <a:rPr lang="en-GB" smtClean="0"/>
              <a:t>9</a:t>
            </a:fld>
            <a:endParaRPr lang="en-GB" dirty="0"/>
          </a:p>
        </p:txBody>
      </p:sp>
      <p:grpSp>
        <p:nvGrpSpPr>
          <p:cNvPr id="11" name="Group 10">
            <a:extLst>
              <a:ext uri="{FF2B5EF4-FFF2-40B4-BE49-F238E27FC236}">
                <a16:creationId xmlns:a16="http://schemas.microsoft.com/office/drawing/2014/main" id="{A14D2A75-070F-E470-4CD5-F782083CC4C6}"/>
              </a:ext>
            </a:extLst>
          </p:cNvPr>
          <p:cNvGrpSpPr/>
          <p:nvPr/>
        </p:nvGrpSpPr>
        <p:grpSpPr>
          <a:xfrm>
            <a:off x="6663890" y="1027290"/>
            <a:ext cx="5400001" cy="4295691"/>
            <a:chOff x="6096000" y="1449879"/>
            <a:chExt cx="5400001" cy="4295691"/>
          </a:xfrm>
        </p:grpSpPr>
        <p:pic>
          <p:nvPicPr>
            <p:cNvPr id="7" name="Picture 6">
              <a:extLst>
                <a:ext uri="{FF2B5EF4-FFF2-40B4-BE49-F238E27FC236}">
                  <a16:creationId xmlns:a16="http://schemas.microsoft.com/office/drawing/2014/main" id="{1C2E7EB7-1BE5-B2C3-FDE8-2586C3F380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449879"/>
              <a:ext cx="5400000" cy="3587670"/>
            </a:xfrm>
            <a:prstGeom prst="rect">
              <a:avLst/>
            </a:prstGeom>
          </p:spPr>
        </p:pic>
        <p:sp>
          <p:nvSpPr>
            <p:cNvPr id="10" name="Title 1">
              <a:extLst>
                <a:ext uri="{FF2B5EF4-FFF2-40B4-BE49-F238E27FC236}">
                  <a16:creationId xmlns:a16="http://schemas.microsoft.com/office/drawing/2014/main" id="{8C80169D-B018-8FDD-160E-E321522429BB}"/>
                </a:ext>
              </a:extLst>
            </p:cNvPr>
            <p:cNvSpPr txBox="1">
              <a:spLocks/>
            </p:cNvSpPr>
            <p:nvPr/>
          </p:nvSpPr>
          <p:spPr>
            <a:xfrm>
              <a:off x="6096001" y="5083406"/>
              <a:ext cx="5400000" cy="662164"/>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i="1" dirty="0">
                  <a:solidFill>
                    <a:schemeClr val="bg1">
                      <a:lumMod val="50000"/>
                    </a:schemeClr>
                  </a:solidFill>
                  <a:latin typeface="Aptos" panose="020B0004020202020204" pitchFamily="34" charset="0"/>
                </a:rPr>
                <a:t>The three reentrancy options. By default, new VIs use Non-Reentrant (NR).</a:t>
              </a:r>
            </a:p>
          </p:txBody>
        </p:sp>
      </p:grpSp>
    </p:spTree>
    <p:extLst>
      <p:ext uri="{BB962C8B-B14F-4D97-AF65-F5344CB8AC3E}">
        <p14:creationId xmlns:p14="http://schemas.microsoft.com/office/powerpoint/2010/main" val="789343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81E4E-66AF-265E-C18C-387EFCEADF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E41D7-6AC6-60CB-774B-7480FDBEC420}"/>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Non-</a:t>
            </a:r>
            <a:r>
              <a:rPr lang="en-GB" dirty="0" err="1">
                <a:solidFill>
                  <a:srgbClr val="003B66"/>
                </a:solidFill>
                <a:latin typeface="Aptos Display" panose="020B0004020202020204" pitchFamily="34" charset="0"/>
              </a:rPr>
              <a:t>Reentrant</a:t>
            </a:r>
            <a:r>
              <a:rPr lang="en-GB" dirty="0">
                <a:solidFill>
                  <a:srgbClr val="003B66"/>
                </a:solidFill>
                <a:latin typeface="Aptos Display" panose="020B0004020202020204" pitchFamily="34" charset="0"/>
              </a:rPr>
              <a:t> (NR)</a:t>
            </a:r>
          </a:p>
        </p:txBody>
      </p:sp>
      <p:sp>
        <p:nvSpPr>
          <p:cNvPr id="3" name="Content Placeholder 2">
            <a:extLst>
              <a:ext uri="{FF2B5EF4-FFF2-40B4-BE49-F238E27FC236}">
                <a16:creationId xmlns:a16="http://schemas.microsoft.com/office/drawing/2014/main" id="{A2739992-601D-C902-A662-D43EED7E9FFB}"/>
              </a:ext>
            </a:extLst>
          </p:cNvPr>
          <p:cNvSpPr>
            <a:spLocks noGrp="1"/>
          </p:cNvSpPr>
          <p:nvPr>
            <p:ph idx="1"/>
          </p:nvPr>
        </p:nvSpPr>
        <p:spPr>
          <a:xfrm>
            <a:off x="838200" y="1027291"/>
            <a:ext cx="10838512" cy="2081670"/>
          </a:xfrm>
        </p:spPr>
        <p:txBody>
          <a:bodyPr>
            <a:normAutofit/>
          </a:bodyPr>
          <a:lstStyle/>
          <a:p>
            <a:r>
              <a:rPr lang="en-GB" sz="2000" dirty="0">
                <a:solidFill>
                  <a:srgbClr val="003B66"/>
                </a:solidFill>
                <a:latin typeface="Aptos" panose="020B0004020202020204" pitchFamily="34" charset="0"/>
              </a:rPr>
              <a:t>As we know, the same VI can be called in multiple “places”. The technical term for these “places” is </a:t>
            </a:r>
            <a:r>
              <a:rPr lang="en-GB" sz="2000" b="1" dirty="0">
                <a:solidFill>
                  <a:srgbClr val="003B66"/>
                </a:solidFill>
                <a:latin typeface="Aptos" panose="020B0004020202020204" pitchFamily="34" charset="0"/>
              </a:rPr>
              <a:t>call sites</a:t>
            </a:r>
            <a:r>
              <a:rPr lang="en-GB" sz="2000" dirty="0">
                <a:solidFill>
                  <a:srgbClr val="003B66"/>
                </a:solidFill>
                <a:latin typeface="Aptos" panose="020B0004020202020204" pitchFamily="34" charset="0"/>
              </a:rPr>
              <a:t> or </a:t>
            </a:r>
            <a:r>
              <a:rPr lang="en-GB" sz="2000" b="1" dirty="0">
                <a:solidFill>
                  <a:srgbClr val="003B66"/>
                </a:solidFill>
                <a:latin typeface="Aptos" panose="020B0004020202020204" pitchFamily="34" charset="0"/>
              </a:rPr>
              <a:t>call locations</a:t>
            </a:r>
            <a:r>
              <a:rPr lang="en-GB" sz="2000" dirty="0">
                <a:solidFill>
                  <a:srgbClr val="003B66"/>
                </a:solidFill>
                <a:latin typeface="Aptos" panose="020B0004020202020204" pitchFamily="34" charset="0"/>
              </a:rPr>
              <a:t>.</a:t>
            </a:r>
          </a:p>
          <a:p>
            <a:r>
              <a:rPr lang="en-GB" sz="2000" b="1" dirty="0">
                <a:solidFill>
                  <a:srgbClr val="003B66"/>
                </a:solidFill>
                <a:latin typeface="Aptos" panose="020B0004020202020204" pitchFamily="34" charset="0"/>
              </a:rPr>
              <a:t>Multiple call sites</a:t>
            </a:r>
            <a:r>
              <a:rPr lang="en-GB" sz="2000" dirty="0">
                <a:solidFill>
                  <a:srgbClr val="003B66"/>
                </a:solidFill>
                <a:latin typeface="Aptos" panose="020B0004020202020204" pitchFamily="34" charset="0"/>
              </a:rPr>
              <a:t> can reside:</a:t>
            </a:r>
          </a:p>
          <a:p>
            <a:pPr lvl="1"/>
            <a:r>
              <a:rPr lang="en-GB" sz="1600" dirty="0">
                <a:solidFill>
                  <a:srgbClr val="003B66"/>
                </a:solidFill>
                <a:latin typeface="Aptos" panose="020B0004020202020204" pitchFamily="34" charset="0"/>
              </a:rPr>
              <a:t>Inside the same caller VI.</a:t>
            </a:r>
          </a:p>
          <a:p>
            <a:pPr lvl="1"/>
            <a:r>
              <a:rPr lang="en-GB" sz="1600" dirty="0">
                <a:solidFill>
                  <a:srgbClr val="003B66"/>
                </a:solidFill>
                <a:latin typeface="Aptos" panose="020B0004020202020204" pitchFamily="34" charset="0"/>
              </a:rPr>
              <a:t>Inside different caller VIs. These caller VIs could have completely different responsibilities and could be part of </a:t>
            </a:r>
            <a:r>
              <a:rPr lang="en-GB" sz="1600" b="1" dirty="0">
                <a:solidFill>
                  <a:srgbClr val="003B66"/>
                </a:solidFill>
                <a:latin typeface="Aptos" panose="020B0004020202020204" pitchFamily="34" charset="0"/>
              </a:rPr>
              <a:t>completely different classes or libraries</a:t>
            </a:r>
            <a:r>
              <a:rPr lang="en-GB" sz="1600" dirty="0">
                <a:solidFill>
                  <a:srgbClr val="003B66"/>
                </a:solidFill>
                <a:latin typeface="Aptos" panose="020B0004020202020204" pitchFamily="34" charset="0"/>
              </a:rPr>
              <a:t>.</a:t>
            </a:r>
          </a:p>
          <a:p>
            <a:pPr lvl="1"/>
            <a:endParaRPr lang="en-GB" sz="1600" dirty="0">
              <a:solidFill>
                <a:srgbClr val="003B66"/>
              </a:solidFill>
              <a:latin typeface="Aptos" panose="020B0004020202020204" pitchFamily="34" charset="0"/>
            </a:endParaRPr>
          </a:p>
          <a:p>
            <a:pPr lvl="1"/>
            <a:endParaRPr lang="en-GB" sz="1600" dirty="0">
              <a:solidFill>
                <a:srgbClr val="003B66"/>
              </a:solidFill>
              <a:latin typeface="Aptos" panose="020B0004020202020204" pitchFamily="34" charset="0"/>
            </a:endParaRPr>
          </a:p>
          <a:p>
            <a:endParaRPr lang="en-GB" sz="2000" dirty="0">
              <a:solidFill>
                <a:srgbClr val="003B66"/>
              </a:solidFill>
              <a:latin typeface="Aptos" panose="020B0004020202020204" pitchFamily="34" charset="0"/>
            </a:endParaRPr>
          </a:p>
        </p:txBody>
      </p:sp>
      <p:sp>
        <p:nvSpPr>
          <p:cNvPr id="4" name="Slide Number Placeholder 3">
            <a:extLst>
              <a:ext uri="{FF2B5EF4-FFF2-40B4-BE49-F238E27FC236}">
                <a16:creationId xmlns:a16="http://schemas.microsoft.com/office/drawing/2014/main" id="{8C693FAF-2588-483E-B7A0-1D01144D2326}"/>
              </a:ext>
            </a:extLst>
          </p:cNvPr>
          <p:cNvSpPr>
            <a:spLocks noGrp="1"/>
          </p:cNvSpPr>
          <p:nvPr>
            <p:ph type="sldNum" sz="quarter" idx="12"/>
          </p:nvPr>
        </p:nvSpPr>
        <p:spPr/>
        <p:txBody>
          <a:bodyPr/>
          <a:lstStyle/>
          <a:p>
            <a:fld id="{A5BC3523-C363-4BFA-8941-CE9ECEEECBA2}" type="slidenum">
              <a:rPr lang="en-GB" smtClean="0"/>
              <a:t>10</a:t>
            </a:fld>
            <a:endParaRPr lang="en-GB" dirty="0"/>
          </a:p>
        </p:txBody>
      </p:sp>
      <p:grpSp>
        <p:nvGrpSpPr>
          <p:cNvPr id="15" name="Group 14">
            <a:extLst>
              <a:ext uri="{FF2B5EF4-FFF2-40B4-BE49-F238E27FC236}">
                <a16:creationId xmlns:a16="http://schemas.microsoft.com/office/drawing/2014/main" id="{E94C22AF-CC34-C732-941F-804AE698C540}"/>
              </a:ext>
            </a:extLst>
          </p:cNvPr>
          <p:cNvGrpSpPr/>
          <p:nvPr/>
        </p:nvGrpSpPr>
        <p:grpSpPr>
          <a:xfrm>
            <a:off x="838200" y="2863202"/>
            <a:ext cx="3143689" cy="3858273"/>
            <a:chOff x="838200" y="2863202"/>
            <a:chExt cx="3143689" cy="3858273"/>
          </a:xfrm>
        </p:grpSpPr>
        <p:pic>
          <p:nvPicPr>
            <p:cNvPr id="6" name="Picture 5">
              <a:extLst>
                <a:ext uri="{FF2B5EF4-FFF2-40B4-BE49-F238E27FC236}">
                  <a16:creationId xmlns:a16="http://schemas.microsoft.com/office/drawing/2014/main" id="{20843F0C-022D-1FF5-6492-C15C8D3795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863202"/>
              <a:ext cx="3143689" cy="3286584"/>
            </a:xfrm>
            <a:prstGeom prst="rect">
              <a:avLst/>
            </a:prstGeom>
          </p:spPr>
        </p:pic>
        <p:sp>
          <p:nvSpPr>
            <p:cNvPr id="14" name="Title 1">
              <a:extLst>
                <a:ext uri="{FF2B5EF4-FFF2-40B4-BE49-F238E27FC236}">
                  <a16:creationId xmlns:a16="http://schemas.microsoft.com/office/drawing/2014/main" id="{D4A9EF24-CB34-1A6B-6D23-67021610DE75}"/>
                </a:ext>
              </a:extLst>
            </p:cNvPr>
            <p:cNvSpPr txBox="1">
              <a:spLocks/>
            </p:cNvSpPr>
            <p:nvPr/>
          </p:nvSpPr>
          <p:spPr>
            <a:xfrm>
              <a:off x="838200" y="6149786"/>
              <a:ext cx="3143689" cy="571689"/>
            </a:xfrm>
            <a:prstGeom prst="rect">
              <a:avLst/>
            </a:prstGeom>
          </p:spPr>
          <p:txBody>
            <a:bodyPr vert="horz" lIns="91440" tIns="45720" rIns="91440" bIns="45720" rtlCol="0" anchor="t">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i="1" dirty="0">
                  <a:solidFill>
                    <a:schemeClr val="bg1">
                      <a:lumMod val="50000"/>
                    </a:schemeClr>
                  </a:solidFill>
                  <a:latin typeface="Aptos" panose="020B0004020202020204" pitchFamily="34" charset="0"/>
                </a:rPr>
                <a:t>Two call sites of A.vi located inside two loops of the same caller VI.</a:t>
              </a:r>
            </a:p>
          </p:txBody>
        </p:sp>
      </p:grpSp>
      <p:grpSp>
        <p:nvGrpSpPr>
          <p:cNvPr id="26" name="Group 25">
            <a:extLst>
              <a:ext uri="{FF2B5EF4-FFF2-40B4-BE49-F238E27FC236}">
                <a16:creationId xmlns:a16="http://schemas.microsoft.com/office/drawing/2014/main" id="{F1A42632-D9AD-DD98-BCA2-C9226912E264}"/>
              </a:ext>
            </a:extLst>
          </p:cNvPr>
          <p:cNvGrpSpPr/>
          <p:nvPr/>
        </p:nvGrpSpPr>
        <p:grpSpPr>
          <a:xfrm>
            <a:off x="4225489" y="2838751"/>
            <a:ext cx="7878682" cy="3648678"/>
            <a:chOff x="4225489" y="2838751"/>
            <a:chExt cx="7878682" cy="3648678"/>
          </a:xfrm>
        </p:grpSpPr>
        <p:grpSp>
          <p:nvGrpSpPr>
            <p:cNvPr id="22" name="Group 21">
              <a:extLst>
                <a:ext uri="{FF2B5EF4-FFF2-40B4-BE49-F238E27FC236}">
                  <a16:creationId xmlns:a16="http://schemas.microsoft.com/office/drawing/2014/main" id="{2E7EFA56-136E-6785-35E2-0C528D4F7876}"/>
                </a:ext>
              </a:extLst>
            </p:cNvPr>
            <p:cNvGrpSpPr/>
            <p:nvPr/>
          </p:nvGrpSpPr>
          <p:grpSpPr>
            <a:xfrm>
              <a:off x="4476725" y="2906126"/>
              <a:ext cx="7627446" cy="3335749"/>
              <a:chOff x="4476725" y="2906126"/>
              <a:chExt cx="7627446" cy="3335749"/>
            </a:xfrm>
          </p:grpSpPr>
          <p:pic>
            <p:nvPicPr>
              <p:cNvPr id="9" name="Picture 8">
                <a:extLst>
                  <a:ext uri="{FF2B5EF4-FFF2-40B4-BE49-F238E27FC236}">
                    <a16:creationId xmlns:a16="http://schemas.microsoft.com/office/drawing/2014/main" id="{11398280-5653-77E1-363C-31BD38B225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6726" y="2906126"/>
                <a:ext cx="3696216" cy="2924583"/>
              </a:xfrm>
              <a:prstGeom prst="rect">
                <a:avLst/>
              </a:prstGeom>
            </p:spPr>
          </p:pic>
          <p:pic>
            <p:nvPicPr>
              <p:cNvPr id="12" name="Picture 11">
                <a:extLst>
                  <a:ext uri="{FF2B5EF4-FFF2-40B4-BE49-F238E27FC236}">
                    <a16:creationId xmlns:a16="http://schemas.microsoft.com/office/drawing/2014/main" id="{E4DD1FB4-D905-639A-1590-847DCD4CAA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07955" y="2906126"/>
                <a:ext cx="3696216" cy="2924583"/>
              </a:xfrm>
              <a:prstGeom prst="rect">
                <a:avLst/>
              </a:prstGeom>
            </p:spPr>
          </p:pic>
          <p:sp>
            <p:nvSpPr>
              <p:cNvPr id="17" name="Title 1">
                <a:extLst>
                  <a:ext uri="{FF2B5EF4-FFF2-40B4-BE49-F238E27FC236}">
                    <a16:creationId xmlns:a16="http://schemas.microsoft.com/office/drawing/2014/main" id="{64B3308B-294E-BF36-5224-3C22084C87E6}"/>
                  </a:ext>
                </a:extLst>
              </p:cNvPr>
              <p:cNvSpPr txBox="1">
                <a:spLocks/>
              </p:cNvSpPr>
              <p:nvPr/>
            </p:nvSpPr>
            <p:spPr>
              <a:xfrm>
                <a:off x="4476725" y="5876749"/>
                <a:ext cx="7627445" cy="365126"/>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i="1" dirty="0">
                    <a:solidFill>
                      <a:schemeClr val="bg1">
                        <a:lumMod val="50000"/>
                      </a:schemeClr>
                    </a:solidFill>
                    <a:latin typeface="Aptos" panose="020B0004020202020204" pitchFamily="34" charset="0"/>
                  </a:rPr>
                  <a:t>Two call sites of A.vi located in different caller VIs.</a:t>
                </a:r>
              </a:p>
            </p:txBody>
          </p:sp>
          <p:sp>
            <p:nvSpPr>
              <p:cNvPr id="19" name="Title 1">
                <a:extLst>
                  <a:ext uri="{FF2B5EF4-FFF2-40B4-BE49-F238E27FC236}">
                    <a16:creationId xmlns:a16="http://schemas.microsoft.com/office/drawing/2014/main" id="{905AF015-59F7-90B4-86F9-D374EA428156}"/>
                  </a:ext>
                </a:extLst>
              </p:cNvPr>
              <p:cNvSpPr txBox="1">
                <a:spLocks/>
              </p:cNvSpPr>
              <p:nvPr/>
            </p:nvSpPr>
            <p:spPr>
              <a:xfrm>
                <a:off x="4725378" y="3169361"/>
                <a:ext cx="3119211" cy="882874"/>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i="1" dirty="0">
                    <a:solidFill>
                      <a:schemeClr val="bg1">
                        <a:lumMod val="50000"/>
                      </a:schemeClr>
                    </a:solidFill>
                    <a:latin typeface="Aptos" panose="020B0004020202020204" pitchFamily="34" charset="0"/>
                  </a:rPr>
                  <a:t>Call Site 1: Could be inside the main VI of a DQMH module, an AF actor, or a Worker.</a:t>
                </a:r>
              </a:p>
            </p:txBody>
          </p:sp>
          <p:sp>
            <p:nvSpPr>
              <p:cNvPr id="21" name="Title 1">
                <a:extLst>
                  <a:ext uri="{FF2B5EF4-FFF2-40B4-BE49-F238E27FC236}">
                    <a16:creationId xmlns:a16="http://schemas.microsoft.com/office/drawing/2014/main" id="{F8840F60-1578-22A3-0F80-90C4EF1C5B53}"/>
                  </a:ext>
                </a:extLst>
              </p:cNvPr>
              <p:cNvSpPr txBox="1">
                <a:spLocks/>
              </p:cNvSpPr>
              <p:nvPr/>
            </p:nvSpPr>
            <p:spPr>
              <a:xfrm>
                <a:off x="8696457" y="3155000"/>
                <a:ext cx="3119211" cy="1003114"/>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i="1" dirty="0">
                    <a:solidFill>
                      <a:schemeClr val="bg1">
                        <a:lumMod val="50000"/>
                      </a:schemeClr>
                    </a:solidFill>
                    <a:latin typeface="Aptos" panose="020B0004020202020204" pitchFamily="34" charset="0"/>
                  </a:rPr>
                  <a:t>Call Site 2: Could be inside the main VI of a different DQMH module, AF actor, or Worker.</a:t>
                </a:r>
              </a:p>
            </p:txBody>
          </p:sp>
        </p:grpSp>
        <p:cxnSp>
          <p:nvCxnSpPr>
            <p:cNvPr id="24" name="Straight Connector 23">
              <a:extLst>
                <a:ext uri="{FF2B5EF4-FFF2-40B4-BE49-F238E27FC236}">
                  <a16:creationId xmlns:a16="http://schemas.microsoft.com/office/drawing/2014/main" id="{024078E4-9113-A089-72BE-415300F2F2E3}"/>
                </a:ext>
              </a:extLst>
            </p:cNvPr>
            <p:cNvCxnSpPr>
              <a:cxnSpLocks/>
            </p:cNvCxnSpPr>
            <p:nvPr/>
          </p:nvCxnSpPr>
          <p:spPr>
            <a:xfrm>
              <a:off x="4225489" y="2838751"/>
              <a:ext cx="0" cy="3648678"/>
            </a:xfrm>
            <a:prstGeom prst="line">
              <a:avLst/>
            </a:prstGeom>
            <a:ln w="19050" cap="flat" cmpd="sng" algn="ctr">
              <a:solidFill>
                <a:schemeClr val="bg1">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2980875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62D11-5CE1-24F7-CB29-6DCD28C1F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7CEBF1-39A1-EAB4-A464-669BC26CBE8F}"/>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Non-</a:t>
            </a:r>
            <a:r>
              <a:rPr lang="en-GB" dirty="0" err="1">
                <a:solidFill>
                  <a:srgbClr val="003B66"/>
                </a:solidFill>
                <a:latin typeface="Aptos Display" panose="020B0004020202020204" pitchFamily="34" charset="0"/>
              </a:rPr>
              <a:t>Reentrant</a:t>
            </a:r>
            <a:r>
              <a:rPr lang="en-GB" dirty="0">
                <a:solidFill>
                  <a:srgbClr val="003B66"/>
                </a:solidFill>
                <a:latin typeface="Aptos Display" panose="020B0004020202020204" pitchFamily="34" charset="0"/>
              </a:rPr>
              <a:t> (NR)</a:t>
            </a:r>
          </a:p>
        </p:txBody>
      </p:sp>
      <p:sp>
        <p:nvSpPr>
          <p:cNvPr id="3" name="Content Placeholder 2">
            <a:extLst>
              <a:ext uri="{FF2B5EF4-FFF2-40B4-BE49-F238E27FC236}">
                <a16:creationId xmlns:a16="http://schemas.microsoft.com/office/drawing/2014/main" id="{77EFC68F-7626-1872-854B-9734958973C0}"/>
              </a:ext>
            </a:extLst>
          </p:cNvPr>
          <p:cNvSpPr>
            <a:spLocks noGrp="1"/>
          </p:cNvSpPr>
          <p:nvPr>
            <p:ph idx="1"/>
          </p:nvPr>
        </p:nvSpPr>
        <p:spPr>
          <a:xfrm>
            <a:off x="838200" y="1027291"/>
            <a:ext cx="10838512" cy="4228104"/>
          </a:xfrm>
        </p:spPr>
        <p:txBody>
          <a:bodyPr>
            <a:normAutofit/>
          </a:bodyPr>
          <a:lstStyle/>
          <a:p>
            <a:r>
              <a:rPr lang="en-GB" sz="2000" b="1" dirty="0">
                <a:solidFill>
                  <a:srgbClr val="003B66"/>
                </a:solidFill>
                <a:latin typeface="Aptos" panose="020B0004020202020204" pitchFamily="34" charset="0"/>
              </a:rPr>
              <a:t>Exactly one instance</a:t>
            </a:r>
            <a:r>
              <a:rPr lang="en-GB" sz="2000" dirty="0">
                <a:solidFill>
                  <a:srgbClr val="003B66"/>
                </a:solidFill>
                <a:latin typeface="Aptos" panose="020B0004020202020204" pitchFamily="34" charset="0"/>
              </a:rPr>
              <a:t> of a Non-</a:t>
            </a:r>
            <a:r>
              <a:rPr lang="en-GB" sz="2000" dirty="0" err="1">
                <a:solidFill>
                  <a:srgbClr val="003B66"/>
                </a:solidFill>
                <a:latin typeface="Aptos" panose="020B0004020202020204" pitchFamily="34" charset="0"/>
              </a:rPr>
              <a:t>Reentrant</a:t>
            </a:r>
            <a:r>
              <a:rPr lang="en-GB" sz="2000" dirty="0">
                <a:solidFill>
                  <a:srgbClr val="003B66"/>
                </a:solidFill>
                <a:latin typeface="Aptos" panose="020B0004020202020204" pitchFamily="34" charset="0"/>
              </a:rPr>
              <a:t> VI is stored in memory. This is the </a:t>
            </a:r>
            <a:r>
              <a:rPr lang="en-GB" sz="2000" b="1" dirty="0">
                <a:solidFill>
                  <a:srgbClr val="003B66"/>
                </a:solidFill>
                <a:latin typeface="Aptos" panose="020B0004020202020204" pitchFamily="34" charset="0"/>
              </a:rPr>
              <a:t>defining feature</a:t>
            </a:r>
            <a:r>
              <a:rPr lang="en-GB" sz="2000" dirty="0">
                <a:solidFill>
                  <a:srgbClr val="003B66"/>
                </a:solidFill>
                <a:latin typeface="Aptos" panose="020B0004020202020204" pitchFamily="34" charset="0"/>
              </a:rPr>
              <a:t> of NR VIs. NR’s pros and cons stem from it.</a:t>
            </a:r>
          </a:p>
          <a:p>
            <a:r>
              <a:rPr lang="en-GB" sz="2000" dirty="0">
                <a:solidFill>
                  <a:srgbClr val="003B66"/>
                </a:solidFill>
                <a:latin typeface="Aptos" panose="020B0004020202020204" pitchFamily="34" charset="0"/>
              </a:rPr>
              <a:t>At any moment in time the NR instance that exists in memory is either idle (not executing) or is executing in exactly one call site. This is true regardless of how many call sites there are or how those call sites are distributed in the codebase.</a:t>
            </a:r>
          </a:p>
          <a:p>
            <a:r>
              <a:rPr lang="en-GB" sz="2000" dirty="0">
                <a:solidFill>
                  <a:srgbClr val="003B66"/>
                </a:solidFill>
                <a:latin typeface="Aptos" panose="020B0004020202020204" pitchFamily="34" charset="0"/>
              </a:rPr>
              <a:t>Two or more code sites may need to execute the NR instance at the same time (</a:t>
            </a:r>
            <a:r>
              <a:rPr lang="en-GB" sz="2000" b="1" dirty="0">
                <a:solidFill>
                  <a:srgbClr val="003B66"/>
                </a:solidFill>
                <a:latin typeface="Aptos" panose="020B0004020202020204" pitchFamily="34" charset="0"/>
              </a:rPr>
              <a:t>collision</a:t>
            </a:r>
            <a:r>
              <a:rPr lang="en-GB" sz="2000" dirty="0">
                <a:solidFill>
                  <a:srgbClr val="003B66"/>
                </a:solidFill>
                <a:latin typeface="Aptos" panose="020B0004020202020204" pitchFamily="34" charset="0"/>
              </a:rPr>
              <a:t>). For example, a call site may wish to start executing the instance before the instance finished executing in another call site. Two instances of the same NR VI cannot exist in memory at the same time. Therefore, the second call site </a:t>
            </a:r>
            <a:r>
              <a:rPr lang="en-GB" sz="2000" b="1" dirty="0">
                <a:solidFill>
                  <a:srgbClr val="003B66"/>
                </a:solidFill>
                <a:latin typeface="Aptos" panose="020B0004020202020204" pitchFamily="34" charset="0"/>
              </a:rPr>
              <a:t>will wait</a:t>
            </a:r>
            <a:r>
              <a:rPr lang="en-GB" sz="2000" dirty="0">
                <a:solidFill>
                  <a:srgbClr val="003B66"/>
                </a:solidFill>
                <a:latin typeface="Aptos" panose="020B0004020202020204" pitchFamily="34" charset="0"/>
              </a:rPr>
              <a:t> until the NR instance finished executing in the first call site.</a:t>
            </a:r>
            <a:endParaRPr lang="en-GB" sz="1600" dirty="0">
              <a:solidFill>
                <a:srgbClr val="003B66"/>
              </a:solidFill>
              <a:latin typeface="Aptos" panose="020B0004020202020204" pitchFamily="34" charset="0"/>
            </a:endParaRPr>
          </a:p>
          <a:p>
            <a:endParaRPr lang="en-GB" sz="2000" dirty="0">
              <a:solidFill>
                <a:srgbClr val="003B66"/>
              </a:solidFill>
              <a:latin typeface="Aptos" panose="020B0004020202020204" pitchFamily="34" charset="0"/>
            </a:endParaRPr>
          </a:p>
        </p:txBody>
      </p:sp>
      <p:sp>
        <p:nvSpPr>
          <p:cNvPr id="4" name="Slide Number Placeholder 3">
            <a:extLst>
              <a:ext uri="{FF2B5EF4-FFF2-40B4-BE49-F238E27FC236}">
                <a16:creationId xmlns:a16="http://schemas.microsoft.com/office/drawing/2014/main" id="{AC1C36B6-9BA0-E997-2967-359645AA8CD7}"/>
              </a:ext>
            </a:extLst>
          </p:cNvPr>
          <p:cNvSpPr>
            <a:spLocks noGrp="1"/>
          </p:cNvSpPr>
          <p:nvPr>
            <p:ph type="sldNum" sz="quarter" idx="12"/>
          </p:nvPr>
        </p:nvSpPr>
        <p:spPr/>
        <p:txBody>
          <a:bodyPr/>
          <a:lstStyle/>
          <a:p>
            <a:fld id="{A5BC3523-C363-4BFA-8941-CE9ECEEECBA2}" type="slidenum">
              <a:rPr lang="en-GB" smtClean="0"/>
              <a:t>11</a:t>
            </a:fld>
            <a:endParaRPr lang="en-GB" dirty="0"/>
          </a:p>
        </p:txBody>
      </p:sp>
    </p:spTree>
    <p:extLst>
      <p:ext uri="{BB962C8B-B14F-4D97-AF65-F5344CB8AC3E}">
        <p14:creationId xmlns:p14="http://schemas.microsoft.com/office/powerpoint/2010/main" val="2007256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E07CF-3B73-7E5F-B41D-08638177FA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31086C-C64D-2632-16EB-4704AC9AB49B}"/>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Non-</a:t>
            </a:r>
            <a:r>
              <a:rPr lang="en-GB" dirty="0" err="1">
                <a:solidFill>
                  <a:srgbClr val="003B66"/>
                </a:solidFill>
                <a:latin typeface="Aptos Display" panose="020B0004020202020204" pitchFamily="34" charset="0"/>
              </a:rPr>
              <a:t>Reentrant</a:t>
            </a:r>
            <a:r>
              <a:rPr lang="en-GB" dirty="0">
                <a:solidFill>
                  <a:srgbClr val="003B66"/>
                </a:solidFill>
                <a:latin typeface="Aptos Display" panose="020B0004020202020204" pitchFamily="34" charset="0"/>
              </a:rPr>
              <a:t> (NR)</a:t>
            </a:r>
          </a:p>
        </p:txBody>
      </p:sp>
      <p:sp>
        <p:nvSpPr>
          <p:cNvPr id="3" name="Content Placeholder 2">
            <a:extLst>
              <a:ext uri="{FF2B5EF4-FFF2-40B4-BE49-F238E27FC236}">
                <a16:creationId xmlns:a16="http://schemas.microsoft.com/office/drawing/2014/main" id="{FAAC07FE-18E0-A22E-9BEF-314B8FAA28EF}"/>
              </a:ext>
            </a:extLst>
          </p:cNvPr>
          <p:cNvSpPr>
            <a:spLocks noGrp="1"/>
          </p:cNvSpPr>
          <p:nvPr>
            <p:ph idx="1"/>
          </p:nvPr>
        </p:nvSpPr>
        <p:spPr>
          <a:xfrm>
            <a:off x="838200" y="1027292"/>
            <a:ext cx="10838512" cy="5132876"/>
          </a:xfrm>
        </p:spPr>
        <p:txBody>
          <a:bodyPr>
            <a:normAutofit/>
          </a:bodyPr>
          <a:lstStyle/>
          <a:p>
            <a:r>
              <a:rPr lang="en-GB" sz="2000" dirty="0">
                <a:solidFill>
                  <a:srgbClr val="003B66"/>
                </a:solidFill>
                <a:latin typeface="Aptos" panose="020B0004020202020204" pitchFamily="34" charset="0"/>
              </a:rPr>
              <a:t>This example demonstrates that:</a:t>
            </a:r>
          </a:p>
          <a:p>
            <a:pPr lvl="1"/>
            <a:r>
              <a:rPr lang="en-GB" sz="2000" dirty="0">
                <a:solidFill>
                  <a:srgbClr val="003B66"/>
                </a:solidFill>
                <a:latin typeface="Aptos" panose="020B0004020202020204" pitchFamily="34" charset="0"/>
              </a:rPr>
              <a:t>Call sites </a:t>
            </a:r>
            <a:r>
              <a:rPr lang="en-GB" sz="2000" b="1" dirty="0">
                <a:solidFill>
                  <a:srgbClr val="003B66"/>
                </a:solidFill>
                <a:latin typeface="Aptos" panose="020B0004020202020204" pitchFamily="34" charset="0"/>
              </a:rPr>
              <a:t>may have to wait on one another</a:t>
            </a:r>
            <a:r>
              <a:rPr lang="en-GB" sz="2000" dirty="0">
                <a:solidFill>
                  <a:srgbClr val="003B66"/>
                </a:solidFill>
                <a:latin typeface="Aptos" panose="020B0004020202020204" pitchFamily="34" charset="0"/>
              </a:rPr>
              <a:t>. </a:t>
            </a:r>
            <a:r>
              <a:rPr lang="en-GB" sz="2000" dirty="0">
                <a:solidFill>
                  <a:srgbClr val="C00000"/>
                </a:solidFill>
                <a:latin typeface="Aptos" panose="020B0004020202020204" pitchFamily="34" charset="0"/>
              </a:rPr>
              <a:t>(Collision Overhead)</a:t>
            </a:r>
          </a:p>
          <a:p>
            <a:pPr lvl="2"/>
            <a:r>
              <a:rPr lang="en-GB" dirty="0">
                <a:solidFill>
                  <a:srgbClr val="003B66"/>
                </a:solidFill>
                <a:latin typeface="Aptos" panose="020B0004020202020204" pitchFamily="34" charset="0"/>
              </a:rPr>
              <a:t>This reduces app performance, but only when a collision occurs (when two or more call sites try to run the NR VI at the same time).</a:t>
            </a:r>
          </a:p>
          <a:p>
            <a:pPr lvl="1"/>
            <a:r>
              <a:rPr lang="en-GB" sz="2000" dirty="0">
                <a:solidFill>
                  <a:srgbClr val="003B66"/>
                </a:solidFill>
                <a:latin typeface="Aptos" panose="020B0004020202020204" pitchFamily="34" charset="0"/>
              </a:rPr>
              <a:t>LabVIEW must use a co-ordination mechanism that ensures the second call site waits until the NR instance is free to run again. This mechanism executes each time the NR instance is called. It adds a </a:t>
            </a:r>
            <a:r>
              <a:rPr lang="en-GB" sz="2000" b="1" dirty="0">
                <a:solidFill>
                  <a:srgbClr val="003B66"/>
                </a:solidFill>
                <a:latin typeface="Aptos" panose="020B0004020202020204" pitchFamily="34" charset="0"/>
              </a:rPr>
              <a:t>computational overhead </a:t>
            </a:r>
            <a:r>
              <a:rPr lang="en-GB" sz="2000" dirty="0">
                <a:solidFill>
                  <a:srgbClr val="C00000"/>
                </a:solidFill>
                <a:latin typeface="Aptos" panose="020B0004020202020204" pitchFamily="34" charset="0"/>
              </a:rPr>
              <a:t>(Co-ordination Overhead) </a:t>
            </a:r>
            <a:r>
              <a:rPr lang="en-GB" sz="2000" dirty="0">
                <a:solidFill>
                  <a:srgbClr val="003B66"/>
                </a:solidFill>
                <a:latin typeface="Aptos" panose="020B0004020202020204" pitchFamily="34" charset="0"/>
              </a:rPr>
              <a:t>to each call of the NR VI, regardless of whether collisions are occurring or not.</a:t>
            </a:r>
          </a:p>
          <a:p>
            <a:pPr lvl="2"/>
            <a:r>
              <a:rPr lang="en-GB" dirty="0">
                <a:solidFill>
                  <a:srgbClr val="003B66"/>
                </a:solidFill>
                <a:latin typeface="Aptos" panose="020B0004020202020204" pitchFamily="34" charset="0"/>
              </a:rPr>
              <a:t>Technical details: LabVIEW must maintain a data structure for each NR VI. When a call site starts executing, LabVIEW updates the data structure to record that the instance is busy. When the call site finishes executing, LabVIEW updates the data structure to record that the instance is free to run again. This is the basic implementation of a mutex (mutual exclusion) lock.</a:t>
            </a:r>
          </a:p>
          <a:p>
            <a:pPr lvl="2"/>
            <a:r>
              <a:rPr lang="en-GB" dirty="0">
                <a:solidFill>
                  <a:srgbClr val="003B66"/>
                </a:solidFill>
                <a:latin typeface="Aptos" panose="020B0004020202020204" pitchFamily="34" charset="0"/>
              </a:rPr>
              <a:t>The co-ordination mechanism reduces app performance further.</a:t>
            </a:r>
          </a:p>
          <a:p>
            <a:pPr marL="457200" lvl="1" indent="0">
              <a:buNone/>
            </a:pPr>
            <a:endParaRPr lang="en-GB" sz="1600" dirty="0">
              <a:solidFill>
                <a:srgbClr val="003B66"/>
              </a:solidFill>
              <a:latin typeface="Aptos" panose="020B0004020202020204" pitchFamily="34" charset="0"/>
            </a:endParaRPr>
          </a:p>
          <a:p>
            <a:endParaRPr lang="en-GB" sz="2000" dirty="0">
              <a:solidFill>
                <a:srgbClr val="003B66"/>
              </a:solidFill>
              <a:latin typeface="Aptos" panose="020B0004020202020204" pitchFamily="34" charset="0"/>
            </a:endParaRPr>
          </a:p>
        </p:txBody>
      </p:sp>
      <p:sp>
        <p:nvSpPr>
          <p:cNvPr id="4" name="Slide Number Placeholder 3">
            <a:extLst>
              <a:ext uri="{FF2B5EF4-FFF2-40B4-BE49-F238E27FC236}">
                <a16:creationId xmlns:a16="http://schemas.microsoft.com/office/drawing/2014/main" id="{E35811B1-EB6D-7BEA-518A-C306BA8AAC50}"/>
              </a:ext>
            </a:extLst>
          </p:cNvPr>
          <p:cNvSpPr>
            <a:spLocks noGrp="1"/>
          </p:cNvSpPr>
          <p:nvPr>
            <p:ph type="sldNum" sz="quarter" idx="12"/>
          </p:nvPr>
        </p:nvSpPr>
        <p:spPr/>
        <p:txBody>
          <a:bodyPr/>
          <a:lstStyle/>
          <a:p>
            <a:fld id="{A5BC3523-C363-4BFA-8941-CE9ECEEECBA2}" type="slidenum">
              <a:rPr lang="en-GB" smtClean="0"/>
              <a:t>12</a:t>
            </a:fld>
            <a:endParaRPr lang="en-GB" dirty="0"/>
          </a:p>
        </p:txBody>
      </p:sp>
    </p:spTree>
    <p:extLst>
      <p:ext uri="{BB962C8B-B14F-4D97-AF65-F5344CB8AC3E}">
        <p14:creationId xmlns:p14="http://schemas.microsoft.com/office/powerpoint/2010/main" val="378437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74614-E668-BE2B-6CDD-DC19AFC06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FFF78E-2C4A-2CEC-8245-46278C938FC9}"/>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Non-</a:t>
            </a:r>
            <a:r>
              <a:rPr lang="en-GB" dirty="0" err="1">
                <a:solidFill>
                  <a:srgbClr val="003B66"/>
                </a:solidFill>
                <a:latin typeface="Aptos Display" panose="020B0004020202020204" pitchFamily="34" charset="0"/>
              </a:rPr>
              <a:t>Reentrant</a:t>
            </a:r>
            <a:r>
              <a:rPr lang="en-GB" dirty="0">
                <a:solidFill>
                  <a:srgbClr val="003B66"/>
                </a:solidFill>
                <a:latin typeface="Aptos Display" panose="020B0004020202020204" pitchFamily="34" charset="0"/>
              </a:rPr>
              <a:t> (NR) – Analogy</a:t>
            </a:r>
          </a:p>
        </p:txBody>
      </p:sp>
      <p:sp>
        <p:nvSpPr>
          <p:cNvPr id="3" name="Content Placeholder 2">
            <a:extLst>
              <a:ext uri="{FF2B5EF4-FFF2-40B4-BE49-F238E27FC236}">
                <a16:creationId xmlns:a16="http://schemas.microsoft.com/office/drawing/2014/main" id="{794DE85B-CCCC-55E6-F256-64C63196AE29}"/>
              </a:ext>
            </a:extLst>
          </p:cNvPr>
          <p:cNvSpPr>
            <a:spLocks noGrp="1"/>
          </p:cNvSpPr>
          <p:nvPr>
            <p:ph idx="1"/>
          </p:nvPr>
        </p:nvSpPr>
        <p:spPr>
          <a:xfrm>
            <a:off x="838200" y="1027292"/>
            <a:ext cx="10838512" cy="5132876"/>
          </a:xfrm>
        </p:spPr>
        <p:txBody>
          <a:bodyPr>
            <a:normAutofit/>
          </a:bodyPr>
          <a:lstStyle/>
          <a:p>
            <a:r>
              <a:rPr lang="en-GB" sz="2000" dirty="0">
                <a:solidFill>
                  <a:srgbClr val="003B66"/>
                </a:solidFill>
                <a:latin typeface="Aptos" panose="020B0004020202020204" pitchFamily="34" charset="0"/>
                <a:hlinkClick r:id="rId3"/>
              </a:rPr>
              <a:t>Lord Of The Flies film</a:t>
            </a:r>
            <a:r>
              <a:rPr lang="en-GB" sz="2000" dirty="0">
                <a:solidFill>
                  <a:srgbClr val="003B66"/>
                </a:solidFill>
                <a:latin typeface="Aptos" panose="020B0004020202020204" pitchFamily="34" charset="0"/>
              </a:rPr>
              <a:t> (1963, 1990, 2026)</a:t>
            </a:r>
          </a:p>
        </p:txBody>
      </p:sp>
      <p:sp>
        <p:nvSpPr>
          <p:cNvPr id="4" name="Slide Number Placeholder 3">
            <a:extLst>
              <a:ext uri="{FF2B5EF4-FFF2-40B4-BE49-F238E27FC236}">
                <a16:creationId xmlns:a16="http://schemas.microsoft.com/office/drawing/2014/main" id="{3A04EB1D-55AA-FF5B-A7E4-697921E86CF3}"/>
              </a:ext>
            </a:extLst>
          </p:cNvPr>
          <p:cNvSpPr>
            <a:spLocks noGrp="1"/>
          </p:cNvSpPr>
          <p:nvPr>
            <p:ph type="sldNum" sz="quarter" idx="12"/>
          </p:nvPr>
        </p:nvSpPr>
        <p:spPr/>
        <p:txBody>
          <a:bodyPr/>
          <a:lstStyle/>
          <a:p>
            <a:fld id="{A5BC3523-C363-4BFA-8941-CE9ECEEECBA2}" type="slidenum">
              <a:rPr lang="en-GB" smtClean="0"/>
              <a:t>13</a:t>
            </a:fld>
            <a:endParaRPr lang="en-GB" dirty="0"/>
          </a:p>
        </p:txBody>
      </p:sp>
      <p:grpSp>
        <p:nvGrpSpPr>
          <p:cNvPr id="9" name="Group 8">
            <a:extLst>
              <a:ext uri="{FF2B5EF4-FFF2-40B4-BE49-F238E27FC236}">
                <a16:creationId xmlns:a16="http://schemas.microsoft.com/office/drawing/2014/main" id="{DEDE9AD0-A235-DE5D-AB7B-1D4094BFD6C3}"/>
              </a:ext>
            </a:extLst>
          </p:cNvPr>
          <p:cNvGrpSpPr/>
          <p:nvPr/>
        </p:nvGrpSpPr>
        <p:grpSpPr>
          <a:xfrm>
            <a:off x="515288" y="1700742"/>
            <a:ext cx="10980712" cy="3037500"/>
            <a:chOff x="515288" y="2176230"/>
            <a:chExt cx="10980712" cy="3037500"/>
          </a:xfrm>
        </p:grpSpPr>
        <p:pic>
          <p:nvPicPr>
            <p:cNvPr id="6" name="Picture 5">
              <a:extLst>
                <a:ext uri="{FF2B5EF4-FFF2-40B4-BE49-F238E27FC236}">
                  <a16:creationId xmlns:a16="http://schemas.microsoft.com/office/drawing/2014/main" id="{1B7A09AE-E2C3-027A-33DF-8CFC957989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5288" y="2176230"/>
              <a:ext cx="5400000" cy="2835000"/>
            </a:xfrm>
            <a:prstGeom prst="rect">
              <a:avLst/>
            </a:prstGeom>
            <a:ln>
              <a:solidFill>
                <a:schemeClr val="bg1">
                  <a:lumMod val="50000"/>
                </a:schemeClr>
              </a:solidFill>
            </a:ln>
          </p:spPr>
        </p:pic>
        <p:pic>
          <p:nvPicPr>
            <p:cNvPr id="8" name="Picture 7">
              <a:extLst>
                <a:ext uri="{FF2B5EF4-FFF2-40B4-BE49-F238E27FC236}">
                  <a16:creationId xmlns:a16="http://schemas.microsoft.com/office/drawing/2014/main" id="{1A1D9AFB-49E2-90A8-BCC5-BAA3F102F2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0" y="2176230"/>
              <a:ext cx="5400000" cy="3037500"/>
            </a:xfrm>
            <a:prstGeom prst="rect">
              <a:avLst/>
            </a:prstGeom>
            <a:ln>
              <a:solidFill>
                <a:schemeClr val="bg1">
                  <a:lumMod val="50000"/>
                </a:schemeClr>
              </a:solidFill>
            </a:ln>
          </p:spPr>
        </p:pic>
      </p:grpSp>
    </p:spTree>
    <p:extLst>
      <p:ext uri="{BB962C8B-B14F-4D97-AF65-F5344CB8AC3E}">
        <p14:creationId xmlns:p14="http://schemas.microsoft.com/office/powerpoint/2010/main" val="2328075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ED243-9D5C-1DDA-D3D4-100E1E8D6F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CB178B-81A5-FD47-0AAF-8EF4AE9DE883}"/>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Non-</a:t>
            </a:r>
            <a:r>
              <a:rPr lang="en-GB" dirty="0" err="1">
                <a:solidFill>
                  <a:srgbClr val="003B66"/>
                </a:solidFill>
                <a:latin typeface="Aptos Display" panose="020B0004020202020204" pitchFamily="34" charset="0"/>
              </a:rPr>
              <a:t>Reentrant</a:t>
            </a:r>
            <a:r>
              <a:rPr lang="en-GB" dirty="0">
                <a:solidFill>
                  <a:srgbClr val="003B66"/>
                </a:solidFill>
                <a:latin typeface="Aptos Display" panose="020B0004020202020204" pitchFamily="34" charset="0"/>
              </a:rPr>
              <a:t> (NR)</a:t>
            </a:r>
          </a:p>
        </p:txBody>
      </p:sp>
      <p:sp>
        <p:nvSpPr>
          <p:cNvPr id="3" name="Content Placeholder 2">
            <a:extLst>
              <a:ext uri="{FF2B5EF4-FFF2-40B4-BE49-F238E27FC236}">
                <a16:creationId xmlns:a16="http://schemas.microsoft.com/office/drawing/2014/main" id="{8A01A9F5-B96A-2FCB-EF4D-2281EF37CD11}"/>
              </a:ext>
            </a:extLst>
          </p:cNvPr>
          <p:cNvSpPr>
            <a:spLocks noGrp="1"/>
          </p:cNvSpPr>
          <p:nvPr>
            <p:ph idx="1"/>
          </p:nvPr>
        </p:nvSpPr>
        <p:spPr>
          <a:xfrm>
            <a:off x="828575" y="3499904"/>
            <a:ext cx="10838512" cy="3358095"/>
          </a:xfrm>
        </p:spPr>
        <p:txBody>
          <a:bodyPr>
            <a:noAutofit/>
          </a:bodyPr>
          <a:lstStyle/>
          <a:p>
            <a:r>
              <a:rPr lang="en-GB" sz="2000" dirty="0">
                <a:solidFill>
                  <a:srgbClr val="003B66"/>
                </a:solidFill>
                <a:latin typeface="Aptos" panose="020B0004020202020204" pitchFamily="34" charset="0"/>
              </a:rPr>
              <a:t>In my experience most programmers are aware of the </a:t>
            </a:r>
            <a:r>
              <a:rPr lang="en-GB" sz="2000" dirty="0">
                <a:solidFill>
                  <a:srgbClr val="C00000"/>
                </a:solidFill>
                <a:latin typeface="Aptos" panose="020B0004020202020204" pitchFamily="34" charset="0"/>
              </a:rPr>
              <a:t>Collision Overhead </a:t>
            </a:r>
            <a:r>
              <a:rPr lang="en-GB" sz="2000" dirty="0">
                <a:solidFill>
                  <a:srgbClr val="003B66"/>
                </a:solidFill>
                <a:latin typeface="Aptos" panose="020B0004020202020204" pitchFamily="34" charset="0"/>
              </a:rPr>
              <a:t>but are unaware of the  </a:t>
            </a:r>
            <a:r>
              <a:rPr lang="en-GB" sz="2000" dirty="0">
                <a:solidFill>
                  <a:srgbClr val="C00000"/>
                </a:solidFill>
                <a:latin typeface="Aptos" panose="020B0004020202020204" pitchFamily="34" charset="0"/>
              </a:rPr>
              <a:t>Co-ordination Overhead</a:t>
            </a:r>
            <a:r>
              <a:rPr lang="en-GB" sz="2000" dirty="0">
                <a:solidFill>
                  <a:srgbClr val="003B66"/>
                </a:solidFill>
                <a:latin typeface="Aptos" panose="020B0004020202020204" pitchFamily="34" charset="0"/>
              </a:rPr>
              <a:t>.</a:t>
            </a:r>
          </a:p>
          <a:p>
            <a:r>
              <a:rPr lang="en-GB" sz="2000" dirty="0">
                <a:solidFill>
                  <a:srgbClr val="003B66"/>
                </a:solidFill>
                <a:latin typeface="Aptos" panose="020B0004020202020204" pitchFamily="34" charset="0"/>
              </a:rPr>
              <a:t>The</a:t>
            </a:r>
            <a:r>
              <a:rPr lang="en-GB" sz="2000" dirty="0">
                <a:solidFill>
                  <a:srgbClr val="C00000"/>
                </a:solidFill>
                <a:latin typeface="Aptos" panose="020B0004020202020204" pitchFamily="34" charset="0"/>
              </a:rPr>
              <a:t> Collision Overhead</a:t>
            </a:r>
            <a:r>
              <a:rPr lang="en-GB" sz="2000" dirty="0">
                <a:solidFill>
                  <a:srgbClr val="003B66"/>
                </a:solidFill>
                <a:latin typeface="Aptos" panose="020B0004020202020204" pitchFamily="34" charset="0"/>
              </a:rPr>
              <a:t> can be the most dangerous. It can lead to noticeably sluggish behaviour and bugs. This is especially true if the VI takes more than a few hundred milliseconds to execute and its call sites run in parallel loops (lots of collisions).</a:t>
            </a:r>
          </a:p>
          <a:p>
            <a:pPr lvl="1"/>
            <a:r>
              <a:rPr lang="en-GB" sz="2000" dirty="0">
                <a:solidFill>
                  <a:srgbClr val="003B66"/>
                </a:solidFill>
                <a:latin typeface="Aptos" panose="020B0004020202020204" pitchFamily="34" charset="0"/>
              </a:rPr>
              <a:t>However, collisions don’t necessarily happen on each call. Apps can use lots of NR VIs and still experience a low number of or even zero collisions.</a:t>
            </a:r>
          </a:p>
          <a:p>
            <a:r>
              <a:rPr lang="en-GB" sz="2000" dirty="0">
                <a:solidFill>
                  <a:srgbClr val="003B66"/>
                </a:solidFill>
                <a:latin typeface="Aptos" panose="020B0004020202020204" pitchFamily="34" charset="0"/>
              </a:rPr>
              <a:t>The </a:t>
            </a:r>
            <a:r>
              <a:rPr lang="en-GB" sz="2000" dirty="0">
                <a:solidFill>
                  <a:srgbClr val="C00000"/>
                </a:solidFill>
                <a:latin typeface="Aptos" panose="020B0004020202020204" pitchFamily="34" charset="0"/>
              </a:rPr>
              <a:t>Co-ordination Overhead</a:t>
            </a:r>
            <a:r>
              <a:rPr lang="en-GB" sz="2000" dirty="0">
                <a:solidFill>
                  <a:srgbClr val="003B66"/>
                </a:solidFill>
                <a:latin typeface="Aptos" panose="020B0004020202020204" pitchFamily="34" charset="0"/>
              </a:rPr>
              <a:t> is </a:t>
            </a:r>
            <a:r>
              <a:rPr lang="en-GB" sz="2000" b="1" dirty="0">
                <a:solidFill>
                  <a:srgbClr val="003B66"/>
                </a:solidFill>
                <a:latin typeface="Aptos" panose="020B0004020202020204" pitchFamily="34" charset="0"/>
              </a:rPr>
              <a:t>small per VI call but significant in aggregate</a:t>
            </a:r>
            <a:r>
              <a:rPr lang="en-GB" sz="2000" dirty="0">
                <a:solidFill>
                  <a:srgbClr val="003B66"/>
                </a:solidFill>
                <a:latin typeface="Aptos" panose="020B0004020202020204" pitchFamily="34" charset="0"/>
              </a:rPr>
              <a:t>. This overhead occurs on each and every call to a Non-</a:t>
            </a:r>
            <a:r>
              <a:rPr lang="en-GB" sz="2000" dirty="0" err="1">
                <a:solidFill>
                  <a:srgbClr val="003B66"/>
                </a:solidFill>
                <a:latin typeface="Aptos" panose="020B0004020202020204" pitchFamily="34" charset="0"/>
              </a:rPr>
              <a:t>Reentrant</a:t>
            </a:r>
            <a:r>
              <a:rPr lang="en-GB" sz="2000" dirty="0">
                <a:solidFill>
                  <a:srgbClr val="003B66"/>
                </a:solidFill>
                <a:latin typeface="Aptos" panose="020B0004020202020204" pitchFamily="34" charset="0"/>
              </a:rPr>
              <a:t> VI.</a:t>
            </a:r>
          </a:p>
          <a:p>
            <a:r>
              <a:rPr lang="en-GB" sz="2000" dirty="0">
                <a:solidFill>
                  <a:srgbClr val="003B66"/>
                </a:solidFill>
                <a:latin typeface="Aptos" panose="020B0004020202020204" pitchFamily="34" charset="0"/>
              </a:rPr>
              <a:t>We need to get rid of the overheads to achieve better performance.</a:t>
            </a:r>
          </a:p>
        </p:txBody>
      </p:sp>
      <p:sp>
        <p:nvSpPr>
          <p:cNvPr id="4" name="Slide Number Placeholder 3">
            <a:extLst>
              <a:ext uri="{FF2B5EF4-FFF2-40B4-BE49-F238E27FC236}">
                <a16:creationId xmlns:a16="http://schemas.microsoft.com/office/drawing/2014/main" id="{01BBDA00-48EC-2743-4DDB-C0F00AE343B1}"/>
              </a:ext>
            </a:extLst>
          </p:cNvPr>
          <p:cNvSpPr>
            <a:spLocks noGrp="1"/>
          </p:cNvSpPr>
          <p:nvPr>
            <p:ph type="sldNum" sz="quarter" idx="12"/>
          </p:nvPr>
        </p:nvSpPr>
        <p:spPr/>
        <p:txBody>
          <a:bodyPr/>
          <a:lstStyle/>
          <a:p>
            <a:fld id="{A5BC3523-C363-4BFA-8941-CE9ECEEECBA2}" type="slidenum">
              <a:rPr lang="en-GB" smtClean="0"/>
              <a:t>14</a:t>
            </a:fld>
            <a:endParaRPr lang="en-GB" dirty="0"/>
          </a:p>
        </p:txBody>
      </p:sp>
      <p:grpSp>
        <p:nvGrpSpPr>
          <p:cNvPr id="33" name="Group 32">
            <a:extLst>
              <a:ext uri="{FF2B5EF4-FFF2-40B4-BE49-F238E27FC236}">
                <a16:creationId xmlns:a16="http://schemas.microsoft.com/office/drawing/2014/main" id="{3322BB60-D3D4-F4A3-B2D1-2F2BE0275E5D}"/>
              </a:ext>
            </a:extLst>
          </p:cNvPr>
          <p:cNvGrpSpPr/>
          <p:nvPr/>
        </p:nvGrpSpPr>
        <p:grpSpPr>
          <a:xfrm>
            <a:off x="307833" y="1003502"/>
            <a:ext cx="11850412" cy="2496402"/>
            <a:chOff x="307833" y="1003502"/>
            <a:chExt cx="11850412" cy="2496402"/>
          </a:xfrm>
        </p:grpSpPr>
        <p:grpSp>
          <p:nvGrpSpPr>
            <p:cNvPr id="66" name="Group 65">
              <a:extLst>
                <a:ext uri="{FF2B5EF4-FFF2-40B4-BE49-F238E27FC236}">
                  <a16:creationId xmlns:a16="http://schemas.microsoft.com/office/drawing/2014/main" id="{23B6919E-DD90-80F1-5F17-76DBD4D7B466}"/>
                </a:ext>
              </a:extLst>
            </p:cNvPr>
            <p:cNvGrpSpPr/>
            <p:nvPr/>
          </p:nvGrpSpPr>
          <p:grpSpPr>
            <a:xfrm>
              <a:off x="307833" y="1003502"/>
              <a:ext cx="11850412" cy="2496402"/>
              <a:chOff x="307833" y="4458971"/>
              <a:chExt cx="11850412" cy="2496402"/>
            </a:xfrm>
          </p:grpSpPr>
          <p:cxnSp>
            <p:nvCxnSpPr>
              <p:cNvPr id="39" name="Straight Connector 38">
                <a:extLst>
                  <a:ext uri="{FF2B5EF4-FFF2-40B4-BE49-F238E27FC236}">
                    <a16:creationId xmlns:a16="http://schemas.microsoft.com/office/drawing/2014/main" id="{492869CF-33B2-2F9F-ADDB-2422E88CC1FB}"/>
                  </a:ext>
                </a:extLst>
              </p:cNvPr>
              <p:cNvCxnSpPr>
                <a:cxnSpLocks/>
              </p:cNvCxnSpPr>
              <p:nvPr/>
            </p:nvCxnSpPr>
            <p:spPr>
              <a:xfrm rot="5400000">
                <a:off x="6886239" y="4751815"/>
                <a:ext cx="0" cy="1188000"/>
              </a:xfrm>
              <a:prstGeom prst="line">
                <a:avLst/>
              </a:prstGeom>
              <a:ln w="19050">
                <a:solidFill>
                  <a:srgbClr val="003B66"/>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65" name="Group 64">
                <a:extLst>
                  <a:ext uri="{FF2B5EF4-FFF2-40B4-BE49-F238E27FC236}">
                    <a16:creationId xmlns:a16="http://schemas.microsoft.com/office/drawing/2014/main" id="{0E2A0AB2-FC8A-7609-948D-3AB93A58E8C5}"/>
                  </a:ext>
                </a:extLst>
              </p:cNvPr>
              <p:cNvGrpSpPr/>
              <p:nvPr/>
            </p:nvGrpSpPr>
            <p:grpSpPr>
              <a:xfrm>
                <a:off x="307833" y="4458971"/>
                <a:ext cx="11850412" cy="2496402"/>
                <a:chOff x="307833" y="4458971"/>
                <a:chExt cx="11850412" cy="2496402"/>
              </a:xfrm>
            </p:grpSpPr>
            <p:grpSp>
              <p:nvGrpSpPr>
                <p:cNvPr id="63" name="Group 62">
                  <a:extLst>
                    <a:ext uri="{FF2B5EF4-FFF2-40B4-BE49-F238E27FC236}">
                      <a16:creationId xmlns:a16="http://schemas.microsoft.com/office/drawing/2014/main" id="{C4938DED-F2BF-B32A-D637-561B5F25079A}"/>
                    </a:ext>
                  </a:extLst>
                </p:cNvPr>
                <p:cNvGrpSpPr/>
                <p:nvPr/>
              </p:nvGrpSpPr>
              <p:grpSpPr>
                <a:xfrm>
                  <a:off x="307833" y="4706752"/>
                  <a:ext cx="11850412" cy="1554689"/>
                  <a:chOff x="307833" y="4639377"/>
                  <a:chExt cx="11850412" cy="1554689"/>
                </a:xfrm>
              </p:grpSpPr>
              <p:grpSp>
                <p:nvGrpSpPr>
                  <p:cNvPr id="17" name="Group 16">
                    <a:extLst>
                      <a:ext uri="{FF2B5EF4-FFF2-40B4-BE49-F238E27FC236}">
                        <a16:creationId xmlns:a16="http://schemas.microsoft.com/office/drawing/2014/main" id="{57E350AA-1E95-3768-6AA1-542CE7F9FAC3}"/>
                      </a:ext>
                    </a:extLst>
                  </p:cNvPr>
                  <p:cNvGrpSpPr/>
                  <p:nvPr/>
                </p:nvGrpSpPr>
                <p:grpSpPr>
                  <a:xfrm>
                    <a:off x="1309036" y="5787037"/>
                    <a:ext cx="10849209" cy="407029"/>
                    <a:chOff x="1309036" y="5573027"/>
                    <a:chExt cx="10849209" cy="407029"/>
                  </a:xfrm>
                </p:grpSpPr>
                <p:cxnSp>
                  <p:nvCxnSpPr>
                    <p:cNvPr id="6" name="Straight Arrow Connector 5">
                      <a:extLst>
                        <a:ext uri="{FF2B5EF4-FFF2-40B4-BE49-F238E27FC236}">
                          <a16:creationId xmlns:a16="http://schemas.microsoft.com/office/drawing/2014/main" id="{C2F47905-021C-2F2B-107A-17A2EF6CA868}"/>
                        </a:ext>
                      </a:extLst>
                    </p:cNvPr>
                    <p:cNvCxnSpPr>
                      <a:cxnSpLocks/>
                    </p:cNvCxnSpPr>
                    <p:nvPr/>
                  </p:nvCxnSpPr>
                  <p:spPr>
                    <a:xfrm>
                      <a:off x="1309036" y="5573027"/>
                      <a:ext cx="10367676" cy="0"/>
                    </a:xfrm>
                    <a:prstGeom prst="straightConnector1">
                      <a:avLst/>
                    </a:prstGeom>
                    <a:ln w="19050">
                      <a:solidFill>
                        <a:srgbClr val="003B66"/>
                      </a:solidFill>
                      <a:tailEnd type="triangle"/>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0C1EBB9E-F9F7-FC4F-B988-B82650CDAE46}"/>
                        </a:ext>
                      </a:extLst>
                    </p:cNvPr>
                    <p:cNvSpPr txBox="1">
                      <a:spLocks/>
                    </p:cNvSpPr>
                    <p:nvPr/>
                  </p:nvSpPr>
                  <p:spPr>
                    <a:xfrm>
                      <a:off x="11099261" y="5614933"/>
                      <a:ext cx="1058984" cy="365123"/>
                    </a:xfrm>
                    <a:prstGeom prst="rect">
                      <a:avLst/>
                    </a:prstGeom>
                  </p:spPr>
                  <p:txBody>
                    <a:bodyPr vert="horz" lIns="91440" tIns="45720" rIns="91440" bIns="45720" rtlCol="0" anchor="ctr">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rgbClr val="003B66"/>
                          </a:solidFill>
                          <a:latin typeface="Aptos" panose="020B0004020202020204" pitchFamily="34" charset="0"/>
                        </a:rPr>
                        <a:t>Time</a:t>
                      </a:r>
                      <a:endParaRPr lang="en-US" sz="1600" dirty="0">
                        <a:solidFill>
                          <a:srgbClr val="003B66"/>
                        </a:solidFill>
                        <a:latin typeface="Aptos" panose="020B0004020202020204" pitchFamily="34" charset="0"/>
                      </a:endParaRPr>
                    </a:p>
                  </p:txBody>
                </p:sp>
              </p:grpSp>
              <p:sp>
                <p:nvSpPr>
                  <p:cNvPr id="16" name="Title 1">
                    <a:extLst>
                      <a:ext uri="{FF2B5EF4-FFF2-40B4-BE49-F238E27FC236}">
                        <a16:creationId xmlns:a16="http://schemas.microsoft.com/office/drawing/2014/main" id="{8ECAD05E-CA50-6180-9139-F775E4485CAB}"/>
                      </a:ext>
                    </a:extLst>
                  </p:cNvPr>
                  <p:cNvSpPr txBox="1">
                    <a:spLocks/>
                  </p:cNvSpPr>
                  <p:nvPr/>
                </p:nvSpPr>
                <p:spPr>
                  <a:xfrm>
                    <a:off x="307833" y="4639377"/>
                    <a:ext cx="1336141" cy="359997"/>
                  </a:xfrm>
                  <a:prstGeom prst="rect">
                    <a:avLst/>
                  </a:prstGeom>
                </p:spPr>
                <p:txBody>
                  <a:bodyPr vert="horz" lIns="91440" tIns="45720" rIns="91440" bIns="45720" rtlCol="0" anchor="ctr">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rgbClr val="003B66"/>
                        </a:solidFill>
                        <a:latin typeface="Aptos" panose="020B0004020202020204" pitchFamily="34" charset="0"/>
                      </a:rPr>
                      <a:t>Call Site 1</a:t>
                    </a:r>
                    <a:endParaRPr lang="en-US" sz="1600" dirty="0">
                      <a:solidFill>
                        <a:srgbClr val="003B66"/>
                      </a:solidFill>
                      <a:latin typeface="Aptos" panose="020B0004020202020204" pitchFamily="34" charset="0"/>
                    </a:endParaRPr>
                  </a:p>
                </p:txBody>
              </p:sp>
              <p:sp>
                <p:nvSpPr>
                  <p:cNvPr id="28" name="Title 1">
                    <a:extLst>
                      <a:ext uri="{FF2B5EF4-FFF2-40B4-BE49-F238E27FC236}">
                        <a16:creationId xmlns:a16="http://schemas.microsoft.com/office/drawing/2014/main" id="{05920307-DF75-1BBC-7A36-CD78882D9DD7}"/>
                      </a:ext>
                    </a:extLst>
                  </p:cNvPr>
                  <p:cNvSpPr txBox="1">
                    <a:spLocks/>
                  </p:cNvSpPr>
                  <p:nvPr/>
                </p:nvSpPr>
                <p:spPr>
                  <a:xfrm>
                    <a:off x="307833" y="5335366"/>
                    <a:ext cx="1336141" cy="359997"/>
                  </a:xfrm>
                  <a:prstGeom prst="rect">
                    <a:avLst/>
                  </a:prstGeom>
                </p:spPr>
                <p:txBody>
                  <a:bodyPr vert="horz" lIns="91440" tIns="45720" rIns="91440" bIns="45720" rtlCol="0" anchor="ctr">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rgbClr val="003B66"/>
                        </a:solidFill>
                        <a:latin typeface="Aptos" panose="020B0004020202020204" pitchFamily="34" charset="0"/>
                      </a:rPr>
                      <a:t>Call Site 2</a:t>
                    </a:r>
                    <a:endParaRPr lang="en-US" sz="1600" dirty="0">
                      <a:solidFill>
                        <a:srgbClr val="003B66"/>
                      </a:solidFill>
                      <a:latin typeface="Aptos" panose="020B0004020202020204" pitchFamily="34" charset="0"/>
                    </a:endParaRPr>
                  </a:p>
                </p:txBody>
              </p:sp>
            </p:grpSp>
            <p:grpSp>
              <p:nvGrpSpPr>
                <p:cNvPr id="64" name="Group 63">
                  <a:extLst>
                    <a:ext uri="{FF2B5EF4-FFF2-40B4-BE49-F238E27FC236}">
                      <a16:creationId xmlns:a16="http://schemas.microsoft.com/office/drawing/2014/main" id="{C4ED13E7-7F88-15EC-434F-151F6511486C}"/>
                    </a:ext>
                  </a:extLst>
                </p:cNvPr>
                <p:cNvGrpSpPr/>
                <p:nvPr/>
              </p:nvGrpSpPr>
              <p:grpSpPr>
                <a:xfrm>
                  <a:off x="1778703" y="4639377"/>
                  <a:ext cx="8308282" cy="1124805"/>
                  <a:chOff x="1778703" y="4639377"/>
                  <a:chExt cx="8308282" cy="1124805"/>
                </a:xfrm>
              </p:grpSpPr>
              <p:grpSp>
                <p:nvGrpSpPr>
                  <p:cNvPr id="18" name="Group 17">
                    <a:extLst>
                      <a:ext uri="{FF2B5EF4-FFF2-40B4-BE49-F238E27FC236}">
                        <a16:creationId xmlns:a16="http://schemas.microsoft.com/office/drawing/2014/main" id="{C9769B51-AF93-7DEC-598A-D4630DB668A6}"/>
                      </a:ext>
                    </a:extLst>
                  </p:cNvPr>
                  <p:cNvGrpSpPr/>
                  <p:nvPr/>
                </p:nvGrpSpPr>
                <p:grpSpPr>
                  <a:xfrm>
                    <a:off x="1778703" y="4639377"/>
                    <a:ext cx="2535751" cy="360000"/>
                    <a:chOff x="1778703" y="4639377"/>
                    <a:chExt cx="2535751" cy="360000"/>
                  </a:xfrm>
                </p:grpSpPr>
                <p:sp>
                  <p:nvSpPr>
                    <p:cNvPr id="10" name="Rectangle 9">
                      <a:extLst>
                        <a:ext uri="{FF2B5EF4-FFF2-40B4-BE49-F238E27FC236}">
                          <a16:creationId xmlns:a16="http://schemas.microsoft.com/office/drawing/2014/main" id="{733EA4C2-C09C-545F-6B35-1A4DF3A96E54}"/>
                        </a:ext>
                      </a:extLst>
                    </p:cNvPr>
                    <p:cNvSpPr/>
                    <p:nvPr/>
                  </p:nvSpPr>
                  <p:spPr>
                    <a:xfrm>
                      <a:off x="2146434" y="4639377"/>
                      <a:ext cx="1800000" cy="360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VI Code</a:t>
                      </a:r>
                    </a:p>
                  </p:txBody>
                </p:sp>
                <p:sp>
                  <p:nvSpPr>
                    <p:cNvPr id="12" name="Rectangle 11">
                      <a:extLst>
                        <a:ext uri="{FF2B5EF4-FFF2-40B4-BE49-F238E27FC236}">
                          <a16:creationId xmlns:a16="http://schemas.microsoft.com/office/drawing/2014/main" id="{23E01A98-7840-FFB0-FF40-96C7654D0BE6}"/>
                        </a:ext>
                      </a:extLst>
                    </p:cNvPr>
                    <p:cNvSpPr/>
                    <p:nvPr/>
                  </p:nvSpPr>
                  <p:spPr>
                    <a:xfrm>
                      <a:off x="1778703" y="4639377"/>
                      <a:ext cx="360000" cy="360000"/>
                    </a:xfrm>
                    <a:prstGeom prst="rect">
                      <a:avLst/>
                    </a:prstGeom>
                    <a:pattFill prst="pct10">
                      <a:fgClr>
                        <a:srgbClr val="FF9999"/>
                      </a:fgClr>
                      <a:bgClr>
                        <a:schemeClr val="bg1"/>
                      </a:bgClr>
                    </a:pattFill>
                    <a:ln>
                      <a:solidFill>
                        <a:srgbClr val="FF99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95A2C3FA-F8CB-2750-2FE4-7CFBA0EC786D}"/>
                        </a:ext>
                      </a:extLst>
                    </p:cNvPr>
                    <p:cNvSpPr/>
                    <p:nvPr/>
                  </p:nvSpPr>
                  <p:spPr>
                    <a:xfrm>
                      <a:off x="3954454" y="4639377"/>
                      <a:ext cx="360000" cy="360000"/>
                    </a:xfrm>
                    <a:prstGeom prst="rect">
                      <a:avLst/>
                    </a:prstGeom>
                    <a:pattFill prst="pct10">
                      <a:fgClr>
                        <a:srgbClr val="FF9999"/>
                      </a:fgClr>
                      <a:bgClr>
                        <a:schemeClr val="bg1"/>
                      </a:bgClr>
                    </a:pattFill>
                    <a:ln>
                      <a:solidFill>
                        <a:srgbClr val="FF99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a:extLst>
                      <a:ext uri="{FF2B5EF4-FFF2-40B4-BE49-F238E27FC236}">
                        <a16:creationId xmlns:a16="http://schemas.microsoft.com/office/drawing/2014/main" id="{3EFB0509-B65C-AD94-B1AF-0FB3D8D2FB58}"/>
                      </a:ext>
                    </a:extLst>
                  </p:cNvPr>
                  <p:cNvGrpSpPr/>
                  <p:nvPr/>
                </p:nvGrpSpPr>
                <p:grpSpPr>
                  <a:xfrm>
                    <a:off x="4989580" y="4639377"/>
                    <a:ext cx="2535751" cy="360000"/>
                    <a:chOff x="1778703" y="4639377"/>
                    <a:chExt cx="2535751" cy="360000"/>
                  </a:xfrm>
                </p:grpSpPr>
                <p:sp>
                  <p:nvSpPr>
                    <p:cNvPr id="20" name="Rectangle 19">
                      <a:extLst>
                        <a:ext uri="{FF2B5EF4-FFF2-40B4-BE49-F238E27FC236}">
                          <a16:creationId xmlns:a16="http://schemas.microsoft.com/office/drawing/2014/main" id="{396AC018-0364-DDEF-E960-824F8F8E85F7}"/>
                        </a:ext>
                      </a:extLst>
                    </p:cNvPr>
                    <p:cNvSpPr/>
                    <p:nvPr/>
                  </p:nvSpPr>
                  <p:spPr>
                    <a:xfrm>
                      <a:off x="2146434" y="4639377"/>
                      <a:ext cx="1800000" cy="360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VI Code</a:t>
                      </a:r>
                    </a:p>
                  </p:txBody>
                </p:sp>
                <p:sp>
                  <p:nvSpPr>
                    <p:cNvPr id="21" name="Rectangle 20">
                      <a:extLst>
                        <a:ext uri="{FF2B5EF4-FFF2-40B4-BE49-F238E27FC236}">
                          <a16:creationId xmlns:a16="http://schemas.microsoft.com/office/drawing/2014/main" id="{96CB4553-0D59-CCD0-0456-906D99A050A5}"/>
                        </a:ext>
                      </a:extLst>
                    </p:cNvPr>
                    <p:cNvSpPr/>
                    <p:nvPr/>
                  </p:nvSpPr>
                  <p:spPr>
                    <a:xfrm>
                      <a:off x="1778703" y="4639377"/>
                      <a:ext cx="360000" cy="360000"/>
                    </a:xfrm>
                    <a:prstGeom prst="rect">
                      <a:avLst/>
                    </a:prstGeom>
                    <a:pattFill prst="pct10">
                      <a:fgClr>
                        <a:srgbClr val="FF9999"/>
                      </a:fgClr>
                      <a:bgClr>
                        <a:schemeClr val="bg1"/>
                      </a:bgClr>
                    </a:pattFill>
                    <a:ln>
                      <a:solidFill>
                        <a:srgbClr val="FF99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DB01FDF6-EAF9-BD00-E0B7-0417975D9D7A}"/>
                        </a:ext>
                      </a:extLst>
                    </p:cNvPr>
                    <p:cNvSpPr/>
                    <p:nvPr/>
                  </p:nvSpPr>
                  <p:spPr>
                    <a:xfrm>
                      <a:off x="3954454" y="4639377"/>
                      <a:ext cx="360000" cy="360000"/>
                    </a:xfrm>
                    <a:prstGeom prst="rect">
                      <a:avLst/>
                    </a:prstGeom>
                    <a:pattFill prst="pct10">
                      <a:fgClr>
                        <a:srgbClr val="FF9999"/>
                      </a:fgClr>
                      <a:bgClr>
                        <a:schemeClr val="bg1"/>
                      </a:bgClr>
                    </a:pattFill>
                    <a:ln>
                      <a:solidFill>
                        <a:srgbClr val="FF99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3" name="Group 22">
                    <a:extLst>
                      <a:ext uri="{FF2B5EF4-FFF2-40B4-BE49-F238E27FC236}">
                        <a16:creationId xmlns:a16="http://schemas.microsoft.com/office/drawing/2014/main" id="{5F5399B4-F103-BCF4-3FD9-A586B0F9430E}"/>
                      </a:ext>
                    </a:extLst>
                  </p:cNvPr>
                  <p:cNvGrpSpPr/>
                  <p:nvPr/>
                </p:nvGrpSpPr>
                <p:grpSpPr>
                  <a:xfrm>
                    <a:off x="7551234" y="5404182"/>
                    <a:ext cx="2535751" cy="360000"/>
                    <a:chOff x="1778703" y="4639377"/>
                    <a:chExt cx="2535751" cy="360000"/>
                  </a:xfrm>
                </p:grpSpPr>
                <p:sp>
                  <p:nvSpPr>
                    <p:cNvPr id="24" name="Rectangle 23">
                      <a:extLst>
                        <a:ext uri="{FF2B5EF4-FFF2-40B4-BE49-F238E27FC236}">
                          <a16:creationId xmlns:a16="http://schemas.microsoft.com/office/drawing/2014/main" id="{239FE045-62B2-37B1-6C4D-745F17E366FE}"/>
                        </a:ext>
                      </a:extLst>
                    </p:cNvPr>
                    <p:cNvSpPr/>
                    <p:nvPr/>
                  </p:nvSpPr>
                  <p:spPr>
                    <a:xfrm>
                      <a:off x="2146434" y="4639377"/>
                      <a:ext cx="1800000" cy="360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VI Code</a:t>
                      </a:r>
                    </a:p>
                  </p:txBody>
                </p:sp>
                <p:sp>
                  <p:nvSpPr>
                    <p:cNvPr id="25" name="Rectangle 24">
                      <a:extLst>
                        <a:ext uri="{FF2B5EF4-FFF2-40B4-BE49-F238E27FC236}">
                          <a16:creationId xmlns:a16="http://schemas.microsoft.com/office/drawing/2014/main" id="{0D8864F6-A489-2E53-308A-696830C82634}"/>
                        </a:ext>
                      </a:extLst>
                    </p:cNvPr>
                    <p:cNvSpPr/>
                    <p:nvPr/>
                  </p:nvSpPr>
                  <p:spPr>
                    <a:xfrm>
                      <a:off x="1778703" y="4639377"/>
                      <a:ext cx="360000" cy="360000"/>
                    </a:xfrm>
                    <a:prstGeom prst="rect">
                      <a:avLst/>
                    </a:prstGeom>
                    <a:pattFill prst="pct10">
                      <a:fgClr>
                        <a:srgbClr val="FF9999"/>
                      </a:fgClr>
                      <a:bgClr>
                        <a:schemeClr val="bg1"/>
                      </a:bgClr>
                    </a:pattFill>
                    <a:ln>
                      <a:solidFill>
                        <a:srgbClr val="FF99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6" name="Rectangle 25">
                      <a:extLst>
                        <a:ext uri="{FF2B5EF4-FFF2-40B4-BE49-F238E27FC236}">
                          <a16:creationId xmlns:a16="http://schemas.microsoft.com/office/drawing/2014/main" id="{A9ACC86E-F2B9-9208-48B2-99D59ABCB00F}"/>
                        </a:ext>
                      </a:extLst>
                    </p:cNvPr>
                    <p:cNvSpPr/>
                    <p:nvPr/>
                  </p:nvSpPr>
                  <p:spPr>
                    <a:xfrm>
                      <a:off x="3954454" y="4639377"/>
                      <a:ext cx="360000" cy="360000"/>
                    </a:xfrm>
                    <a:prstGeom prst="rect">
                      <a:avLst/>
                    </a:prstGeom>
                    <a:pattFill prst="pct10">
                      <a:fgClr>
                        <a:srgbClr val="FF9999"/>
                      </a:fgClr>
                      <a:bgClr>
                        <a:schemeClr val="bg1"/>
                      </a:bgClr>
                    </a:pattFill>
                    <a:ln>
                      <a:solidFill>
                        <a:srgbClr val="FF99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62" name="Group 61">
                  <a:extLst>
                    <a:ext uri="{FF2B5EF4-FFF2-40B4-BE49-F238E27FC236}">
                      <a16:creationId xmlns:a16="http://schemas.microsoft.com/office/drawing/2014/main" id="{2EC65643-FDF7-F298-A0B0-CD7DD25ECC6B}"/>
                    </a:ext>
                  </a:extLst>
                </p:cNvPr>
                <p:cNvGrpSpPr/>
                <p:nvPr/>
              </p:nvGrpSpPr>
              <p:grpSpPr>
                <a:xfrm>
                  <a:off x="5219129" y="5018830"/>
                  <a:ext cx="3671798" cy="1936543"/>
                  <a:chOff x="5219129" y="5018830"/>
                  <a:chExt cx="3671798" cy="1936543"/>
                </a:xfrm>
              </p:grpSpPr>
              <p:cxnSp>
                <p:nvCxnSpPr>
                  <p:cNvPr id="30" name="Straight Connector 29">
                    <a:extLst>
                      <a:ext uri="{FF2B5EF4-FFF2-40B4-BE49-F238E27FC236}">
                        <a16:creationId xmlns:a16="http://schemas.microsoft.com/office/drawing/2014/main" id="{2AB7389D-A090-22C6-D881-039DD4A70E8B}"/>
                      </a:ext>
                    </a:extLst>
                  </p:cNvPr>
                  <p:cNvCxnSpPr>
                    <a:cxnSpLocks/>
                  </p:cNvCxnSpPr>
                  <p:nvPr/>
                </p:nvCxnSpPr>
                <p:spPr>
                  <a:xfrm>
                    <a:off x="6245160" y="5018830"/>
                    <a:ext cx="0" cy="756000"/>
                  </a:xfrm>
                  <a:prstGeom prst="line">
                    <a:avLst/>
                  </a:prstGeom>
                  <a:ln w="19050">
                    <a:solidFill>
                      <a:srgbClr val="003B66"/>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F5BBE7E-8D4B-FD54-A0D7-A3E097E9BA61}"/>
                      </a:ext>
                    </a:extLst>
                  </p:cNvPr>
                  <p:cNvCxnSpPr>
                    <a:cxnSpLocks/>
                  </p:cNvCxnSpPr>
                  <p:nvPr/>
                </p:nvCxnSpPr>
                <p:spPr>
                  <a:xfrm>
                    <a:off x="7525969" y="5018830"/>
                    <a:ext cx="0" cy="756000"/>
                  </a:xfrm>
                  <a:prstGeom prst="line">
                    <a:avLst/>
                  </a:prstGeom>
                  <a:ln w="19050">
                    <a:solidFill>
                      <a:srgbClr val="003B66"/>
                    </a:solidFill>
                    <a:prstDash val="dash"/>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743A85A9-3206-6151-944F-D5F212C5F239}"/>
                      </a:ext>
                    </a:extLst>
                  </p:cNvPr>
                  <p:cNvSpPr/>
                  <p:nvPr/>
                </p:nvSpPr>
                <p:spPr>
                  <a:xfrm>
                    <a:off x="6261657" y="5414830"/>
                    <a:ext cx="1239041" cy="360000"/>
                  </a:xfrm>
                  <a:prstGeom prst="rect">
                    <a:avLst/>
                  </a:prstGeom>
                  <a:pattFill prst="diagBrick">
                    <a:fgClr>
                      <a:srgbClr val="FF9999"/>
                    </a:fgClr>
                    <a:bgClr>
                      <a:schemeClr val="bg1"/>
                    </a:bgClr>
                  </a:pattFill>
                  <a:ln>
                    <a:solidFill>
                      <a:srgbClr val="FF99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Title 1">
                    <a:extLst>
                      <a:ext uri="{FF2B5EF4-FFF2-40B4-BE49-F238E27FC236}">
                        <a16:creationId xmlns:a16="http://schemas.microsoft.com/office/drawing/2014/main" id="{C8148B07-F745-DD40-F64C-A9F84C0E3680}"/>
                      </a:ext>
                    </a:extLst>
                  </p:cNvPr>
                  <p:cNvSpPr txBox="1">
                    <a:spLocks/>
                  </p:cNvSpPr>
                  <p:nvPr/>
                </p:nvSpPr>
                <p:spPr>
                  <a:xfrm>
                    <a:off x="5219129" y="5916495"/>
                    <a:ext cx="1696809" cy="892530"/>
                  </a:xfrm>
                  <a:prstGeom prst="rect">
                    <a:avLst/>
                  </a:prstGeom>
                </p:spPr>
                <p:txBody>
                  <a:bodyPr vert="horz" lIns="91440" tIns="45720" rIns="91440" bIns="45720" rtlCol="0" anchor="ctr">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rgbClr val="003B66"/>
                        </a:solidFill>
                        <a:latin typeface="Aptos" panose="020B0004020202020204" pitchFamily="34" charset="0"/>
                      </a:rPr>
                      <a:t>Moment call site 2 wishes to start running the NR VI</a:t>
                    </a:r>
                    <a:endParaRPr lang="en-US" sz="1600" dirty="0">
                      <a:solidFill>
                        <a:srgbClr val="003B66"/>
                      </a:solidFill>
                      <a:latin typeface="Aptos" panose="020B0004020202020204" pitchFamily="34" charset="0"/>
                    </a:endParaRPr>
                  </a:p>
                </p:txBody>
              </p:sp>
              <p:sp>
                <p:nvSpPr>
                  <p:cNvPr id="38" name="Title 1">
                    <a:extLst>
                      <a:ext uri="{FF2B5EF4-FFF2-40B4-BE49-F238E27FC236}">
                        <a16:creationId xmlns:a16="http://schemas.microsoft.com/office/drawing/2014/main" id="{18C6F09C-36F8-0840-8579-50D880CA98A0}"/>
                      </a:ext>
                    </a:extLst>
                  </p:cNvPr>
                  <p:cNvSpPr txBox="1">
                    <a:spLocks/>
                  </p:cNvSpPr>
                  <p:nvPr/>
                </p:nvSpPr>
                <p:spPr>
                  <a:xfrm>
                    <a:off x="7194118" y="5916494"/>
                    <a:ext cx="1696809" cy="1038879"/>
                  </a:xfrm>
                  <a:prstGeom prst="rect">
                    <a:avLst/>
                  </a:prstGeom>
                </p:spPr>
                <p:txBody>
                  <a:bodyPr vert="horz" lIns="91440" tIns="45720" rIns="91440" bIns="45720" rtlCol="0" anchor="ctr">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rgbClr val="003B66"/>
                        </a:solidFill>
                        <a:latin typeface="Aptos" panose="020B0004020202020204" pitchFamily="34" charset="0"/>
                      </a:rPr>
                      <a:t>Moment call site 2 is given permission to start running the NR VI</a:t>
                    </a:r>
                    <a:endParaRPr lang="en-US" sz="1600" dirty="0">
                      <a:solidFill>
                        <a:srgbClr val="003B66"/>
                      </a:solidFill>
                      <a:latin typeface="Aptos" panose="020B0004020202020204" pitchFamily="34" charset="0"/>
                    </a:endParaRPr>
                  </a:p>
                </p:txBody>
              </p:sp>
              <p:sp>
                <p:nvSpPr>
                  <p:cNvPr id="41" name="Title 1">
                    <a:extLst>
                      <a:ext uri="{FF2B5EF4-FFF2-40B4-BE49-F238E27FC236}">
                        <a16:creationId xmlns:a16="http://schemas.microsoft.com/office/drawing/2014/main" id="{C68A6227-DBAA-244B-541B-6FF77D29627B}"/>
                      </a:ext>
                    </a:extLst>
                  </p:cNvPr>
                  <p:cNvSpPr txBox="1">
                    <a:spLocks/>
                  </p:cNvSpPr>
                  <p:nvPr/>
                </p:nvSpPr>
                <p:spPr>
                  <a:xfrm>
                    <a:off x="6292240" y="5027355"/>
                    <a:ext cx="1258994" cy="360000"/>
                  </a:xfrm>
                  <a:prstGeom prst="rect">
                    <a:avLst/>
                  </a:prstGeom>
                </p:spPr>
                <p:txBody>
                  <a:bodyPr vert="horz" lIns="91440" tIns="45720" rIns="91440" bIns="45720" rtlCol="0" anchor="ctr">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rgbClr val="003B66"/>
                        </a:solidFill>
                        <a:latin typeface="Aptos" panose="020B0004020202020204" pitchFamily="34" charset="0"/>
                      </a:rPr>
                      <a:t>wait</a:t>
                    </a:r>
                    <a:endParaRPr lang="en-US" sz="1600" dirty="0">
                      <a:solidFill>
                        <a:srgbClr val="003B66"/>
                      </a:solidFill>
                      <a:latin typeface="Aptos" panose="020B0004020202020204" pitchFamily="34" charset="0"/>
                    </a:endParaRPr>
                  </a:p>
                </p:txBody>
              </p:sp>
            </p:grpSp>
            <p:grpSp>
              <p:nvGrpSpPr>
                <p:cNvPr id="60" name="Group 59">
                  <a:extLst>
                    <a:ext uri="{FF2B5EF4-FFF2-40B4-BE49-F238E27FC236}">
                      <a16:creationId xmlns:a16="http://schemas.microsoft.com/office/drawing/2014/main" id="{C7C70D4F-2008-AB78-38F2-F0F69F6D03A8}"/>
                    </a:ext>
                  </a:extLst>
                </p:cNvPr>
                <p:cNvGrpSpPr/>
                <p:nvPr/>
              </p:nvGrpSpPr>
              <p:grpSpPr>
                <a:xfrm>
                  <a:off x="7345331" y="4458971"/>
                  <a:ext cx="3633917" cy="989018"/>
                  <a:chOff x="7345331" y="4458971"/>
                  <a:chExt cx="3633917" cy="989018"/>
                </a:xfrm>
              </p:grpSpPr>
              <p:sp>
                <p:nvSpPr>
                  <p:cNvPr id="43" name="Title 1">
                    <a:extLst>
                      <a:ext uri="{FF2B5EF4-FFF2-40B4-BE49-F238E27FC236}">
                        <a16:creationId xmlns:a16="http://schemas.microsoft.com/office/drawing/2014/main" id="{6055783D-AF53-6823-0DB4-5BC2103B3765}"/>
                      </a:ext>
                    </a:extLst>
                  </p:cNvPr>
                  <p:cNvSpPr txBox="1">
                    <a:spLocks/>
                  </p:cNvSpPr>
                  <p:nvPr/>
                </p:nvSpPr>
                <p:spPr>
                  <a:xfrm>
                    <a:off x="8081601" y="4458971"/>
                    <a:ext cx="2897647" cy="74838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rgbClr val="C00000"/>
                        </a:solidFill>
                        <a:latin typeface="Aptos" panose="020B0004020202020204" pitchFamily="34" charset="0"/>
                      </a:rPr>
                      <a:t>Collision Overhead: call sites wait on each other</a:t>
                    </a:r>
                    <a:endParaRPr lang="en-US" sz="1600" dirty="0">
                      <a:solidFill>
                        <a:srgbClr val="C00000"/>
                      </a:solidFill>
                      <a:latin typeface="Aptos" panose="020B0004020202020204" pitchFamily="34" charset="0"/>
                    </a:endParaRPr>
                  </a:p>
                </p:txBody>
              </p:sp>
              <p:cxnSp>
                <p:nvCxnSpPr>
                  <p:cNvPr id="44" name="Straight Connector 43">
                    <a:extLst>
                      <a:ext uri="{FF2B5EF4-FFF2-40B4-BE49-F238E27FC236}">
                        <a16:creationId xmlns:a16="http://schemas.microsoft.com/office/drawing/2014/main" id="{681C85B9-9E2C-C4C5-3F1C-B770D4FBB946}"/>
                      </a:ext>
                    </a:extLst>
                  </p:cNvPr>
                  <p:cNvCxnSpPr>
                    <a:cxnSpLocks/>
                  </p:cNvCxnSpPr>
                  <p:nvPr/>
                </p:nvCxnSpPr>
                <p:spPr>
                  <a:xfrm flipH="1">
                    <a:off x="7345331" y="4880457"/>
                    <a:ext cx="942635" cy="567532"/>
                  </a:xfrm>
                  <a:prstGeom prst="line">
                    <a:avLst/>
                  </a:prstGeom>
                  <a:ln w="12700">
                    <a:solidFill>
                      <a:srgbClr val="C0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61" name="Group 60">
                  <a:extLst>
                    <a:ext uri="{FF2B5EF4-FFF2-40B4-BE49-F238E27FC236}">
                      <a16:creationId xmlns:a16="http://schemas.microsoft.com/office/drawing/2014/main" id="{661119D8-2392-BD3A-4929-877777D7746C}"/>
                    </a:ext>
                  </a:extLst>
                </p:cNvPr>
                <p:cNvGrpSpPr/>
                <p:nvPr/>
              </p:nvGrpSpPr>
              <p:grpSpPr>
                <a:xfrm>
                  <a:off x="838200" y="4999377"/>
                  <a:ext cx="4126152" cy="1645612"/>
                  <a:chOff x="838200" y="4999377"/>
                  <a:chExt cx="4126152" cy="1645612"/>
                </a:xfrm>
              </p:grpSpPr>
              <p:sp>
                <p:nvSpPr>
                  <p:cNvPr id="48" name="Title 1">
                    <a:extLst>
                      <a:ext uri="{FF2B5EF4-FFF2-40B4-BE49-F238E27FC236}">
                        <a16:creationId xmlns:a16="http://schemas.microsoft.com/office/drawing/2014/main" id="{AD7641AC-4F80-F851-5D70-3B3EBF0388DE}"/>
                      </a:ext>
                    </a:extLst>
                  </p:cNvPr>
                  <p:cNvSpPr txBox="1">
                    <a:spLocks/>
                  </p:cNvSpPr>
                  <p:nvPr/>
                </p:nvSpPr>
                <p:spPr>
                  <a:xfrm>
                    <a:off x="838200" y="5896605"/>
                    <a:ext cx="3685674" cy="74838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rgbClr val="C00000"/>
                        </a:solidFill>
                        <a:latin typeface="Aptos" panose="020B0004020202020204" pitchFamily="34" charset="0"/>
                      </a:rPr>
                      <a:t>Co-ordination Overhead (mutex)</a:t>
                    </a:r>
                    <a:endParaRPr lang="en-US" sz="1600" dirty="0">
                      <a:solidFill>
                        <a:srgbClr val="C00000"/>
                      </a:solidFill>
                      <a:latin typeface="Aptos" panose="020B0004020202020204" pitchFamily="34" charset="0"/>
                    </a:endParaRPr>
                  </a:p>
                </p:txBody>
              </p:sp>
              <p:cxnSp>
                <p:nvCxnSpPr>
                  <p:cNvPr id="49" name="Straight Connector 48">
                    <a:extLst>
                      <a:ext uri="{FF2B5EF4-FFF2-40B4-BE49-F238E27FC236}">
                        <a16:creationId xmlns:a16="http://schemas.microsoft.com/office/drawing/2014/main" id="{0137D161-B830-5C69-A44D-76FF40FCB683}"/>
                      </a:ext>
                    </a:extLst>
                  </p:cNvPr>
                  <p:cNvCxnSpPr>
                    <a:cxnSpLocks/>
                    <a:stCxn id="48" idx="0"/>
                  </p:cNvCxnSpPr>
                  <p:nvPr/>
                </p:nvCxnSpPr>
                <p:spPr>
                  <a:xfrm flipV="1">
                    <a:off x="2681037" y="5011584"/>
                    <a:ext cx="1453417" cy="885021"/>
                  </a:xfrm>
                  <a:prstGeom prst="line">
                    <a:avLst/>
                  </a:prstGeom>
                  <a:ln w="12700">
                    <a:solidFill>
                      <a:srgbClr val="C0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68549FD-4FC3-17B5-389D-5D8E41B62237}"/>
                      </a:ext>
                    </a:extLst>
                  </p:cNvPr>
                  <p:cNvCxnSpPr>
                    <a:cxnSpLocks/>
                    <a:stCxn id="48" idx="0"/>
                    <a:endCxn id="12" idx="2"/>
                  </p:cNvCxnSpPr>
                  <p:nvPr/>
                </p:nvCxnSpPr>
                <p:spPr>
                  <a:xfrm flipH="1" flipV="1">
                    <a:off x="1958703" y="4999377"/>
                    <a:ext cx="722334" cy="897228"/>
                  </a:xfrm>
                  <a:prstGeom prst="line">
                    <a:avLst/>
                  </a:prstGeom>
                  <a:ln w="12700">
                    <a:solidFill>
                      <a:srgbClr val="C0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3AF910C-3765-27B2-613E-F6F67BD5158C}"/>
                      </a:ext>
                    </a:extLst>
                  </p:cNvPr>
                  <p:cNvCxnSpPr>
                    <a:cxnSpLocks/>
                    <a:stCxn id="48" idx="0"/>
                  </p:cNvCxnSpPr>
                  <p:nvPr/>
                </p:nvCxnSpPr>
                <p:spPr>
                  <a:xfrm flipV="1">
                    <a:off x="2681037" y="5011584"/>
                    <a:ext cx="2283315" cy="885021"/>
                  </a:xfrm>
                  <a:prstGeom prst="line">
                    <a:avLst/>
                  </a:prstGeom>
                  <a:ln w="12700">
                    <a:solidFill>
                      <a:srgbClr val="C0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cxnSp>
          <p:nvCxnSpPr>
            <p:cNvPr id="11" name="Straight Connector 10">
              <a:extLst>
                <a:ext uri="{FF2B5EF4-FFF2-40B4-BE49-F238E27FC236}">
                  <a16:creationId xmlns:a16="http://schemas.microsoft.com/office/drawing/2014/main" id="{3E417F73-5A67-A64D-4CE4-D1286879AFA8}"/>
                </a:ext>
              </a:extLst>
            </p:cNvPr>
            <p:cNvCxnSpPr>
              <a:cxnSpLocks/>
            </p:cNvCxnSpPr>
            <p:nvPr/>
          </p:nvCxnSpPr>
          <p:spPr>
            <a:xfrm flipV="1">
              <a:off x="6029034" y="2175309"/>
              <a:ext cx="177626" cy="285717"/>
            </a:xfrm>
            <a:prstGeom prst="line">
              <a:avLst/>
            </a:prstGeom>
            <a:ln w="12700">
              <a:solidFill>
                <a:srgbClr val="003B66"/>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5BC13E6-E750-D9F8-5D38-E7F762831285}"/>
                </a:ext>
              </a:extLst>
            </p:cNvPr>
            <p:cNvCxnSpPr>
              <a:cxnSpLocks/>
            </p:cNvCxnSpPr>
            <p:nvPr/>
          </p:nvCxnSpPr>
          <p:spPr>
            <a:xfrm flipH="1" flipV="1">
              <a:off x="7525331" y="2296770"/>
              <a:ext cx="411167" cy="179712"/>
            </a:xfrm>
            <a:prstGeom prst="line">
              <a:avLst/>
            </a:prstGeom>
            <a:ln w="12700">
              <a:solidFill>
                <a:srgbClr val="003B66"/>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06949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CB5D2-18CB-6F92-60B4-D45E2C90E6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CDD13D-FB35-C3B9-01D2-635F46A2098E}"/>
              </a:ext>
            </a:extLst>
          </p:cNvPr>
          <p:cNvSpPr>
            <a:spLocks noGrp="1"/>
          </p:cNvSpPr>
          <p:nvPr>
            <p:ph type="title"/>
          </p:nvPr>
        </p:nvSpPr>
        <p:spPr>
          <a:xfrm>
            <a:off x="838200" y="365126"/>
            <a:ext cx="10515600" cy="662164"/>
          </a:xfrm>
        </p:spPr>
        <p:txBody>
          <a:bodyPr>
            <a:normAutofit fontScale="90000"/>
          </a:bodyPr>
          <a:lstStyle/>
          <a:p>
            <a:r>
              <a:rPr lang="en-GB" dirty="0" err="1">
                <a:solidFill>
                  <a:srgbClr val="003B66"/>
                </a:solidFill>
                <a:latin typeface="Aptos Display" panose="020B0004020202020204" pitchFamily="34" charset="0"/>
              </a:rPr>
              <a:t>Preallocated</a:t>
            </a:r>
            <a:r>
              <a:rPr lang="en-GB" dirty="0">
                <a:solidFill>
                  <a:srgbClr val="003B66"/>
                </a:solidFill>
                <a:latin typeface="Aptos Display" panose="020B0004020202020204" pitchFamily="34" charset="0"/>
              </a:rPr>
              <a:t> Clone </a:t>
            </a:r>
            <a:r>
              <a:rPr lang="en-GB" dirty="0" err="1">
                <a:solidFill>
                  <a:srgbClr val="003B66"/>
                </a:solidFill>
                <a:latin typeface="Aptos Display" panose="020B0004020202020204" pitchFamily="34" charset="0"/>
              </a:rPr>
              <a:t>Reentrant</a:t>
            </a:r>
            <a:r>
              <a:rPr lang="en-GB" dirty="0">
                <a:solidFill>
                  <a:srgbClr val="003B66"/>
                </a:solidFill>
                <a:latin typeface="Aptos Display" panose="020B0004020202020204" pitchFamily="34" charset="0"/>
              </a:rPr>
              <a:t> (PCR)</a:t>
            </a:r>
          </a:p>
        </p:txBody>
      </p:sp>
      <p:sp>
        <p:nvSpPr>
          <p:cNvPr id="3" name="Content Placeholder 2">
            <a:extLst>
              <a:ext uri="{FF2B5EF4-FFF2-40B4-BE49-F238E27FC236}">
                <a16:creationId xmlns:a16="http://schemas.microsoft.com/office/drawing/2014/main" id="{2AFB6E20-DC66-2332-B8DE-5280BA6A4789}"/>
              </a:ext>
            </a:extLst>
          </p:cNvPr>
          <p:cNvSpPr>
            <a:spLocks noGrp="1"/>
          </p:cNvSpPr>
          <p:nvPr>
            <p:ph idx="1"/>
          </p:nvPr>
        </p:nvSpPr>
        <p:spPr>
          <a:xfrm>
            <a:off x="838200" y="1027290"/>
            <a:ext cx="5696156" cy="5117871"/>
          </a:xfrm>
        </p:spPr>
        <p:txBody>
          <a:bodyPr>
            <a:normAutofit/>
          </a:bodyPr>
          <a:lstStyle/>
          <a:p>
            <a:r>
              <a:rPr lang="en-GB" sz="2000" dirty="0">
                <a:solidFill>
                  <a:srgbClr val="003B66"/>
                </a:solidFill>
                <a:latin typeface="Aptos" panose="020B0004020202020204" pitchFamily="34" charset="0"/>
              </a:rPr>
              <a:t>Preallocated Clone </a:t>
            </a:r>
            <a:r>
              <a:rPr lang="en-GB" sz="2000" dirty="0" err="1">
                <a:solidFill>
                  <a:srgbClr val="003B66"/>
                </a:solidFill>
                <a:latin typeface="Aptos" panose="020B0004020202020204" pitchFamily="34" charset="0"/>
              </a:rPr>
              <a:t>Reentrant</a:t>
            </a:r>
            <a:r>
              <a:rPr lang="en-GB" sz="2000" dirty="0">
                <a:solidFill>
                  <a:srgbClr val="003B66"/>
                </a:solidFill>
                <a:latin typeface="Aptos" panose="020B0004020202020204" pitchFamily="34" charset="0"/>
              </a:rPr>
              <a:t> (PCR) is the option that </a:t>
            </a:r>
            <a:r>
              <a:rPr lang="en-GB" sz="2000" b="1" dirty="0">
                <a:solidFill>
                  <a:srgbClr val="003B66"/>
                </a:solidFill>
                <a:latin typeface="Aptos" panose="020B0004020202020204" pitchFamily="34" charset="0"/>
              </a:rPr>
              <a:t>eliminates the overheads</a:t>
            </a:r>
            <a:r>
              <a:rPr lang="en-GB" sz="2000" dirty="0">
                <a:solidFill>
                  <a:srgbClr val="003B66"/>
                </a:solidFill>
                <a:latin typeface="Aptos" panose="020B0004020202020204" pitchFamily="34" charset="0"/>
              </a:rPr>
              <a:t>.</a:t>
            </a:r>
          </a:p>
          <a:p>
            <a:r>
              <a:rPr lang="en-GB" sz="2000" dirty="0">
                <a:solidFill>
                  <a:srgbClr val="003B66"/>
                </a:solidFill>
                <a:latin typeface="Aptos" panose="020B0004020202020204" pitchFamily="34" charset="0"/>
              </a:rPr>
              <a:t>When using PCR LabVIEW creates a memory instance for each call site. If a VI is called n times in a codebase, LabVIEW allocates exactly n memory instances.</a:t>
            </a:r>
          </a:p>
          <a:p>
            <a:r>
              <a:rPr lang="en-GB" sz="2000" dirty="0">
                <a:solidFill>
                  <a:srgbClr val="003B66"/>
                </a:solidFill>
                <a:latin typeface="Aptos" panose="020B0004020202020204" pitchFamily="34" charset="0"/>
              </a:rPr>
              <a:t>Memory instances are also known as </a:t>
            </a:r>
            <a:r>
              <a:rPr lang="en-GB" sz="2000" b="1" dirty="0">
                <a:solidFill>
                  <a:srgbClr val="003B66"/>
                </a:solidFill>
                <a:latin typeface="Aptos" panose="020B0004020202020204" pitchFamily="34" charset="0"/>
              </a:rPr>
              <a:t>clones</a:t>
            </a:r>
            <a:r>
              <a:rPr lang="en-GB" sz="2000" dirty="0">
                <a:solidFill>
                  <a:srgbClr val="003B66"/>
                </a:solidFill>
                <a:latin typeface="Aptos" panose="020B0004020202020204" pitchFamily="34" charset="0"/>
              </a:rPr>
              <a:t>. This is what </a:t>
            </a:r>
            <a:r>
              <a:rPr lang="en-GB" sz="2000" b="1" dirty="0">
                <a:solidFill>
                  <a:srgbClr val="003B66"/>
                </a:solidFill>
                <a:latin typeface="Aptos" panose="020B0004020202020204" pitchFamily="34" charset="0"/>
              </a:rPr>
              <a:t>Clone</a:t>
            </a:r>
            <a:r>
              <a:rPr lang="en-GB" sz="2000" dirty="0">
                <a:solidFill>
                  <a:srgbClr val="003B66"/>
                </a:solidFill>
                <a:latin typeface="Aptos" panose="020B0004020202020204" pitchFamily="34" charset="0"/>
              </a:rPr>
              <a:t> refers to.</a:t>
            </a:r>
          </a:p>
          <a:p>
            <a:r>
              <a:rPr lang="en-GB" sz="2000" dirty="0">
                <a:solidFill>
                  <a:srgbClr val="003B66"/>
                </a:solidFill>
                <a:latin typeface="Aptos" panose="020B0004020202020204" pitchFamily="34" charset="0"/>
              </a:rPr>
              <a:t>Two or more instances (clones) can run at the same time (don’t wait on one another). This is what </a:t>
            </a:r>
            <a:r>
              <a:rPr lang="en-GB" sz="2000" b="1" dirty="0" err="1">
                <a:solidFill>
                  <a:srgbClr val="003B66"/>
                </a:solidFill>
                <a:latin typeface="Aptos" panose="020B0004020202020204" pitchFamily="34" charset="0"/>
              </a:rPr>
              <a:t>Reentrant</a:t>
            </a:r>
            <a:r>
              <a:rPr lang="en-GB" sz="2000" dirty="0">
                <a:solidFill>
                  <a:srgbClr val="003B66"/>
                </a:solidFill>
                <a:latin typeface="Aptos" panose="020B0004020202020204" pitchFamily="34" charset="0"/>
              </a:rPr>
              <a:t> refers to.</a:t>
            </a:r>
          </a:p>
          <a:p>
            <a:r>
              <a:rPr lang="en-GB" sz="2000" dirty="0">
                <a:solidFill>
                  <a:srgbClr val="003B66"/>
                </a:solidFill>
                <a:latin typeface="Aptos" panose="020B0004020202020204" pitchFamily="34" charset="0"/>
              </a:rPr>
              <a:t>LabVIEW allocates the memory instances (the clones) during VI compilation, before the VI starts running. This is what </a:t>
            </a:r>
            <a:r>
              <a:rPr lang="en-GB" sz="2000" b="1" dirty="0">
                <a:solidFill>
                  <a:srgbClr val="003B66"/>
                </a:solidFill>
                <a:latin typeface="Aptos" panose="020B0004020202020204" pitchFamily="34" charset="0"/>
              </a:rPr>
              <a:t>Preallocated</a:t>
            </a:r>
            <a:r>
              <a:rPr lang="en-GB" sz="2000" dirty="0">
                <a:solidFill>
                  <a:srgbClr val="003B66"/>
                </a:solidFill>
                <a:latin typeface="Aptos" panose="020B0004020202020204" pitchFamily="34" charset="0"/>
              </a:rPr>
              <a:t> refers to.</a:t>
            </a:r>
          </a:p>
        </p:txBody>
      </p:sp>
      <p:sp>
        <p:nvSpPr>
          <p:cNvPr id="4" name="Slide Number Placeholder 3">
            <a:extLst>
              <a:ext uri="{FF2B5EF4-FFF2-40B4-BE49-F238E27FC236}">
                <a16:creationId xmlns:a16="http://schemas.microsoft.com/office/drawing/2014/main" id="{DA8E224F-1111-95EA-85E6-3DE86F24A579}"/>
              </a:ext>
            </a:extLst>
          </p:cNvPr>
          <p:cNvSpPr>
            <a:spLocks noGrp="1"/>
          </p:cNvSpPr>
          <p:nvPr>
            <p:ph type="sldNum" sz="quarter" idx="12"/>
          </p:nvPr>
        </p:nvSpPr>
        <p:spPr/>
        <p:txBody>
          <a:bodyPr/>
          <a:lstStyle/>
          <a:p>
            <a:fld id="{A5BC3523-C363-4BFA-8941-CE9ECEEECBA2}" type="slidenum">
              <a:rPr lang="en-GB" smtClean="0"/>
              <a:t>15</a:t>
            </a:fld>
            <a:endParaRPr lang="en-GB" dirty="0"/>
          </a:p>
        </p:txBody>
      </p:sp>
      <p:grpSp>
        <p:nvGrpSpPr>
          <p:cNvPr id="9" name="Group 8">
            <a:extLst>
              <a:ext uri="{FF2B5EF4-FFF2-40B4-BE49-F238E27FC236}">
                <a16:creationId xmlns:a16="http://schemas.microsoft.com/office/drawing/2014/main" id="{86D82FB6-88F5-7D51-254F-3BC378B1935B}"/>
              </a:ext>
            </a:extLst>
          </p:cNvPr>
          <p:cNvGrpSpPr/>
          <p:nvPr/>
        </p:nvGrpSpPr>
        <p:grpSpPr>
          <a:xfrm>
            <a:off x="6534356" y="1085645"/>
            <a:ext cx="5400000" cy="4210648"/>
            <a:chOff x="6534356" y="1085645"/>
            <a:chExt cx="5400000" cy="4210648"/>
          </a:xfrm>
        </p:grpSpPr>
        <p:pic>
          <p:nvPicPr>
            <p:cNvPr id="6" name="Picture 5">
              <a:extLst>
                <a:ext uri="{FF2B5EF4-FFF2-40B4-BE49-F238E27FC236}">
                  <a16:creationId xmlns:a16="http://schemas.microsoft.com/office/drawing/2014/main" id="{0B2AAE22-2F00-4C47-F8EF-2BD69E24E2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4356" y="1085645"/>
              <a:ext cx="5400000" cy="3575171"/>
            </a:xfrm>
            <a:prstGeom prst="rect">
              <a:avLst/>
            </a:prstGeom>
          </p:spPr>
        </p:pic>
        <p:sp>
          <p:nvSpPr>
            <p:cNvPr id="8" name="Title 1">
              <a:extLst>
                <a:ext uri="{FF2B5EF4-FFF2-40B4-BE49-F238E27FC236}">
                  <a16:creationId xmlns:a16="http://schemas.microsoft.com/office/drawing/2014/main" id="{092B84E8-1147-AE4E-9E38-BB9862279170}"/>
                </a:ext>
              </a:extLst>
            </p:cNvPr>
            <p:cNvSpPr txBox="1">
              <a:spLocks/>
            </p:cNvSpPr>
            <p:nvPr/>
          </p:nvSpPr>
          <p:spPr>
            <a:xfrm>
              <a:off x="6534356" y="4634129"/>
              <a:ext cx="5400000" cy="662164"/>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i="1" dirty="0">
                  <a:solidFill>
                    <a:schemeClr val="bg1">
                      <a:lumMod val="50000"/>
                    </a:schemeClr>
                  </a:solidFill>
                  <a:latin typeface="Aptos" panose="020B0004020202020204" pitchFamily="34" charset="0"/>
                </a:rPr>
                <a:t>The Preallocated Clone Reentrant (PCR) option.</a:t>
              </a:r>
            </a:p>
          </p:txBody>
        </p:sp>
      </p:grpSp>
    </p:spTree>
    <p:extLst>
      <p:ext uri="{BB962C8B-B14F-4D97-AF65-F5344CB8AC3E}">
        <p14:creationId xmlns:p14="http://schemas.microsoft.com/office/powerpoint/2010/main" val="401452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37B51-8129-D594-21F7-0E9C3194A1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D3D277-A5BC-FD1E-4272-FFDB868CE343}"/>
              </a:ext>
            </a:extLst>
          </p:cNvPr>
          <p:cNvSpPr>
            <a:spLocks noGrp="1"/>
          </p:cNvSpPr>
          <p:nvPr>
            <p:ph type="title"/>
          </p:nvPr>
        </p:nvSpPr>
        <p:spPr>
          <a:xfrm>
            <a:off x="838200" y="365126"/>
            <a:ext cx="10515600" cy="662164"/>
          </a:xfrm>
        </p:spPr>
        <p:txBody>
          <a:bodyPr>
            <a:normAutofit fontScale="90000"/>
          </a:bodyPr>
          <a:lstStyle/>
          <a:p>
            <a:r>
              <a:rPr lang="en-GB" dirty="0" err="1">
                <a:solidFill>
                  <a:srgbClr val="003B66"/>
                </a:solidFill>
                <a:latin typeface="Aptos Display" panose="020B0004020202020204" pitchFamily="34" charset="0"/>
              </a:rPr>
              <a:t>Preallocated</a:t>
            </a:r>
            <a:r>
              <a:rPr lang="en-GB" dirty="0">
                <a:solidFill>
                  <a:srgbClr val="003B66"/>
                </a:solidFill>
                <a:latin typeface="Aptos Display" panose="020B0004020202020204" pitchFamily="34" charset="0"/>
              </a:rPr>
              <a:t> Clone </a:t>
            </a:r>
            <a:r>
              <a:rPr lang="en-GB" dirty="0" err="1">
                <a:solidFill>
                  <a:srgbClr val="003B66"/>
                </a:solidFill>
                <a:latin typeface="Aptos Display" panose="020B0004020202020204" pitchFamily="34" charset="0"/>
              </a:rPr>
              <a:t>Reentrant</a:t>
            </a:r>
            <a:r>
              <a:rPr lang="en-GB" dirty="0">
                <a:solidFill>
                  <a:srgbClr val="003B66"/>
                </a:solidFill>
                <a:latin typeface="Aptos Display" panose="020B0004020202020204" pitchFamily="34" charset="0"/>
              </a:rPr>
              <a:t> (PCR)</a:t>
            </a:r>
          </a:p>
        </p:txBody>
      </p:sp>
      <p:sp>
        <p:nvSpPr>
          <p:cNvPr id="3" name="Content Placeholder 2">
            <a:extLst>
              <a:ext uri="{FF2B5EF4-FFF2-40B4-BE49-F238E27FC236}">
                <a16:creationId xmlns:a16="http://schemas.microsoft.com/office/drawing/2014/main" id="{21C23C96-C12C-E8A0-FA6E-4D288BF803D7}"/>
              </a:ext>
            </a:extLst>
          </p:cNvPr>
          <p:cNvSpPr>
            <a:spLocks noGrp="1"/>
          </p:cNvSpPr>
          <p:nvPr>
            <p:ph idx="1"/>
          </p:nvPr>
        </p:nvSpPr>
        <p:spPr>
          <a:xfrm>
            <a:off x="838200" y="1027290"/>
            <a:ext cx="5696156" cy="5329060"/>
          </a:xfrm>
        </p:spPr>
        <p:txBody>
          <a:bodyPr>
            <a:normAutofit fontScale="92500" lnSpcReduction="10000"/>
          </a:bodyPr>
          <a:lstStyle/>
          <a:p>
            <a:r>
              <a:rPr lang="en-GB" sz="2000" dirty="0">
                <a:solidFill>
                  <a:srgbClr val="003B66"/>
                </a:solidFill>
                <a:latin typeface="Aptos" panose="020B0004020202020204" pitchFamily="34" charset="0"/>
              </a:rPr>
              <a:t>Because each call site has its own memory instance, each call site can execute </a:t>
            </a:r>
            <a:r>
              <a:rPr lang="en-GB" sz="2000" b="1" dirty="0">
                <a:solidFill>
                  <a:srgbClr val="003B66"/>
                </a:solidFill>
                <a:latin typeface="Aptos" panose="020B0004020202020204" pitchFamily="34" charset="0"/>
              </a:rPr>
              <a:t>fully independently</a:t>
            </a:r>
            <a:r>
              <a:rPr lang="en-GB" sz="2000" dirty="0">
                <a:solidFill>
                  <a:srgbClr val="003B66"/>
                </a:solidFill>
                <a:latin typeface="Aptos" panose="020B0004020202020204" pitchFamily="34" charset="0"/>
              </a:rPr>
              <a:t> of all other call sites.</a:t>
            </a:r>
          </a:p>
          <a:p>
            <a:r>
              <a:rPr lang="en-GB" sz="2000" dirty="0">
                <a:solidFill>
                  <a:srgbClr val="003B66"/>
                </a:solidFill>
                <a:latin typeface="Aptos" panose="020B0004020202020204" pitchFamily="34" charset="0"/>
              </a:rPr>
              <a:t>No co-ordination mechanism exists (not needed).</a:t>
            </a:r>
          </a:p>
          <a:p>
            <a:r>
              <a:rPr lang="en-GB" sz="2000" dirty="0">
                <a:solidFill>
                  <a:srgbClr val="003B66"/>
                </a:solidFill>
                <a:latin typeface="Aptos" panose="020B0004020202020204" pitchFamily="34" charset="0"/>
              </a:rPr>
              <a:t>Each call site doesn’t “know” or “care” about other call sites. This is good – it’s a must for truly independent execution. Any form of co-ordination between the call sites means that execution is pseudo-independent.</a:t>
            </a:r>
          </a:p>
          <a:p>
            <a:r>
              <a:rPr lang="en-GB" sz="2000" dirty="0">
                <a:solidFill>
                  <a:srgbClr val="003B66"/>
                </a:solidFill>
                <a:latin typeface="Aptos" panose="020B0004020202020204" pitchFamily="34" charset="0"/>
              </a:rPr>
              <a:t>PCR is the only option that implements full parallelism.</a:t>
            </a:r>
          </a:p>
          <a:p>
            <a:r>
              <a:rPr lang="en-GB" sz="2000" dirty="0">
                <a:solidFill>
                  <a:srgbClr val="003B66"/>
                </a:solidFill>
                <a:latin typeface="Aptos" panose="020B0004020202020204" pitchFamily="34" charset="0"/>
              </a:rPr>
              <a:t>Because no co-ordination mechanism exists, PCR is the most deterministic option. It achieves the </a:t>
            </a:r>
            <a:r>
              <a:rPr lang="en-GB" sz="2000" b="1" dirty="0">
                <a:solidFill>
                  <a:srgbClr val="003B66"/>
                </a:solidFill>
                <a:latin typeface="Aptos" panose="020B0004020202020204" pitchFamily="34" charset="0"/>
              </a:rPr>
              <a:t>best (lowest) jitter</a:t>
            </a:r>
            <a:r>
              <a:rPr lang="en-GB" sz="2000" dirty="0">
                <a:solidFill>
                  <a:srgbClr val="003B66"/>
                </a:solidFill>
                <a:latin typeface="Aptos" panose="020B0004020202020204" pitchFamily="34" charset="0"/>
              </a:rPr>
              <a:t>. Best for real-time applications.</a:t>
            </a:r>
          </a:p>
          <a:p>
            <a:r>
              <a:rPr lang="en-GB" sz="2000" dirty="0">
                <a:solidFill>
                  <a:srgbClr val="003B66"/>
                </a:solidFill>
                <a:latin typeface="Aptos" panose="020B0004020202020204" pitchFamily="34" charset="0"/>
              </a:rPr>
              <a:t>Because multiple instances exist in memory, PCR makes a codebase use (slightly) more memory than using NR. This is usually </a:t>
            </a:r>
            <a:r>
              <a:rPr lang="en-GB" sz="2000" b="1" dirty="0">
                <a:solidFill>
                  <a:srgbClr val="003B66"/>
                </a:solidFill>
                <a:latin typeface="Aptos" panose="020B0004020202020204" pitchFamily="34" charset="0"/>
              </a:rPr>
              <a:t>nothing to worry about</a:t>
            </a:r>
            <a:r>
              <a:rPr lang="en-GB" sz="2000" dirty="0">
                <a:solidFill>
                  <a:srgbClr val="003B66"/>
                </a:solidFill>
                <a:latin typeface="Aptos" panose="020B0004020202020204" pitchFamily="34" charset="0"/>
              </a:rPr>
              <a:t> (more on this later).</a:t>
            </a:r>
          </a:p>
        </p:txBody>
      </p:sp>
      <p:sp>
        <p:nvSpPr>
          <p:cNvPr id="4" name="Slide Number Placeholder 3">
            <a:extLst>
              <a:ext uri="{FF2B5EF4-FFF2-40B4-BE49-F238E27FC236}">
                <a16:creationId xmlns:a16="http://schemas.microsoft.com/office/drawing/2014/main" id="{C72239FE-4871-5EF5-C078-7753EA8692D9}"/>
              </a:ext>
            </a:extLst>
          </p:cNvPr>
          <p:cNvSpPr>
            <a:spLocks noGrp="1"/>
          </p:cNvSpPr>
          <p:nvPr>
            <p:ph type="sldNum" sz="quarter" idx="12"/>
          </p:nvPr>
        </p:nvSpPr>
        <p:spPr/>
        <p:txBody>
          <a:bodyPr/>
          <a:lstStyle/>
          <a:p>
            <a:fld id="{A5BC3523-C363-4BFA-8941-CE9ECEEECBA2}" type="slidenum">
              <a:rPr lang="en-GB" smtClean="0"/>
              <a:t>16</a:t>
            </a:fld>
            <a:endParaRPr lang="en-GB" dirty="0"/>
          </a:p>
        </p:txBody>
      </p:sp>
      <p:grpSp>
        <p:nvGrpSpPr>
          <p:cNvPr id="10" name="Group 9">
            <a:extLst>
              <a:ext uri="{FF2B5EF4-FFF2-40B4-BE49-F238E27FC236}">
                <a16:creationId xmlns:a16="http://schemas.microsoft.com/office/drawing/2014/main" id="{79127B36-2F83-DC89-2033-879773F4A740}"/>
              </a:ext>
            </a:extLst>
          </p:cNvPr>
          <p:cNvGrpSpPr/>
          <p:nvPr/>
        </p:nvGrpSpPr>
        <p:grpSpPr>
          <a:xfrm>
            <a:off x="6534356" y="1085645"/>
            <a:ext cx="5400000" cy="4210648"/>
            <a:chOff x="6534356" y="1085645"/>
            <a:chExt cx="5400000" cy="4210648"/>
          </a:xfrm>
        </p:grpSpPr>
        <p:pic>
          <p:nvPicPr>
            <p:cNvPr id="11" name="Picture 10">
              <a:extLst>
                <a:ext uri="{FF2B5EF4-FFF2-40B4-BE49-F238E27FC236}">
                  <a16:creationId xmlns:a16="http://schemas.microsoft.com/office/drawing/2014/main" id="{CB0103E7-8E9F-0066-D545-444DE169F7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4356" y="1085645"/>
              <a:ext cx="5400000" cy="3575171"/>
            </a:xfrm>
            <a:prstGeom prst="rect">
              <a:avLst/>
            </a:prstGeom>
          </p:spPr>
        </p:pic>
        <p:sp>
          <p:nvSpPr>
            <p:cNvPr id="12" name="Title 1">
              <a:extLst>
                <a:ext uri="{FF2B5EF4-FFF2-40B4-BE49-F238E27FC236}">
                  <a16:creationId xmlns:a16="http://schemas.microsoft.com/office/drawing/2014/main" id="{FA17C068-0A36-84A5-85F0-CDFE696BEDDD}"/>
                </a:ext>
              </a:extLst>
            </p:cNvPr>
            <p:cNvSpPr txBox="1">
              <a:spLocks/>
            </p:cNvSpPr>
            <p:nvPr/>
          </p:nvSpPr>
          <p:spPr>
            <a:xfrm>
              <a:off x="6534356" y="4634129"/>
              <a:ext cx="5400000" cy="662164"/>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i="1" dirty="0">
                  <a:solidFill>
                    <a:schemeClr val="bg1">
                      <a:lumMod val="50000"/>
                    </a:schemeClr>
                  </a:solidFill>
                  <a:latin typeface="Aptos" panose="020B0004020202020204" pitchFamily="34" charset="0"/>
                </a:rPr>
                <a:t>The Preallocated Clone Reentrant (PCR) option.</a:t>
              </a:r>
            </a:p>
          </p:txBody>
        </p:sp>
      </p:grpSp>
    </p:spTree>
    <p:extLst>
      <p:ext uri="{BB962C8B-B14F-4D97-AF65-F5344CB8AC3E}">
        <p14:creationId xmlns:p14="http://schemas.microsoft.com/office/powerpoint/2010/main" val="196728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3BFB7-DCC4-D17C-0027-BD9F672B097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1A4243A-7AD1-0B86-C2CC-63F5781F96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4888" y="1027290"/>
            <a:ext cx="5220000" cy="5164553"/>
          </a:xfrm>
          <a:prstGeom prst="rect">
            <a:avLst/>
          </a:prstGeom>
        </p:spPr>
      </p:pic>
      <p:sp>
        <p:nvSpPr>
          <p:cNvPr id="2" name="Title 1">
            <a:extLst>
              <a:ext uri="{FF2B5EF4-FFF2-40B4-BE49-F238E27FC236}">
                <a16:creationId xmlns:a16="http://schemas.microsoft.com/office/drawing/2014/main" id="{4B9C6F1E-2E9E-A5C0-5F42-244436040911}"/>
              </a:ext>
            </a:extLst>
          </p:cNvPr>
          <p:cNvSpPr>
            <a:spLocks noGrp="1"/>
          </p:cNvSpPr>
          <p:nvPr>
            <p:ph type="title"/>
          </p:nvPr>
        </p:nvSpPr>
        <p:spPr>
          <a:xfrm>
            <a:off x="838200" y="365126"/>
            <a:ext cx="10515600" cy="662164"/>
          </a:xfrm>
        </p:spPr>
        <p:txBody>
          <a:bodyPr>
            <a:normAutofit fontScale="90000"/>
          </a:bodyPr>
          <a:lstStyle/>
          <a:p>
            <a:r>
              <a:rPr lang="en-GB" dirty="0" err="1">
                <a:solidFill>
                  <a:srgbClr val="003B66"/>
                </a:solidFill>
                <a:latin typeface="Aptos Display" panose="020B0004020202020204" pitchFamily="34" charset="0"/>
              </a:rPr>
              <a:t>Preallocated</a:t>
            </a:r>
            <a:r>
              <a:rPr lang="en-GB" dirty="0">
                <a:solidFill>
                  <a:srgbClr val="003B66"/>
                </a:solidFill>
                <a:latin typeface="Aptos Display" panose="020B0004020202020204" pitchFamily="34" charset="0"/>
              </a:rPr>
              <a:t> Clone </a:t>
            </a:r>
            <a:r>
              <a:rPr lang="en-GB" dirty="0" err="1">
                <a:solidFill>
                  <a:srgbClr val="003B66"/>
                </a:solidFill>
                <a:latin typeface="Aptos Display" panose="020B0004020202020204" pitchFamily="34" charset="0"/>
              </a:rPr>
              <a:t>Reentrant</a:t>
            </a:r>
            <a:r>
              <a:rPr lang="en-GB" dirty="0">
                <a:solidFill>
                  <a:srgbClr val="003B66"/>
                </a:solidFill>
                <a:latin typeface="Aptos Display" panose="020B0004020202020204" pitchFamily="34" charset="0"/>
              </a:rPr>
              <a:t> (PCR)</a:t>
            </a:r>
          </a:p>
        </p:txBody>
      </p:sp>
      <p:sp>
        <p:nvSpPr>
          <p:cNvPr id="3" name="Content Placeholder 2">
            <a:extLst>
              <a:ext uri="{FF2B5EF4-FFF2-40B4-BE49-F238E27FC236}">
                <a16:creationId xmlns:a16="http://schemas.microsoft.com/office/drawing/2014/main" id="{F3B203AC-D8CC-B39B-855B-26872929BEEA}"/>
              </a:ext>
            </a:extLst>
          </p:cNvPr>
          <p:cNvSpPr>
            <a:spLocks noGrp="1"/>
          </p:cNvSpPr>
          <p:nvPr>
            <p:ph idx="1"/>
          </p:nvPr>
        </p:nvSpPr>
        <p:spPr>
          <a:xfrm>
            <a:off x="838200" y="1027290"/>
            <a:ext cx="5695200" cy="5117871"/>
          </a:xfrm>
        </p:spPr>
        <p:txBody>
          <a:bodyPr>
            <a:normAutofit/>
          </a:bodyPr>
          <a:lstStyle/>
          <a:p>
            <a:r>
              <a:rPr lang="en-GB" sz="2000" dirty="0">
                <a:solidFill>
                  <a:srgbClr val="003B66"/>
                </a:solidFill>
                <a:latin typeface="Aptos" panose="020B0004020202020204" pitchFamily="34" charset="0"/>
              </a:rPr>
              <a:t>What other functions that we know and love execute in a similar way (each call side doesn’t know or care about other call sites)?</a:t>
            </a:r>
          </a:p>
          <a:p>
            <a:pPr lvl="1"/>
            <a:r>
              <a:rPr lang="en-GB" sz="2000" dirty="0">
                <a:solidFill>
                  <a:srgbClr val="003B66"/>
                </a:solidFill>
                <a:latin typeface="Aptos" panose="020B0004020202020204" pitchFamily="34" charset="0"/>
              </a:rPr>
              <a:t>The primitive functions. Most primitives (perhaps all) behave like PCR VIs. Primitives correctly execute </a:t>
            </a:r>
            <a:r>
              <a:rPr lang="en-GB" sz="2000" b="1" dirty="0">
                <a:solidFill>
                  <a:srgbClr val="003B66"/>
                </a:solidFill>
                <a:latin typeface="Aptos" panose="020B0004020202020204" pitchFamily="34" charset="0"/>
              </a:rPr>
              <a:t>totally independently</a:t>
            </a:r>
            <a:r>
              <a:rPr lang="en-GB" sz="2000" dirty="0">
                <a:solidFill>
                  <a:srgbClr val="003B66"/>
                </a:solidFill>
                <a:latin typeface="Aptos" panose="020B0004020202020204" pitchFamily="34" charset="0"/>
              </a:rPr>
              <a:t> of one another.</a:t>
            </a:r>
          </a:p>
          <a:p>
            <a:pPr lvl="1"/>
            <a:r>
              <a:rPr lang="en-GB" sz="2000" dirty="0">
                <a:solidFill>
                  <a:srgbClr val="003B66"/>
                </a:solidFill>
                <a:latin typeface="Aptos" panose="020B0004020202020204" pitchFamily="34" charset="0"/>
              </a:rPr>
              <a:t>Each </a:t>
            </a:r>
            <a:r>
              <a:rPr lang="en-GB" sz="2000" b="1" dirty="0">
                <a:solidFill>
                  <a:srgbClr val="003B66"/>
                </a:solidFill>
                <a:latin typeface="Aptos" panose="020B0004020202020204" pitchFamily="34" charset="0"/>
              </a:rPr>
              <a:t>Add</a:t>
            </a:r>
            <a:r>
              <a:rPr lang="en-GB" sz="2000" dirty="0">
                <a:solidFill>
                  <a:srgbClr val="003B66"/>
                </a:solidFill>
                <a:latin typeface="Aptos" panose="020B0004020202020204" pitchFamily="34" charset="0"/>
              </a:rPr>
              <a:t> primitive executes fully independently of any other </a:t>
            </a:r>
            <a:r>
              <a:rPr lang="en-GB" sz="2000" b="1" dirty="0">
                <a:solidFill>
                  <a:srgbClr val="003B66"/>
                </a:solidFill>
                <a:latin typeface="Aptos" panose="020B0004020202020204" pitchFamily="34" charset="0"/>
              </a:rPr>
              <a:t>Add</a:t>
            </a:r>
            <a:r>
              <a:rPr lang="en-GB" sz="2000" dirty="0">
                <a:solidFill>
                  <a:srgbClr val="003B66"/>
                </a:solidFill>
                <a:latin typeface="Aptos" panose="020B0004020202020204" pitchFamily="34" charset="0"/>
              </a:rPr>
              <a:t> primitives that may exist in the codebase.</a:t>
            </a:r>
          </a:p>
        </p:txBody>
      </p:sp>
      <p:sp>
        <p:nvSpPr>
          <p:cNvPr id="4" name="Slide Number Placeholder 3">
            <a:extLst>
              <a:ext uri="{FF2B5EF4-FFF2-40B4-BE49-F238E27FC236}">
                <a16:creationId xmlns:a16="http://schemas.microsoft.com/office/drawing/2014/main" id="{B2DDA286-CC3C-589A-65FB-67FA96C74AD3}"/>
              </a:ext>
            </a:extLst>
          </p:cNvPr>
          <p:cNvSpPr>
            <a:spLocks noGrp="1"/>
          </p:cNvSpPr>
          <p:nvPr>
            <p:ph type="sldNum" sz="quarter" idx="12"/>
          </p:nvPr>
        </p:nvSpPr>
        <p:spPr/>
        <p:txBody>
          <a:bodyPr/>
          <a:lstStyle/>
          <a:p>
            <a:fld id="{A5BC3523-C363-4BFA-8941-CE9ECEEECBA2}" type="slidenum">
              <a:rPr lang="en-GB" smtClean="0"/>
              <a:t>17</a:t>
            </a:fld>
            <a:endParaRPr lang="en-GB" dirty="0"/>
          </a:p>
        </p:txBody>
      </p:sp>
      <p:pic>
        <p:nvPicPr>
          <p:cNvPr id="6" name="Picture 5">
            <a:extLst>
              <a:ext uri="{FF2B5EF4-FFF2-40B4-BE49-F238E27FC236}">
                <a16:creationId xmlns:a16="http://schemas.microsoft.com/office/drawing/2014/main" id="{4CEFA6C6-BB66-A2AA-9E19-C5CDE1CFDB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7208" y="4032795"/>
            <a:ext cx="4974061" cy="2534675"/>
          </a:xfrm>
          <a:prstGeom prst="rect">
            <a:avLst/>
          </a:prstGeom>
        </p:spPr>
      </p:pic>
    </p:spTree>
    <p:extLst>
      <p:ext uri="{BB962C8B-B14F-4D97-AF65-F5344CB8AC3E}">
        <p14:creationId xmlns:p14="http://schemas.microsoft.com/office/powerpoint/2010/main" val="3640674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80FAC-A955-1605-FB62-2F117D5615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9DD58F-1D25-BC4D-796C-53EC896F0AD5}"/>
              </a:ext>
            </a:extLst>
          </p:cNvPr>
          <p:cNvSpPr>
            <a:spLocks noGrp="1"/>
          </p:cNvSpPr>
          <p:nvPr>
            <p:ph type="title"/>
          </p:nvPr>
        </p:nvSpPr>
        <p:spPr>
          <a:xfrm>
            <a:off x="838200" y="365126"/>
            <a:ext cx="10515600" cy="662164"/>
          </a:xfrm>
        </p:spPr>
        <p:txBody>
          <a:bodyPr>
            <a:normAutofit fontScale="90000"/>
          </a:bodyPr>
          <a:lstStyle/>
          <a:p>
            <a:r>
              <a:rPr lang="en-GB" dirty="0" err="1">
                <a:solidFill>
                  <a:srgbClr val="003B66"/>
                </a:solidFill>
                <a:latin typeface="Aptos Display" panose="020B0004020202020204" pitchFamily="34" charset="0"/>
              </a:rPr>
              <a:t>Preallocated</a:t>
            </a:r>
            <a:r>
              <a:rPr lang="en-GB" dirty="0">
                <a:solidFill>
                  <a:srgbClr val="003B66"/>
                </a:solidFill>
                <a:latin typeface="Aptos Display" panose="020B0004020202020204" pitchFamily="34" charset="0"/>
              </a:rPr>
              <a:t> Clone </a:t>
            </a:r>
            <a:r>
              <a:rPr lang="en-GB" dirty="0" err="1">
                <a:solidFill>
                  <a:srgbClr val="003B66"/>
                </a:solidFill>
                <a:latin typeface="Aptos Display" panose="020B0004020202020204" pitchFamily="34" charset="0"/>
              </a:rPr>
              <a:t>Reentrant</a:t>
            </a:r>
            <a:r>
              <a:rPr lang="en-GB" dirty="0">
                <a:solidFill>
                  <a:srgbClr val="003B66"/>
                </a:solidFill>
                <a:latin typeface="Aptos Display" panose="020B0004020202020204" pitchFamily="34" charset="0"/>
              </a:rPr>
              <a:t> (PCR)</a:t>
            </a:r>
          </a:p>
        </p:txBody>
      </p:sp>
      <p:sp>
        <p:nvSpPr>
          <p:cNvPr id="4" name="Slide Number Placeholder 3">
            <a:extLst>
              <a:ext uri="{FF2B5EF4-FFF2-40B4-BE49-F238E27FC236}">
                <a16:creationId xmlns:a16="http://schemas.microsoft.com/office/drawing/2014/main" id="{024AA220-D0A4-50F8-77A6-008FF0A726C9}"/>
              </a:ext>
            </a:extLst>
          </p:cNvPr>
          <p:cNvSpPr>
            <a:spLocks noGrp="1"/>
          </p:cNvSpPr>
          <p:nvPr>
            <p:ph type="sldNum" sz="quarter" idx="12"/>
          </p:nvPr>
        </p:nvSpPr>
        <p:spPr/>
        <p:txBody>
          <a:bodyPr/>
          <a:lstStyle/>
          <a:p>
            <a:fld id="{A5BC3523-C363-4BFA-8941-CE9ECEEECBA2}" type="slidenum">
              <a:rPr lang="en-GB" smtClean="0"/>
              <a:t>18</a:t>
            </a:fld>
            <a:endParaRPr lang="en-GB" dirty="0"/>
          </a:p>
        </p:txBody>
      </p:sp>
      <p:pic>
        <p:nvPicPr>
          <p:cNvPr id="6" name="Picture 5">
            <a:extLst>
              <a:ext uri="{FF2B5EF4-FFF2-40B4-BE49-F238E27FC236}">
                <a16:creationId xmlns:a16="http://schemas.microsoft.com/office/drawing/2014/main" id="{DC07DA78-C451-1F9E-7D9F-D0831B221C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7190" y="1027290"/>
            <a:ext cx="6335009" cy="3248478"/>
          </a:xfrm>
          <a:prstGeom prst="rect">
            <a:avLst/>
          </a:prstGeom>
        </p:spPr>
      </p:pic>
      <p:pic>
        <p:nvPicPr>
          <p:cNvPr id="9" name="Picture 8">
            <a:extLst>
              <a:ext uri="{FF2B5EF4-FFF2-40B4-BE49-F238E27FC236}">
                <a16:creationId xmlns:a16="http://schemas.microsoft.com/office/drawing/2014/main" id="{A4F2A5D0-96DC-A160-16A4-003C750200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2426" y="3411619"/>
            <a:ext cx="6325483" cy="2524477"/>
          </a:xfrm>
          <a:prstGeom prst="rect">
            <a:avLst/>
          </a:prstGeom>
        </p:spPr>
      </p:pic>
      <p:sp>
        <p:nvSpPr>
          <p:cNvPr id="10" name="Content Placeholder 2">
            <a:extLst>
              <a:ext uri="{FF2B5EF4-FFF2-40B4-BE49-F238E27FC236}">
                <a16:creationId xmlns:a16="http://schemas.microsoft.com/office/drawing/2014/main" id="{C41D8377-D839-630A-6564-81859E49C5BD}"/>
              </a:ext>
            </a:extLst>
          </p:cNvPr>
          <p:cNvSpPr txBox="1">
            <a:spLocks/>
          </p:cNvSpPr>
          <p:nvPr/>
        </p:nvSpPr>
        <p:spPr>
          <a:xfrm>
            <a:off x="7410650" y="1027290"/>
            <a:ext cx="4582427" cy="18121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dirty="0">
                <a:solidFill>
                  <a:srgbClr val="003B66"/>
                </a:solidFill>
                <a:latin typeface="Aptos" panose="020B0004020202020204" pitchFamily="34" charset="0"/>
              </a:rPr>
              <a:t>The same is true of most (perhaps all) primitives.</a:t>
            </a:r>
          </a:p>
          <a:p>
            <a:r>
              <a:rPr lang="en-GB" sz="2000" dirty="0">
                <a:solidFill>
                  <a:srgbClr val="003B66"/>
                </a:solidFill>
                <a:latin typeface="Aptos" panose="020B0004020202020204" pitchFamily="34" charset="0"/>
              </a:rPr>
              <a:t>PCR is the option that makes our VIs behave more like language primitives. This is desirable.</a:t>
            </a:r>
          </a:p>
        </p:txBody>
      </p:sp>
    </p:spTree>
    <p:extLst>
      <p:ext uri="{BB962C8B-B14F-4D97-AF65-F5344CB8AC3E}">
        <p14:creationId xmlns:p14="http://schemas.microsoft.com/office/powerpoint/2010/main" val="339940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E1620-17C2-C420-C3F6-2DD321C8A85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CB93175-74E1-2191-3689-AC2E71D79F15}"/>
              </a:ext>
            </a:extLst>
          </p:cNvPr>
          <p:cNvSpPr>
            <a:spLocks noGrp="1"/>
          </p:cNvSpPr>
          <p:nvPr>
            <p:ph type="sldNum" sz="quarter" idx="12"/>
          </p:nvPr>
        </p:nvSpPr>
        <p:spPr/>
        <p:txBody>
          <a:bodyPr/>
          <a:lstStyle/>
          <a:p>
            <a:fld id="{A5BC3523-C363-4BFA-8941-CE9ECEEECBA2}" type="slidenum">
              <a:rPr lang="en-GB" smtClean="0"/>
              <a:t>19</a:t>
            </a:fld>
            <a:endParaRPr lang="en-GB" dirty="0"/>
          </a:p>
        </p:txBody>
      </p:sp>
      <p:grpSp>
        <p:nvGrpSpPr>
          <p:cNvPr id="96" name="Group 95">
            <a:extLst>
              <a:ext uri="{FF2B5EF4-FFF2-40B4-BE49-F238E27FC236}">
                <a16:creationId xmlns:a16="http://schemas.microsoft.com/office/drawing/2014/main" id="{635AD834-CF6E-FE9C-1E0D-38C822DCEC42}"/>
              </a:ext>
            </a:extLst>
          </p:cNvPr>
          <p:cNvGrpSpPr/>
          <p:nvPr/>
        </p:nvGrpSpPr>
        <p:grpSpPr>
          <a:xfrm>
            <a:off x="307833" y="161161"/>
            <a:ext cx="11850412" cy="2931685"/>
            <a:chOff x="307833" y="161161"/>
            <a:chExt cx="11850412" cy="2931685"/>
          </a:xfrm>
        </p:grpSpPr>
        <p:grpSp>
          <p:nvGrpSpPr>
            <p:cNvPr id="12" name="Group 11">
              <a:extLst>
                <a:ext uri="{FF2B5EF4-FFF2-40B4-BE49-F238E27FC236}">
                  <a16:creationId xmlns:a16="http://schemas.microsoft.com/office/drawing/2014/main" id="{D3B1C045-1313-35F5-A1C1-C96B59FEB76B}"/>
                </a:ext>
              </a:extLst>
            </p:cNvPr>
            <p:cNvGrpSpPr/>
            <p:nvPr/>
          </p:nvGrpSpPr>
          <p:grpSpPr>
            <a:xfrm>
              <a:off x="307833" y="596444"/>
              <a:ext cx="11850412" cy="2496402"/>
              <a:chOff x="307833" y="1003502"/>
              <a:chExt cx="11850412" cy="2496402"/>
            </a:xfrm>
          </p:grpSpPr>
          <p:grpSp>
            <p:nvGrpSpPr>
              <p:cNvPr id="13" name="Group 12">
                <a:extLst>
                  <a:ext uri="{FF2B5EF4-FFF2-40B4-BE49-F238E27FC236}">
                    <a16:creationId xmlns:a16="http://schemas.microsoft.com/office/drawing/2014/main" id="{23414D1B-8F8C-F307-2E33-C8A0FFE0380E}"/>
                  </a:ext>
                </a:extLst>
              </p:cNvPr>
              <p:cNvGrpSpPr/>
              <p:nvPr/>
            </p:nvGrpSpPr>
            <p:grpSpPr>
              <a:xfrm>
                <a:off x="307833" y="1003502"/>
                <a:ext cx="11850412" cy="2496402"/>
                <a:chOff x="307833" y="4458971"/>
                <a:chExt cx="11850412" cy="2496402"/>
              </a:xfrm>
            </p:grpSpPr>
            <p:cxnSp>
              <p:nvCxnSpPr>
                <p:cNvPr id="16" name="Straight Connector 15">
                  <a:extLst>
                    <a:ext uri="{FF2B5EF4-FFF2-40B4-BE49-F238E27FC236}">
                      <a16:creationId xmlns:a16="http://schemas.microsoft.com/office/drawing/2014/main" id="{C372BF8F-5FAD-7771-3657-4F16C837A018}"/>
                    </a:ext>
                  </a:extLst>
                </p:cNvPr>
                <p:cNvCxnSpPr>
                  <a:cxnSpLocks/>
                </p:cNvCxnSpPr>
                <p:nvPr/>
              </p:nvCxnSpPr>
              <p:spPr>
                <a:xfrm rot="5400000">
                  <a:off x="6886239" y="4751815"/>
                  <a:ext cx="0" cy="1188000"/>
                </a:xfrm>
                <a:prstGeom prst="line">
                  <a:avLst/>
                </a:prstGeom>
                <a:ln w="19050">
                  <a:solidFill>
                    <a:srgbClr val="003B66"/>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AF37F1D6-1823-3B66-9FD7-E0AF8B6EC3AC}"/>
                    </a:ext>
                  </a:extLst>
                </p:cNvPr>
                <p:cNvGrpSpPr/>
                <p:nvPr/>
              </p:nvGrpSpPr>
              <p:grpSpPr>
                <a:xfrm>
                  <a:off x="307833" y="4458971"/>
                  <a:ext cx="11850412" cy="2496402"/>
                  <a:chOff x="307833" y="4458971"/>
                  <a:chExt cx="11850412" cy="2496402"/>
                </a:xfrm>
              </p:grpSpPr>
              <p:grpSp>
                <p:nvGrpSpPr>
                  <p:cNvPr id="18" name="Group 17">
                    <a:extLst>
                      <a:ext uri="{FF2B5EF4-FFF2-40B4-BE49-F238E27FC236}">
                        <a16:creationId xmlns:a16="http://schemas.microsoft.com/office/drawing/2014/main" id="{EA06650D-65B4-98DD-8D1A-91398421063B}"/>
                      </a:ext>
                    </a:extLst>
                  </p:cNvPr>
                  <p:cNvGrpSpPr/>
                  <p:nvPr/>
                </p:nvGrpSpPr>
                <p:grpSpPr>
                  <a:xfrm>
                    <a:off x="307833" y="4706752"/>
                    <a:ext cx="11850412" cy="1554689"/>
                    <a:chOff x="307833" y="4639377"/>
                    <a:chExt cx="11850412" cy="1554689"/>
                  </a:xfrm>
                </p:grpSpPr>
                <p:grpSp>
                  <p:nvGrpSpPr>
                    <p:cNvPr id="47" name="Group 46">
                      <a:extLst>
                        <a:ext uri="{FF2B5EF4-FFF2-40B4-BE49-F238E27FC236}">
                          <a16:creationId xmlns:a16="http://schemas.microsoft.com/office/drawing/2014/main" id="{534C40B2-4282-35C4-E2F7-3B7643C4CA01}"/>
                        </a:ext>
                      </a:extLst>
                    </p:cNvPr>
                    <p:cNvGrpSpPr/>
                    <p:nvPr/>
                  </p:nvGrpSpPr>
                  <p:grpSpPr>
                    <a:xfrm>
                      <a:off x="1309036" y="5787037"/>
                      <a:ext cx="10849209" cy="407029"/>
                      <a:chOff x="1309036" y="5573027"/>
                      <a:chExt cx="10849209" cy="407029"/>
                    </a:xfrm>
                  </p:grpSpPr>
                  <p:cxnSp>
                    <p:nvCxnSpPr>
                      <p:cNvPr id="50" name="Straight Arrow Connector 49">
                        <a:extLst>
                          <a:ext uri="{FF2B5EF4-FFF2-40B4-BE49-F238E27FC236}">
                            <a16:creationId xmlns:a16="http://schemas.microsoft.com/office/drawing/2014/main" id="{8B0A7D8F-8869-2763-6376-AF35F1EB7599}"/>
                          </a:ext>
                        </a:extLst>
                      </p:cNvPr>
                      <p:cNvCxnSpPr>
                        <a:cxnSpLocks/>
                      </p:cNvCxnSpPr>
                      <p:nvPr/>
                    </p:nvCxnSpPr>
                    <p:spPr>
                      <a:xfrm>
                        <a:off x="1309036" y="5573027"/>
                        <a:ext cx="10367676" cy="0"/>
                      </a:xfrm>
                      <a:prstGeom prst="straightConnector1">
                        <a:avLst/>
                      </a:prstGeom>
                      <a:ln w="19050">
                        <a:solidFill>
                          <a:srgbClr val="003B66"/>
                        </a:solidFill>
                        <a:tailEnd type="triangle"/>
                      </a:ln>
                    </p:spPr>
                    <p:style>
                      <a:lnRef idx="1">
                        <a:schemeClr val="accent1"/>
                      </a:lnRef>
                      <a:fillRef idx="0">
                        <a:schemeClr val="accent1"/>
                      </a:fillRef>
                      <a:effectRef idx="0">
                        <a:schemeClr val="accent1"/>
                      </a:effectRef>
                      <a:fontRef idx="minor">
                        <a:schemeClr val="tx1"/>
                      </a:fontRef>
                    </p:style>
                  </p:cxnSp>
                  <p:sp>
                    <p:nvSpPr>
                      <p:cNvPr id="51" name="Title 1">
                        <a:extLst>
                          <a:ext uri="{FF2B5EF4-FFF2-40B4-BE49-F238E27FC236}">
                            <a16:creationId xmlns:a16="http://schemas.microsoft.com/office/drawing/2014/main" id="{102A3588-67CC-5D13-5996-689F069EBE84}"/>
                          </a:ext>
                        </a:extLst>
                      </p:cNvPr>
                      <p:cNvSpPr txBox="1">
                        <a:spLocks/>
                      </p:cNvSpPr>
                      <p:nvPr/>
                    </p:nvSpPr>
                    <p:spPr>
                      <a:xfrm>
                        <a:off x="11099261" y="5614933"/>
                        <a:ext cx="1058984" cy="365123"/>
                      </a:xfrm>
                      <a:prstGeom prst="rect">
                        <a:avLst/>
                      </a:prstGeom>
                    </p:spPr>
                    <p:txBody>
                      <a:bodyPr vert="horz" lIns="91440" tIns="45720" rIns="91440" bIns="45720" rtlCol="0" anchor="ctr">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rgbClr val="003B66"/>
                            </a:solidFill>
                            <a:latin typeface="Aptos" panose="020B0004020202020204" pitchFamily="34" charset="0"/>
                          </a:rPr>
                          <a:t>Time</a:t>
                        </a:r>
                        <a:endParaRPr lang="en-US" sz="1600" dirty="0">
                          <a:solidFill>
                            <a:srgbClr val="003B66"/>
                          </a:solidFill>
                          <a:latin typeface="Aptos" panose="020B0004020202020204" pitchFamily="34" charset="0"/>
                        </a:endParaRPr>
                      </a:p>
                    </p:txBody>
                  </p:sp>
                </p:grpSp>
                <p:sp>
                  <p:nvSpPr>
                    <p:cNvPr id="48" name="Title 1">
                      <a:extLst>
                        <a:ext uri="{FF2B5EF4-FFF2-40B4-BE49-F238E27FC236}">
                          <a16:creationId xmlns:a16="http://schemas.microsoft.com/office/drawing/2014/main" id="{CEB961A3-83E0-00FF-6F96-6BF5AEC85500}"/>
                        </a:ext>
                      </a:extLst>
                    </p:cNvPr>
                    <p:cNvSpPr txBox="1">
                      <a:spLocks/>
                    </p:cNvSpPr>
                    <p:nvPr/>
                  </p:nvSpPr>
                  <p:spPr>
                    <a:xfrm>
                      <a:off x="307833" y="4639377"/>
                      <a:ext cx="1336141" cy="359997"/>
                    </a:xfrm>
                    <a:prstGeom prst="rect">
                      <a:avLst/>
                    </a:prstGeom>
                  </p:spPr>
                  <p:txBody>
                    <a:bodyPr vert="horz" lIns="91440" tIns="45720" rIns="91440" bIns="45720" rtlCol="0" anchor="ctr">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rgbClr val="003B66"/>
                          </a:solidFill>
                          <a:latin typeface="Aptos" panose="020B0004020202020204" pitchFamily="34" charset="0"/>
                        </a:rPr>
                        <a:t>Call Site 1</a:t>
                      </a:r>
                      <a:endParaRPr lang="en-US" sz="1600" dirty="0">
                        <a:solidFill>
                          <a:srgbClr val="003B66"/>
                        </a:solidFill>
                        <a:latin typeface="Aptos" panose="020B0004020202020204" pitchFamily="34" charset="0"/>
                      </a:endParaRPr>
                    </a:p>
                  </p:txBody>
                </p:sp>
                <p:sp>
                  <p:nvSpPr>
                    <p:cNvPr id="49" name="Title 1">
                      <a:extLst>
                        <a:ext uri="{FF2B5EF4-FFF2-40B4-BE49-F238E27FC236}">
                          <a16:creationId xmlns:a16="http://schemas.microsoft.com/office/drawing/2014/main" id="{7F8F62DC-04FF-7048-FC8A-946524F06D68}"/>
                        </a:ext>
                      </a:extLst>
                    </p:cNvPr>
                    <p:cNvSpPr txBox="1">
                      <a:spLocks/>
                    </p:cNvSpPr>
                    <p:nvPr/>
                  </p:nvSpPr>
                  <p:spPr>
                    <a:xfrm>
                      <a:off x="307833" y="5335366"/>
                      <a:ext cx="1336141" cy="359997"/>
                    </a:xfrm>
                    <a:prstGeom prst="rect">
                      <a:avLst/>
                    </a:prstGeom>
                  </p:spPr>
                  <p:txBody>
                    <a:bodyPr vert="horz" lIns="91440" tIns="45720" rIns="91440" bIns="45720" rtlCol="0" anchor="ctr">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rgbClr val="003B66"/>
                          </a:solidFill>
                          <a:latin typeface="Aptos" panose="020B0004020202020204" pitchFamily="34" charset="0"/>
                        </a:rPr>
                        <a:t>Call Site 2</a:t>
                      </a:r>
                      <a:endParaRPr lang="en-US" sz="1600" dirty="0">
                        <a:solidFill>
                          <a:srgbClr val="003B66"/>
                        </a:solidFill>
                        <a:latin typeface="Aptos" panose="020B0004020202020204" pitchFamily="34" charset="0"/>
                      </a:endParaRPr>
                    </a:p>
                  </p:txBody>
                </p:sp>
              </p:grpSp>
              <p:grpSp>
                <p:nvGrpSpPr>
                  <p:cNvPr id="19" name="Group 18">
                    <a:extLst>
                      <a:ext uri="{FF2B5EF4-FFF2-40B4-BE49-F238E27FC236}">
                        <a16:creationId xmlns:a16="http://schemas.microsoft.com/office/drawing/2014/main" id="{8B47C44A-19EC-84EB-D074-E0082178E470}"/>
                      </a:ext>
                    </a:extLst>
                  </p:cNvPr>
                  <p:cNvGrpSpPr/>
                  <p:nvPr/>
                </p:nvGrpSpPr>
                <p:grpSpPr>
                  <a:xfrm>
                    <a:off x="1778703" y="4639377"/>
                    <a:ext cx="8308282" cy="1124805"/>
                    <a:chOff x="1778703" y="4639377"/>
                    <a:chExt cx="8308282" cy="1124805"/>
                  </a:xfrm>
                </p:grpSpPr>
                <p:grpSp>
                  <p:nvGrpSpPr>
                    <p:cNvPr id="35" name="Group 34">
                      <a:extLst>
                        <a:ext uri="{FF2B5EF4-FFF2-40B4-BE49-F238E27FC236}">
                          <a16:creationId xmlns:a16="http://schemas.microsoft.com/office/drawing/2014/main" id="{ABEA1F18-90C1-6A68-70EE-32B39FF20CA6}"/>
                        </a:ext>
                      </a:extLst>
                    </p:cNvPr>
                    <p:cNvGrpSpPr/>
                    <p:nvPr/>
                  </p:nvGrpSpPr>
                  <p:grpSpPr>
                    <a:xfrm>
                      <a:off x="1778703" y="4639377"/>
                      <a:ext cx="2535751" cy="360000"/>
                      <a:chOff x="1778703" y="4639377"/>
                      <a:chExt cx="2535751" cy="360000"/>
                    </a:xfrm>
                  </p:grpSpPr>
                  <p:sp>
                    <p:nvSpPr>
                      <p:cNvPr id="44" name="Rectangle 43">
                        <a:extLst>
                          <a:ext uri="{FF2B5EF4-FFF2-40B4-BE49-F238E27FC236}">
                            <a16:creationId xmlns:a16="http://schemas.microsoft.com/office/drawing/2014/main" id="{1B35D61C-E248-29C7-53E7-905B6724AADC}"/>
                          </a:ext>
                        </a:extLst>
                      </p:cNvPr>
                      <p:cNvSpPr/>
                      <p:nvPr/>
                    </p:nvSpPr>
                    <p:spPr>
                      <a:xfrm>
                        <a:off x="2146434" y="4639377"/>
                        <a:ext cx="1800000" cy="360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VI Code</a:t>
                        </a:r>
                      </a:p>
                    </p:txBody>
                  </p:sp>
                  <p:sp>
                    <p:nvSpPr>
                      <p:cNvPr id="45" name="Rectangle 44">
                        <a:extLst>
                          <a:ext uri="{FF2B5EF4-FFF2-40B4-BE49-F238E27FC236}">
                            <a16:creationId xmlns:a16="http://schemas.microsoft.com/office/drawing/2014/main" id="{190620CF-B7BD-253D-6E37-5242A3B46668}"/>
                          </a:ext>
                        </a:extLst>
                      </p:cNvPr>
                      <p:cNvSpPr/>
                      <p:nvPr/>
                    </p:nvSpPr>
                    <p:spPr>
                      <a:xfrm>
                        <a:off x="1778703" y="4639377"/>
                        <a:ext cx="360000" cy="360000"/>
                      </a:xfrm>
                      <a:prstGeom prst="rect">
                        <a:avLst/>
                      </a:prstGeom>
                      <a:pattFill prst="pct10">
                        <a:fgClr>
                          <a:srgbClr val="FF9999"/>
                        </a:fgClr>
                        <a:bgClr>
                          <a:schemeClr val="bg1"/>
                        </a:bgClr>
                      </a:pattFill>
                      <a:ln>
                        <a:solidFill>
                          <a:srgbClr val="FF99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ectangle 45">
                        <a:extLst>
                          <a:ext uri="{FF2B5EF4-FFF2-40B4-BE49-F238E27FC236}">
                            <a16:creationId xmlns:a16="http://schemas.microsoft.com/office/drawing/2014/main" id="{10EE75A6-1627-2F8F-469A-04616866AFC3}"/>
                          </a:ext>
                        </a:extLst>
                      </p:cNvPr>
                      <p:cNvSpPr/>
                      <p:nvPr/>
                    </p:nvSpPr>
                    <p:spPr>
                      <a:xfrm>
                        <a:off x="3954454" y="4639377"/>
                        <a:ext cx="360000" cy="360000"/>
                      </a:xfrm>
                      <a:prstGeom prst="rect">
                        <a:avLst/>
                      </a:prstGeom>
                      <a:pattFill prst="pct10">
                        <a:fgClr>
                          <a:srgbClr val="FF9999"/>
                        </a:fgClr>
                        <a:bgClr>
                          <a:schemeClr val="bg1"/>
                        </a:bgClr>
                      </a:pattFill>
                      <a:ln>
                        <a:solidFill>
                          <a:srgbClr val="FF99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6" name="Group 35">
                      <a:extLst>
                        <a:ext uri="{FF2B5EF4-FFF2-40B4-BE49-F238E27FC236}">
                          <a16:creationId xmlns:a16="http://schemas.microsoft.com/office/drawing/2014/main" id="{5C089D90-BCB8-2AD8-2242-23F6BC1B3802}"/>
                        </a:ext>
                      </a:extLst>
                    </p:cNvPr>
                    <p:cNvGrpSpPr/>
                    <p:nvPr/>
                  </p:nvGrpSpPr>
                  <p:grpSpPr>
                    <a:xfrm>
                      <a:off x="4989580" y="4639377"/>
                      <a:ext cx="2535751" cy="360000"/>
                      <a:chOff x="1778703" y="4639377"/>
                      <a:chExt cx="2535751" cy="360000"/>
                    </a:xfrm>
                  </p:grpSpPr>
                  <p:sp>
                    <p:nvSpPr>
                      <p:cNvPr id="41" name="Rectangle 40">
                        <a:extLst>
                          <a:ext uri="{FF2B5EF4-FFF2-40B4-BE49-F238E27FC236}">
                            <a16:creationId xmlns:a16="http://schemas.microsoft.com/office/drawing/2014/main" id="{C648A2AE-36FF-E810-21C1-54A670979AC7}"/>
                          </a:ext>
                        </a:extLst>
                      </p:cNvPr>
                      <p:cNvSpPr/>
                      <p:nvPr/>
                    </p:nvSpPr>
                    <p:spPr>
                      <a:xfrm>
                        <a:off x="2146434" y="4639377"/>
                        <a:ext cx="1800000" cy="360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VI Code</a:t>
                        </a:r>
                      </a:p>
                    </p:txBody>
                  </p:sp>
                  <p:sp>
                    <p:nvSpPr>
                      <p:cNvPr id="42" name="Rectangle 41">
                        <a:extLst>
                          <a:ext uri="{FF2B5EF4-FFF2-40B4-BE49-F238E27FC236}">
                            <a16:creationId xmlns:a16="http://schemas.microsoft.com/office/drawing/2014/main" id="{2F198474-CA2A-7E2A-9CBB-9074DD5814E6}"/>
                          </a:ext>
                        </a:extLst>
                      </p:cNvPr>
                      <p:cNvSpPr/>
                      <p:nvPr/>
                    </p:nvSpPr>
                    <p:spPr>
                      <a:xfrm>
                        <a:off x="1778703" y="4639377"/>
                        <a:ext cx="360000" cy="360000"/>
                      </a:xfrm>
                      <a:prstGeom prst="rect">
                        <a:avLst/>
                      </a:prstGeom>
                      <a:pattFill prst="pct10">
                        <a:fgClr>
                          <a:srgbClr val="FF9999"/>
                        </a:fgClr>
                        <a:bgClr>
                          <a:schemeClr val="bg1"/>
                        </a:bgClr>
                      </a:pattFill>
                      <a:ln>
                        <a:solidFill>
                          <a:srgbClr val="FF99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a:extLst>
                          <a:ext uri="{FF2B5EF4-FFF2-40B4-BE49-F238E27FC236}">
                            <a16:creationId xmlns:a16="http://schemas.microsoft.com/office/drawing/2014/main" id="{36B41E74-88A6-DCC9-0567-081AF5DDDF05}"/>
                          </a:ext>
                        </a:extLst>
                      </p:cNvPr>
                      <p:cNvSpPr/>
                      <p:nvPr/>
                    </p:nvSpPr>
                    <p:spPr>
                      <a:xfrm>
                        <a:off x="3954454" y="4639377"/>
                        <a:ext cx="360000" cy="360000"/>
                      </a:xfrm>
                      <a:prstGeom prst="rect">
                        <a:avLst/>
                      </a:prstGeom>
                      <a:pattFill prst="pct10">
                        <a:fgClr>
                          <a:srgbClr val="FF9999"/>
                        </a:fgClr>
                        <a:bgClr>
                          <a:schemeClr val="bg1"/>
                        </a:bgClr>
                      </a:pattFill>
                      <a:ln>
                        <a:solidFill>
                          <a:srgbClr val="FF99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7" name="Group 36">
                      <a:extLst>
                        <a:ext uri="{FF2B5EF4-FFF2-40B4-BE49-F238E27FC236}">
                          <a16:creationId xmlns:a16="http://schemas.microsoft.com/office/drawing/2014/main" id="{696B38B8-01C2-8C05-0CEE-F4D1C765DC0E}"/>
                        </a:ext>
                      </a:extLst>
                    </p:cNvPr>
                    <p:cNvGrpSpPr/>
                    <p:nvPr/>
                  </p:nvGrpSpPr>
                  <p:grpSpPr>
                    <a:xfrm>
                      <a:off x="7551234" y="5404182"/>
                      <a:ext cx="2535751" cy="360000"/>
                      <a:chOff x="1778703" y="4639377"/>
                      <a:chExt cx="2535751" cy="360000"/>
                    </a:xfrm>
                  </p:grpSpPr>
                  <p:sp>
                    <p:nvSpPr>
                      <p:cNvPr id="38" name="Rectangle 37">
                        <a:extLst>
                          <a:ext uri="{FF2B5EF4-FFF2-40B4-BE49-F238E27FC236}">
                            <a16:creationId xmlns:a16="http://schemas.microsoft.com/office/drawing/2014/main" id="{F3FE9198-808D-FD1B-76F6-BAB971E63302}"/>
                          </a:ext>
                        </a:extLst>
                      </p:cNvPr>
                      <p:cNvSpPr/>
                      <p:nvPr/>
                    </p:nvSpPr>
                    <p:spPr>
                      <a:xfrm>
                        <a:off x="2146434" y="4639377"/>
                        <a:ext cx="1800000" cy="360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VI Code</a:t>
                        </a:r>
                      </a:p>
                    </p:txBody>
                  </p:sp>
                  <p:sp>
                    <p:nvSpPr>
                      <p:cNvPr id="39" name="Rectangle 38">
                        <a:extLst>
                          <a:ext uri="{FF2B5EF4-FFF2-40B4-BE49-F238E27FC236}">
                            <a16:creationId xmlns:a16="http://schemas.microsoft.com/office/drawing/2014/main" id="{55CAA323-6A65-FE98-5A67-E0FC38F70E0F}"/>
                          </a:ext>
                        </a:extLst>
                      </p:cNvPr>
                      <p:cNvSpPr/>
                      <p:nvPr/>
                    </p:nvSpPr>
                    <p:spPr>
                      <a:xfrm>
                        <a:off x="1778703" y="4639377"/>
                        <a:ext cx="360000" cy="360000"/>
                      </a:xfrm>
                      <a:prstGeom prst="rect">
                        <a:avLst/>
                      </a:prstGeom>
                      <a:pattFill prst="pct10">
                        <a:fgClr>
                          <a:srgbClr val="FF9999"/>
                        </a:fgClr>
                        <a:bgClr>
                          <a:schemeClr val="bg1"/>
                        </a:bgClr>
                      </a:pattFill>
                      <a:ln>
                        <a:solidFill>
                          <a:srgbClr val="FF99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0" name="Rectangle 39">
                        <a:extLst>
                          <a:ext uri="{FF2B5EF4-FFF2-40B4-BE49-F238E27FC236}">
                            <a16:creationId xmlns:a16="http://schemas.microsoft.com/office/drawing/2014/main" id="{7FC65F53-C0DE-C464-15DD-AF506282853F}"/>
                          </a:ext>
                        </a:extLst>
                      </p:cNvPr>
                      <p:cNvSpPr/>
                      <p:nvPr/>
                    </p:nvSpPr>
                    <p:spPr>
                      <a:xfrm>
                        <a:off x="3954454" y="4639377"/>
                        <a:ext cx="360000" cy="360000"/>
                      </a:xfrm>
                      <a:prstGeom prst="rect">
                        <a:avLst/>
                      </a:prstGeom>
                      <a:pattFill prst="pct10">
                        <a:fgClr>
                          <a:srgbClr val="FF9999"/>
                        </a:fgClr>
                        <a:bgClr>
                          <a:schemeClr val="bg1"/>
                        </a:bgClr>
                      </a:pattFill>
                      <a:ln>
                        <a:solidFill>
                          <a:srgbClr val="FF99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0" name="Group 19">
                    <a:extLst>
                      <a:ext uri="{FF2B5EF4-FFF2-40B4-BE49-F238E27FC236}">
                        <a16:creationId xmlns:a16="http://schemas.microsoft.com/office/drawing/2014/main" id="{51E23949-1D9A-5C3F-EA54-812F3A1B4304}"/>
                      </a:ext>
                    </a:extLst>
                  </p:cNvPr>
                  <p:cNvGrpSpPr/>
                  <p:nvPr/>
                </p:nvGrpSpPr>
                <p:grpSpPr>
                  <a:xfrm>
                    <a:off x="5219129" y="5018830"/>
                    <a:ext cx="3671798" cy="1936543"/>
                    <a:chOff x="5219129" y="5018830"/>
                    <a:chExt cx="3671798" cy="1936543"/>
                  </a:xfrm>
                </p:grpSpPr>
                <p:cxnSp>
                  <p:nvCxnSpPr>
                    <p:cNvPr id="29" name="Straight Connector 28">
                      <a:extLst>
                        <a:ext uri="{FF2B5EF4-FFF2-40B4-BE49-F238E27FC236}">
                          <a16:creationId xmlns:a16="http://schemas.microsoft.com/office/drawing/2014/main" id="{4D8A4762-FF4D-7639-C351-714317519A01}"/>
                        </a:ext>
                      </a:extLst>
                    </p:cNvPr>
                    <p:cNvCxnSpPr>
                      <a:cxnSpLocks/>
                    </p:cNvCxnSpPr>
                    <p:nvPr/>
                  </p:nvCxnSpPr>
                  <p:spPr>
                    <a:xfrm>
                      <a:off x="6245160" y="5018830"/>
                      <a:ext cx="0" cy="756000"/>
                    </a:xfrm>
                    <a:prstGeom prst="line">
                      <a:avLst/>
                    </a:prstGeom>
                    <a:ln w="19050">
                      <a:solidFill>
                        <a:srgbClr val="003B66"/>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F649506-7E7F-63A1-C101-F1EC51761D2B}"/>
                        </a:ext>
                      </a:extLst>
                    </p:cNvPr>
                    <p:cNvCxnSpPr>
                      <a:cxnSpLocks/>
                    </p:cNvCxnSpPr>
                    <p:nvPr/>
                  </p:nvCxnSpPr>
                  <p:spPr>
                    <a:xfrm>
                      <a:off x="7525969" y="5018830"/>
                      <a:ext cx="0" cy="756000"/>
                    </a:xfrm>
                    <a:prstGeom prst="line">
                      <a:avLst/>
                    </a:prstGeom>
                    <a:ln w="19050">
                      <a:solidFill>
                        <a:srgbClr val="003B66"/>
                      </a:solidFill>
                      <a:prstDash val="dash"/>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813CDA6E-D0CD-BD74-8295-B8564FEECEA4}"/>
                        </a:ext>
                      </a:extLst>
                    </p:cNvPr>
                    <p:cNvSpPr/>
                    <p:nvPr/>
                  </p:nvSpPr>
                  <p:spPr>
                    <a:xfrm>
                      <a:off x="6261657" y="5414830"/>
                      <a:ext cx="1239041" cy="360000"/>
                    </a:xfrm>
                    <a:prstGeom prst="rect">
                      <a:avLst/>
                    </a:prstGeom>
                    <a:pattFill prst="diagBrick">
                      <a:fgClr>
                        <a:srgbClr val="FF9999"/>
                      </a:fgClr>
                      <a:bgClr>
                        <a:schemeClr val="bg1"/>
                      </a:bgClr>
                    </a:pattFill>
                    <a:ln>
                      <a:solidFill>
                        <a:srgbClr val="FF99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itle 1">
                      <a:extLst>
                        <a:ext uri="{FF2B5EF4-FFF2-40B4-BE49-F238E27FC236}">
                          <a16:creationId xmlns:a16="http://schemas.microsoft.com/office/drawing/2014/main" id="{436DD427-C900-C819-392F-EA163A307C29}"/>
                        </a:ext>
                      </a:extLst>
                    </p:cNvPr>
                    <p:cNvSpPr txBox="1">
                      <a:spLocks/>
                    </p:cNvSpPr>
                    <p:nvPr/>
                  </p:nvSpPr>
                  <p:spPr>
                    <a:xfrm>
                      <a:off x="5219129" y="5916495"/>
                      <a:ext cx="1696809" cy="892530"/>
                    </a:xfrm>
                    <a:prstGeom prst="rect">
                      <a:avLst/>
                    </a:prstGeom>
                  </p:spPr>
                  <p:txBody>
                    <a:bodyPr vert="horz" lIns="91440" tIns="45720" rIns="91440" bIns="45720" rtlCol="0" anchor="ctr">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rgbClr val="003B66"/>
                          </a:solidFill>
                          <a:latin typeface="Aptos" panose="020B0004020202020204" pitchFamily="34" charset="0"/>
                        </a:rPr>
                        <a:t>Moment call site 2 wishes to start running the NR VI</a:t>
                      </a:r>
                      <a:endParaRPr lang="en-US" sz="1600" dirty="0">
                        <a:solidFill>
                          <a:srgbClr val="003B66"/>
                        </a:solidFill>
                        <a:latin typeface="Aptos" panose="020B0004020202020204" pitchFamily="34" charset="0"/>
                      </a:endParaRPr>
                    </a:p>
                  </p:txBody>
                </p:sp>
                <p:sp>
                  <p:nvSpPr>
                    <p:cNvPr id="33" name="Title 1">
                      <a:extLst>
                        <a:ext uri="{FF2B5EF4-FFF2-40B4-BE49-F238E27FC236}">
                          <a16:creationId xmlns:a16="http://schemas.microsoft.com/office/drawing/2014/main" id="{CD2C7515-B4BF-AB85-0CC7-61C23AECB0AC}"/>
                        </a:ext>
                      </a:extLst>
                    </p:cNvPr>
                    <p:cNvSpPr txBox="1">
                      <a:spLocks/>
                    </p:cNvSpPr>
                    <p:nvPr/>
                  </p:nvSpPr>
                  <p:spPr>
                    <a:xfrm>
                      <a:off x="7194118" y="5916494"/>
                      <a:ext cx="1696809" cy="1038879"/>
                    </a:xfrm>
                    <a:prstGeom prst="rect">
                      <a:avLst/>
                    </a:prstGeom>
                  </p:spPr>
                  <p:txBody>
                    <a:bodyPr vert="horz" lIns="91440" tIns="45720" rIns="91440" bIns="45720" rtlCol="0" anchor="ctr">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rgbClr val="003B66"/>
                          </a:solidFill>
                          <a:latin typeface="Aptos" panose="020B0004020202020204" pitchFamily="34" charset="0"/>
                        </a:rPr>
                        <a:t>Moment call site 2 is given permission to start running the NR VI</a:t>
                      </a:r>
                      <a:endParaRPr lang="en-US" sz="1600" dirty="0">
                        <a:solidFill>
                          <a:srgbClr val="003B66"/>
                        </a:solidFill>
                        <a:latin typeface="Aptos" panose="020B0004020202020204" pitchFamily="34" charset="0"/>
                      </a:endParaRPr>
                    </a:p>
                  </p:txBody>
                </p:sp>
                <p:sp>
                  <p:nvSpPr>
                    <p:cNvPr id="34" name="Title 1">
                      <a:extLst>
                        <a:ext uri="{FF2B5EF4-FFF2-40B4-BE49-F238E27FC236}">
                          <a16:creationId xmlns:a16="http://schemas.microsoft.com/office/drawing/2014/main" id="{A38CDDFE-A5AD-BDCA-BE7E-D0B0490000F9}"/>
                        </a:ext>
                      </a:extLst>
                    </p:cNvPr>
                    <p:cNvSpPr txBox="1">
                      <a:spLocks/>
                    </p:cNvSpPr>
                    <p:nvPr/>
                  </p:nvSpPr>
                  <p:spPr>
                    <a:xfrm>
                      <a:off x="6292240" y="5027355"/>
                      <a:ext cx="1258994" cy="360000"/>
                    </a:xfrm>
                    <a:prstGeom prst="rect">
                      <a:avLst/>
                    </a:prstGeom>
                  </p:spPr>
                  <p:txBody>
                    <a:bodyPr vert="horz" lIns="91440" tIns="45720" rIns="91440" bIns="45720" rtlCol="0" anchor="ctr">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rgbClr val="003B66"/>
                          </a:solidFill>
                          <a:latin typeface="Aptos" panose="020B0004020202020204" pitchFamily="34" charset="0"/>
                        </a:rPr>
                        <a:t>wait</a:t>
                      </a:r>
                      <a:endParaRPr lang="en-US" sz="1600" dirty="0">
                        <a:solidFill>
                          <a:srgbClr val="003B66"/>
                        </a:solidFill>
                        <a:latin typeface="Aptos" panose="020B0004020202020204" pitchFamily="34" charset="0"/>
                      </a:endParaRPr>
                    </a:p>
                  </p:txBody>
                </p:sp>
              </p:grpSp>
              <p:grpSp>
                <p:nvGrpSpPr>
                  <p:cNvPr id="21" name="Group 20">
                    <a:extLst>
                      <a:ext uri="{FF2B5EF4-FFF2-40B4-BE49-F238E27FC236}">
                        <a16:creationId xmlns:a16="http://schemas.microsoft.com/office/drawing/2014/main" id="{36D69961-EC86-DEBA-FE3A-4CA07A9F4DAA}"/>
                      </a:ext>
                    </a:extLst>
                  </p:cNvPr>
                  <p:cNvGrpSpPr/>
                  <p:nvPr/>
                </p:nvGrpSpPr>
                <p:grpSpPr>
                  <a:xfrm>
                    <a:off x="7345331" y="4458971"/>
                    <a:ext cx="3633917" cy="989018"/>
                    <a:chOff x="7345331" y="4458971"/>
                    <a:chExt cx="3633917" cy="989018"/>
                  </a:xfrm>
                </p:grpSpPr>
                <p:sp>
                  <p:nvSpPr>
                    <p:cNvPr id="27" name="Title 1">
                      <a:extLst>
                        <a:ext uri="{FF2B5EF4-FFF2-40B4-BE49-F238E27FC236}">
                          <a16:creationId xmlns:a16="http://schemas.microsoft.com/office/drawing/2014/main" id="{555ECCAD-E3B7-3C2F-C785-BE95411E33F4}"/>
                        </a:ext>
                      </a:extLst>
                    </p:cNvPr>
                    <p:cNvSpPr txBox="1">
                      <a:spLocks/>
                    </p:cNvSpPr>
                    <p:nvPr/>
                  </p:nvSpPr>
                  <p:spPr>
                    <a:xfrm>
                      <a:off x="8081601" y="4458971"/>
                      <a:ext cx="2897647" cy="748384"/>
                    </a:xfrm>
                    <a:prstGeom prst="rect">
                      <a:avLst/>
                    </a:prstGeom>
                  </p:spPr>
                  <p:txBody>
                    <a:bodyPr vert="horz" lIns="91440" tIns="45720" rIns="91440" bIns="45720" rtlCol="0" anchor="ctr">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rgbClr val="C00000"/>
                          </a:solidFill>
                          <a:latin typeface="Aptos" panose="020B0004020202020204" pitchFamily="34" charset="0"/>
                        </a:rPr>
                        <a:t>Overhead Type 1: call sites waiting on each other</a:t>
                      </a:r>
                      <a:endParaRPr lang="en-US" sz="1600" dirty="0">
                        <a:solidFill>
                          <a:srgbClr val="C00000"/>
                        </a:solidFill>
                        <a:latin typeface="Aptos" panose="020B0004020202020204" pitchFamily="34" charset="0"/>
                      </a:endParaRPr>
                    </a:p>
                  </p:txBody>
                </p:sp>
                <p:cxnSp>
                  <p:nvCxnSpPr>
                    <p:cNvPr id="28" name="Straight Connector 27">
                      <a:extLst>
                        <a:ext uri="{FF2B5EF4-FFF2-40B4-BE49-F238E27FC236}">
                          <a16:creationId xmlns:a16="http://schemas.microsoft.com/office/drawing/2014/main" id="{02A77B88-23E4-CAF2-4C03-5FF7CF17B3A5}"/>
                        </a:ext>
                      </a:extLst>
                    </p:cNvPr>
                    <p:cNvCxnSpPr>
                      <a:cxnSpLocks/>
                    </p:cNvCxnSpPr>
                    <p:nvPr/>
                  </p:nvCxnSpPr>
                  <p:spPr>
                    <a:xfrm flipH="1">
                      <a:off x="7345331" y="4880457"/>
                      <a:ext cx="942635" cy="567532"/>
                    </a:xfrm>
                    <a:prstGeom prst="line">
                      <a:avLst/>
                    </a:prstGeom>
                    <a:ln w="12700">
                      <a:solidFill>
                        <a:srgbClr val="C0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62F637FC-5E88-873C-9D27-02781B7B26D9}"/>
                      </a:ext>
                    </a:extLst>
                  </p:cNvPr>
                  <p:cNvGrpSpPr/>
                  <p:nvPr/>
                </p:nvGrpSpPr>
                <p:grpSpPr>
                  <a:xfrm>
                    <a:off x="838200" y="4999377"/>
                    <a:ext cx="4126152" cy="1645612"/>
                    <a:chOff x="838200" y="4999377"/>
                    <a:chExt cx="4126152" cy="1645612"/>
                  </a:xfrm>
                </p:grpSpPr>
                <p:sp>
                  <p:nvSpPr>
                    <p:cNvPr id="23" name="Title 1">
                      <a:extLst>
                        <a:ext uri="{FF2B5EF4-FFF2-40B4-BE49-F238E27FC236}">
                          <a16:creationId xmlns:a16="http://schemas.microsoft.com/office/drawing/2014/main" id="{DC1C1D6D-ED12-C40E-ADEE-5D43C76567D8}"/>
                        </a:ext>
                      </a:extLst>
                    </p:cNvPr>
                    <p:cNvSpPr txBox="1">
                      <a:spLocks/>
                    </p:cNvSpPr>
                    <p:nvPr/>
                  </p:nvSpPr>
                  <p:spPr>
                    <a:xfrm>
                      <a:off x="838200" y="5896605"/>
                      <a:ext cx="3685674" cy="74838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rgbClr val="C00000"/>
                          </a:solidFill>
                          <a:latin typeface="Aptos" panose="020B0004020202020204" pitchFamily="34" charset="0"/>
                        </a:rPr>
                        <a:t>Overhead Type 2: co-ordination mechanism (mutex)</a:t>
                      </a:r>
                      <a:endParaRPr lang="en-US" sz="1600" dirty="0">
                        <a:solidFill>
                          <a:srgbClr val="C00000"/>
                        </a:solidFill>
                        <a:latin typeface="Aptos" panose="020B0004020202020204" pitchFamily="34" charset="0"/>
                      </a:endParaRPr>
                    </a:p>
                  </p:txBody>
                </p:sp>
                <p:cxnSp>
                  <p:nvCxnSpPr>
                    <p:cNvPr id="24" name="Straight Connector 23">
                      <a:extLst>
                        <a:ext uri="{FF2B5EF4-FFF2-40B4-BE49-F238E27FC236}">
                          <a16:creationId xmlns:a16="http://schemas.microsoft.com/office/drawing/2014/main" id="{9546DF27-9722-FE7A-41DC-080C7BA738A3}"/>
                        </a:ext>
                      </a:extLst>
                    </p:cNvPr>
                    <p:cNvCxnSpPr>
                      <a:cxnSpLocks/>
                      <a:stCxn id="23" idx="0"/>
                    </p:cNvCxnSpPr>
                    <p:nvPr/>
                  </p:nvCxnSpPr>
                  <p:spPr>
                    <a:xfrm flipV="1">
                      <a:off x="2681037" y="5011584"/>
                      <a:ext cx="1453417" cy="885021"/>
                    </a:xfrm>
                    <a:prstGeom prst="line">
                      <a:avLst/>
                    </a:prstGeom>
                    <a:ln w="12700">
                      <a:solidFill>
                        <a:srgbClr val="C0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C465C4D-535D-C302-1AED-7573C514EDCE}"/>
                        </a:ext>
                      </a:extLst>
                    </p:cNvPr>
                    <p:cNvCxnSpPr>
                      <a:cxnSpLocks/>
                      <a:stCxn id="23" idx="0"/>
                      <a:endCxn id="45" idx="2"/>
                    </p:cNvCxnSpPr>
                    <p:nvPr/>
                  </p:nvCxnSpPr>
                  <p:spPr>
                    <a:xfrm flipH="1" flipV="1">
                      <a:off x="1958703" y="4999377"/>
                      <a:ext cx="722334" cy="897228"/>
                    </a:xfrm>
                    <a:prstGeom prst="line">
                      <a:avLst/>
                    </a:prstGeom>
                    <a:ln w="12700">
                      <a:solidFill>
                        <a:srgbClr val="C0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7A1574A-A99D-E5EA-602E-3089CC9BBECE}"/>
                        </a:ext>
                      </a:extLst>
                    </p:cNvPr>
                    <p:cNvCxnSpPr>
                      <a:cxnSpLocks/>
                      <a:stCxn id="23" idx="0"/>
                    </p:cNvCxnSpPr>
                    <p:nvPr/>
                  </p:nvCxnSpPr>
                  <p:spPr>
                    <a:xfrm flipV="1">
                      <a:off x="2681037" y="5011584"/>
                      <a:ext cx="2283315" cy="885021"/>
                    </a:xfrm>
                    <a:prstGeom prst="line">
                      <a:avLst/>
                    </a:prstGeom>
                    <a:ln w="12700">
                      <a:solidFill>
                        <a:srgbClr val="C0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cxnSp>
            <p:nvCxnSpPr>
              <p:cNvPr id="14" name="Straight Connector 13">
                <a:extLst>
                  <a:ext uri="{FF2B5EF4-FFF2-40B4-BE49-F238E27FC236}">
                    <a16:creationId xmlns:a16="http://schemas.microsoft.com/office/drawing/2014/main" id="{A272DB6E-ACCF-D2ED-3E44-00FA64AEC5D1}"/>
                  </a:ext>
                </a:extLst>
              </p:cNvPr>
              <p:cNvCxnSpPr>
                <a:cxnSpLocks/>
              </p:cNvCxnSpPr>
              <p:nvPr/>
            </p:nvCxnSpPr>
            <p:spPr>
              <a:xfrm flipV="1">
                <a:off x="6029034" y="2175309"/>
                <a:ext cx="177626" cy="285717"/>
              </a:xfrm>
              <a:prstGeom prst="line">
                <a:avLst/>
              </a:prstGeom>
              <a:ln w="12700">
                <a:solidFill>
                  <a:srgbClr val="003B66"/>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DCD8766-F2FE-4B9E-2EAA-222DA88E08FF}"/>
                  </a:ext>
                </a:extLst>
              </p:cNvPr>
              <p:cNvCxnSpPr>
                <a:cxnSpLocks/>
              </p:cNvCxnSpPr>
              <p:nvPr/>
            </p:nvCxnSpPr>
            <p:spPr>
              <a:xfrm flipH="1" flipV="1">
                <a:off x="7525331" y="2296770"/>
                <a:ext cx="411167" cy="179712"/>
              </a:xfrm>
              <a:prstGeom prst="line">
                <a:avLst/>
              </a:prstGeom>
              <a:ln w="12700">
                <a:solidFill>
                  <a:srgbClr val="003B66"/>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95" name="Title 1">
              <a:extLst>
                <a:ext uri="{FF2B5EF4-FFF2-40B4-BE49-F238E27FC236}">
                  <a16:creationId xmlns:a16="http://schemas.microsoft.com/office/drawing/2014/main" id="{92AAE3BF-3B77-B747-01CD-9A9B62BB6E5B}"/>
                </a:ext>
              </a:extLst>
            </p:cNvPr>
            <p:cNvSpPr txBox="1">
              <a:spLocks/>
            </p:cNvSpPr>
            <p:nvPr/>
          </p:nvSpPr>
          <p:spPr>
            <a:xfrm>
              <a:off x="307833" y="161161"/>
              <a:ext cx="7178897" cy="62850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solidFill>
                    <a:schemeClr val="bg1">
                      <a:lumMod val="50000"/>
                    </a:schemeClr>
                  </a:solidFill>
                  <a:latin typeface="Aptos" panose="020B0004020202020204" pitchFamily="34" charset="0"/>
                </a:rPr>
                <a:t>Diagram 1: Execution when A.vi is Non-Reentrant</a:t>
              </a:r>
            </a:p>
          </p:txBody>
        </p:sp>
      </p:grpSp>
      <p:cxnSp>
        <p:nvCxnSpPr>
          <p:cNvPr id="100" name="Straight Connector 99">
            <a:extLst>
              <a:ext uri="{FF2B5EF4-FFF2-40B4-BE49-F238E27FC236}">
                <a16:creationId xmlns:a16="http://schemas.microsoft.com/office/drawing/2014/main" id="{35C6AD96-B4CE-0577-8E8A-4615CF34181F}"/>
              </a:ext>
            </a:extLst>
          </p:cNvPr>
          <p:cNvCxnSpPr>
            <a:cxnSpLocks/>
          </p:cNvCxnSpPr>
          <p:nvPr/>
        </p:nvCxnSpPr>
        <p:spPr>
          <a:xfrm flipH="1">
            <a:off x="307833" y="3092846"/>
            <a:ext cx="11700000" cy="0"/>
          </a:xfrm>
          <a:prstGeom prst="line">
            <a:avLst/>
          </a:prstGeom>
          <a:ln w="19050" cap="flat" cmpd="sng" algn="ctr">
            <a:solidFill>
              <a:schemeClr val="bg1">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06" name="Group 105">
            <a:extLst>
              <a:ext uri="{FF2B5EF4-FFF2-40B4-BE49-F238E27FC236}">
                <a16:creationId xmlns:a16="http://schemas.microsoft.com/office/drawing/2014/main" id="{36B93280-4430-2FD7-7D2E-9F4DAF1E9796}"/>
              </a:ext>
            </a:extLst>
          </p:cNvPr>
          <p:cNvGrpSpPr/>
          <p:nvPr/>
        </p:nvGrpSpPr>
        <p:grpSpPr>
          <a:xfrm>
            <a:off x="307833" y="3448217"/>
            <a:ext cx="11850412" cy="2232164"/>
            <a:chOff x="307833" y="3448217"/>
            <a:chExt cx="11850412" cy="2232164"/>
          </a:xfrm>
        </p:grpSpPr>
        <p:grpSp>
          <p:nvGrpSpPr>
            <p:cNvPr id="99" name="Group 98">
              <a:extLst>
                <a:ext uri="{FF2B5EF4-FFF2-40B4-BE49-F238E27FC236}">
                  <a16:creationId xmlns:a16="http://schemas.microsoft.com/office/drawing/2014/main" id="{B11F2F52-369C-690A-D8F7-9E6C5CE41C30}"/>
                </a:ext>
              </a:extLst>
            </p:cNvPr>
            <p:cNvGrpSpPr/>
            <p:nvPr/>
          </p:nvGrpSpPr>
          <p:grpSpPr>
            <a:xfrm>
              <a:off x="307833" y="3448217"/>
              <a:ext cx="11850412" cy="2232164"/>
              <a:chOff x="307833" y="2976269"/>
              <a:chExt cx="11850412" cy="2232164"/>
            </a:xfrm>
          </p:grpSpPr>
          <p:grpSp>
            <p:nvGrpSpPr>
              <p:cNvPr id="57" name="Group 56">
                <a:extLst>
                  <a:ext uri="{FF2B5EF4-FFF2-40B4-BE49-F238E27FC236}">
                    <a16:creationId xmlns:a16="http://schemas.microsoft.com/office/drawing/2014/main" id="{36A70A39-5F99-9D41-E858-F77619806727}"/>
                  </a:ext>
                </a:extLst>
              </p:cNvPr>
              <p:cNvGrpSpPr/>
              <p:nvPr/>
            </p:nvGrpSpPr>
            <p:grpSpPr>
              <a:xfrm>
                <a:off x="307833" y="3586369"/>
                <a:ext cx="11850412" cy="1622064"/>
                <a:chOff x="307833" y="4639377"/>
                <a:chExt cx="11850412" cy="1622064"/>
              </a:xfrm>
            </p:grpSpPr>
            <p:grpSp>
              <p:nvGrpSpPr>
                <p:cNvPr id="58" name="Group 57">
                  <a:extLst>
                    <a:ext uri="{FF2B5EF4-FFF2-40B4-BE49-F238E27FC236}">
                      <a16:creationId xmlns:a16="http://schemas.microsoft.com/office/drawing/2014/main" id="{76401E71-FA5E-25CE-4EFA-FC9A19EE69A1}"/>
                    </a:ext>
                  </a:extLst>
                </p:cNvPr>
                <p:cNvGrpSpPr/>
                <p:nvPr/>
              </p:nvGrpSpPr>
              <p:grpSpPr>
                <a:xfrm>
                  <a:off x="307833" y="4706752"/>
                  <a:ext cx="11850412" cy="1554689"/>
                  <a:chOff x="307833" y="4639377"/>
                  <a:chExt cx="11850412" cy="1554689"/>
                </a:xfrm>
              </p:grpSpPr>
              <p:grpSp>
                <p:nvGrpSpPr>
                  <p:cNvPr id="87" name="Group 86">
                    <a:extLst>
                      <a:ext uri="{FF2B5EF4-FFF2-40B4-BE49-F238E27FC236}">
                        <a16:creationId xmlns:a16="http://schemas.microsoft.com/office/drawing/2014/main" id="{7287F1CE-F81E-0ADE-C5E1-8702EBE3C9D2}"/>
                      </a:ext>
                    </a:extLst>
                  </p:cNvPr>
                  <p:cNvGrpSpPr/>
                  <p:nvPr/>
                </p:nvGrpSpPr>
                <p:grpSpPr>
                  <a:xfrm>
                    <a:off x="1309036" y="5787037"/>
                    <a:ext cx="10849209" cy="407029"/>
                    <a:chOff x="1309036" y="5573027"/>
                    <a:chExt cx="10849209" cy="407029"/>
                  </a:xfrm>
                </p:grpSpPr>
                <p:cxnSp>
                  <p:nvCxnSpPr>
                    <p:cNvPr id="90" name="Straight Arrow Connector 89">
                      <a:extLst>
                        <a:ext uri="{FF2B5EF4-FFF2-40B4-BE49-F238E27FC236}">
                          <a16:creationId xmlns:a16="http://schemas.microsoft.com/office/drawing/2014/main" id="{14BAED95-9F3B-1F16-BD29-E783046DE7E0}"/>
                        </a:ext>
                      </a:extLst>
                    </p:cNvPr>
                    <p:cNvCxnSpPr>
                      <a:cxnSpLocks/>
                    </p:cNvCxnSpPr>
                    <p:nvPr/>
                  </p:nvCxnSpPr>
                  <p:spPr>
                    <a:xfrm>
                      <a:off x="1309036" y="5573027"/>
                      <a:ext cx="10367676" cy="0"/>
                    </a:xfrm>
                    <a:prstGeom prst="straightConnector1">
                      <a:avLst/>
                    </a:prstGeom>
                    <a:ln w="19050">
                      <a:solidFill>
                        <a:srgbClr val="003B66"/>
                      </a:solidFill>
                      <a:tailEnd type="triangle"/>
                    </a:ln>
                  </p:spPr>
                  <p:style>
                    <a:lnRef idx="1">
                      <a:schemeClr val="accent1"/>
                    </a:lnRef>
                    <a:fillRef idx="0">
                      <a:schemeClr val="accent1"/>
                    </a:fillRef>
                    <a:effectRef idx="0">
                      <a:schemeClr val="accent1"/>
                    </a:effectRef>
                    <a:fontRef idx="minor">
                      <a:schemeClr val="tx1"/>
                    </a:fontRef>
                  </p:style>
                </p:cxnSp>
                <p:sp>
                  <p:nvSpPr>
                    <p:cNvPr id="91" name="Title 1">
                      <a:extLst>
                        <a:ext uri="{FF2B5EF4-FFF2-40B4-BE49-F238E27FC236}">
                          <a16:creationId xmlns:a16="http://schemas.microsoft.com/office/drawing/2014/main" id="{6D219A47-F381-FD85-B1CB-7DE0E4C6A4C5}"/>
                        </a:ext>
                      </a:extLst>
                    </p:cNvPr>
                    <p:cNvSpPr txBox="1">
                      <a:spLocks/>
                    </p:cNvSpPr>
                    <p:nvPr/>
                  </p:nvSpPr>
                  <p:spPr>
                    <a:xfrm>
                      <a:off x="11099261" y="5614933"/>
                      <a:ext cx="1058984" cy="365123"/>
                    </a:xfrm>
                    <a:prstGeom prst="rect">
                      <a:avLst/>
                    </a:prstGeom>
                  </p:spPr>
                  <p:txBody>
                    <a:bodyPr vert="horz" lIns="91440" tIns="45720" rIns="91440" bIns="45720" rtlCol="0" anchor="ctr">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rgbClr val="003B66"/>
                          </a:solidFill>
                          <a:latin typeface="Aptos" panose="020B0004020202020204" pitchFamily="34" charset="0"/>
                        </a:rPr>
                        <a:t>Time</a:t>
                      </a:r>
                      <a:endParaRPr lang="en-US" sz="1600" dirty="0">
                        <a:solidFill>
                          <a:srgbClr val="003B66"/>
                        </a:solidFill>
                        <a:latin typeface="Aptos" panose="020B0004020202020204" pitchFamily="34" charset="0"/>
                      </a:endParaRPr>
                    </a:p>
                  </p:txBody>
                </p:sp>
              </p:grpSp>
              <p:sp>
                <p:nvSpPr>
                  <p:cNvPr id="88" name="Title 1">
                    <a:extLst>
                      <a:ext uri="{FF2B5EF4-FFF2-40B4-BE49-F238E27FC236}">
                        <a16:creationId xmlns:a16="http://schemas.microsoft.com/office/drawing/2014/main" id="{EE2C1638-BEA2-F30F-06D6-06D8F99DF24A}"/>
                      </a:ext>
                    </a:extLst>
                  </p:cNvPr>
                  <p:cNvSpPr txBox="1">
                    <a:spLocks/>
                  </p:cNvSpPr>
                  <p:nvPr/>
                </p:nvSpPr>
                <p:spPr>
                  <a:xfrm>
                    <a:off x="307833" y="4639377"/>
                    <a:ext cx="1336141" cy="359997"/>
                  </a:xfrm>
                  <a:prstGeom prst="rect">
                    <a:avLst/>
                  </a:prstGeom>
                </p:spPr>
                <p:txBody>
                  <a:bodyPr vert="horz" lIns="91440" tIns="45720" rIns="91440" bIns="45720" rtlCol="0" anchor="ctr">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rgbClr val="003B66"/>
                        </a:solidFill>
                        <a:latin typeface="Aptos" panose="020B0004020202020204" pitchFamily="34" charset="0"/>
                      </a:rPr>
                      <a:t>Call Site 1</a:t>
                    </a:r>
                    <a:endParaRPr lang="en-US" sz="1600" dirty="0">
                      <a:solidFill>
                        <a:srgbClr val="003B66"/>
                      </a:solidFill>
                      <a:latin typeface="Aptos" panose="020B0004020202020204" pitchFamily="34" charset="0"/>
                    </a:endParaRPr>
                  </a:p>
                </p:txBody>
              </p:sp>
              <p:sp>
                <p:nvSpPr>
                  <p:cNvPr id="89" name="Title 1">
                    <a:extLst>
                      <a:ext uri="{FF2B5EF4-FFF2-40B4-BE49-F238E27FC236}">
                        <a16:creationId xmlns:a16="http://schemas.microsoft.com/office/drawing/2014/main" id="{9A00F825-AD17-BA51-4508-216B6CADF7E2}"/>
                      </a:ext>
                    </a:extLst>
                  </p:cNvPr>
                  <p:cNvSpPr txBox="1">
                    <a:spLocks/>
                  </p:cNvSpPr>
                  <p:nvPr/>
                </p:nvSpPr>
                <p:spPr>
                  <a:xfrm>
                    <a:off x="307833" y="5335366"/>
                    <a:ext cx="1336141" cy="359997"/>
                  </a:xfrm>
                  <a:prstGeom prst="rect">
                    <a:avLst/>
                  </a:prstGeom>
                </p:spPr>
                <p:txBody>
                  <a:bodyPr vert="horz" lIns="91440" tIns="45720" rIns="91440" bIns="45720" rtlCol="0" anchor="ctr">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rgbClr val="003B66"/>
                        </a:solidFill>
                        <a:latin typeface="Aptos" panose="020B0004020202020204" pitchFamily="34" charset="0"/>
                      </a:rPr>
                      <a:t>Call Site 2</a:t>
                    </a:r>
                    <a:endParaRPr lang="en-US" sz="1600" dirty="0">
                      <a:solidFill>
                        <a:srgbClr val="003B66"/>
                      </a:solidFill>
                      <a:latin typeface="Aptos" panose="020B0004020202020204" pitchFamily="34" charset="0"/>
                    </a:endParaRPr>
                  </a:p>
                </p:txBody>
              </p:sp>
            </p:grpSp>
            <p:grpSp>
              <p:nvGrpSpPr>
                <p:cNvPr id="59" name="Group 58">
                  <a:extLst>
                    <a:ext uri="{FF2B5EF4-FFF2-40B4-BE49-F238E27FC236}">
                      <a16:creationId xmlns:a16="http://schemas.microsoft.com/office/drawing/2014/main" id="{BA5CBD31-9CA0-10E7-09B5-300698C9DDA9}"/>
                    </a:ext>
                  </a:extLst>
                </p:cNvPr>
                <p:cNvGrpSpPr/>
                <p:nvPr/>
              </p:nvGrpSpPr>
              <p:grpSpPr>
                <a:xfrm>
                  <a:off x="2146434" y="4639377"/>
                  <a:ext cx="5901046" cy="1124805"/>
                  <a:chOff x="2146434" y="4639377"/>
                  <a:chExt cx="5901046" cy="1124805"/>
                </a:xfrm>
              </p:grpSpPr>
              <p:sp>
                <p:nvSpPr>
                  <p:cNvPr id="84" name="Rectangle 83">
                    <a:extLst>
                      <a:ext uri="{FF2B5EF4-FFF2-40B4-BE49-F238E27FC236}">
                        <a16:creationId xmlns:a16="http://schemas.microsoft.com/office/drawing/2014/main" id="{E90A0775-26C1-D90D-3AA3-C48F503CE363}"/>
                      </a:ext>
                    </a:extLst>
                  </p:cNvPr>
                  <p:cNvSpPr/>
                  <p:nvPr/>
                </p:nvSpPr>
                <p:spPr>
                  <a:xfrm>
                    <a:off x="2146434" y="4639377"/>
                    <a:ext cx="1800000" cy="360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VI Code</a:t>
                    </a:r>
                  </a:p>
                </p:txBody>
              </p:sp>
              <p:sp>
                <p:nvSpPr>
                  <p:cNvPr id="81" name="Rectangle 80">
                    <a:extLst>
                      <a:ext uri="{FF2B5EF4-FFF2-40B4-BE49-F238E27FC236}">
                        <a16:creationId xmlns:a16="http://schemas.microsoft.com/office/drawing/2014/main" id="{7E37A61B-6F95-6C91-C325-016F624C6B35}"/>
                      </a:ext>
                    </a:extLst>
                  </p:cNvPr>
                  <p:cNvSpPr/>
                  <p:nvPr/>
                </p:nvSpPr>
                <p:spPr>
                  <a:xfrm>
                    <a:off x="4983687" y="4639377"/>
                    <a:ext cx="1800000" cy="360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VI Code</a:t>
                    </a:r>
                  </a:p>
                </p:txBody>
              </p:sp>
              <p:sp>
                <p:nvSpPr>
                  <p:cNvPr id="78" name="Rectangle 77">
                    <a:extLst>
                      <a:ext uri="{FF2B5EF4-FFF2-40B4-BE49-F238E27FC236}">
                        <a16:creationId xmlns:a16="http://schemas.microsoft.com/office/drawing/2014/main" id="{5ED657CC-EFE1-FA4B-1934-1E991B0412E3}"/>
                      </a:ext>
                    </a:extLst>
                  </p:cNvPr>
                  <p:cNvSpPr/>
                  <p:nvPr/>
                </p:nvSpPr>
                <p:spPr>
                  <a:xfrm>
                    <a:off x="6247480" y="5404182"/>
                    <a:ext cx="1800000" cy="360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VI Code</a:t>
                    </a:r>
                  </a:p>
                </p:txBody>
              </p:sp>
            </p:grpSp>
          </p:grpSp>
          <p:sp>
            <p:nvSpPr>
              <p:cNvPr id="98" name="Title 1">
                <a:extLst>
                  <a:ext uri="{FF2B5EF4-FFF2-40B4-BE49-F238E27FC236}">
                    <a16:creationId xmlns:a16="http://schemas.microsoft.com/office/drawing/2014/main" id="{9A18FD50-9667-FA60-18BA-27BEB119E37E}"/>
                  </a:ext>
                </a:extLst>
              </p:cNvPr>
              <p:cNvSpPr txBox="1">
                <a:spLocks/>
              </p:cNvSpPr>
              <p:nvPr/>
            </p:nvSpPr>
            <p:spPr>
              <a:xfrm>
                <a:off x="307833" y="2976269"/>
                <a:ext cx="10791428" cy="62850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solidFill>
                      <a:schemeClr val="bg1">
                        <a:lumMod val="50000"/>
                      </a:schemeClr>
                    </a:solidFill>
                    <a:latin typeface="Aptos" panose="020B0004020202020204" pitchFamily="34" charset="0"/>
                  </a:rPr>
                  <a:t>Diagram 2: Execution when A.vi is Preallocated Clone Reentrant </a:t>
                </a:r>
              </a:p>
            </p:txBody>
          </p:sp>
        </p:grpSp>
        <p:sp>
          <p:nvSpPr>
            <p:cNvPr id="105" name="Title 1">
              <a:extLst>
                <a:ext uri="{FF2B5EF4-FFF2-40B4-BE49-F238E27FC236}">
                  <a16:creationId xmlns:a16="http://schemas.microsoft.com/office/drawing/2014/main" id="{B2C4B7DC-504B-1826-2FB6-30E7AE4BF142}"/>
                </a:ext>
              </a:extLst>
            </p:cNvPr>
            <p:cNvSpPr txBox="1">
              <a:spLocks/>
            </p:cNvSpPr>
            <p:nvPr/>
          </p:nvSpPr>
          <p:spPr>
            <a:xfrm>
              <a:off x="8045334" y="3876701"/>
              <a:ext cx="4112910" cy="137380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90000" indent="-90000" algn="l">
                <a:buFont typeface="Arial" panose="020B0604020202020204" pitchFamily="34" charset="0"/>
                <a:buChar char="•"/>
              </a:pPr>
              <a:r>
                <a:rPr lang="en-US" sz="1600" dirty="0">
                  <a:solidFill>
                    <a:srgbClr val="003B66"/>
                  </a:solidFill>
                  <a:latin typeface="Aptos" panose="020B0004020202020204" pitchFamily="34" charset="0"/>
                </a:rPr>
                <a:t>The overheads were eliminated.</a:t>
              </a:r>
            </a:p>
            <a:p>
              <a:pPr marL="90000" indent="-90000" algn="l">
                <a:buFont typeface="Arial" panose="020B0604020202020204" pitchFamily="34" charset="0"/>
                <a:buChar char="•"/>
              </a:pPr>
              <a:r>
                <a:rPr lang="en-US" sz="1600" dirty="0">
                  <a:solidFill>
                    <a:srgbClr val="003B66"/>
                  </a:solidFill>
                  <a:latin typeface="Aptos" panose="020B0004020202020204" pitchFamily="34" charset="0"/>
                </a:rPr>
                <a:t>Call Site 1 starts the second run sooner.</a:t>
              </a:r>
            </a:p>
            <a:p>
              <a:pPr marL="90000" indent="-90000" algn="l">
                <a:buFont typeface="Arial" panose="020B0604020202020204" pitchFamily="34" charset="0"/>
                <a:buChar char="•"/>
              </a:pPr>
              <a:r>
                <a:rPr lang="en-US" sz="1600" dirty="0">
                  <a:solidFill>
                    <a:srgbClr val="003B66"/>
                  </a:solidFill>
                  <a:latin typeface="Aptos" panose="020B0004020202020204" pitchFamily="34" charset="0"/>
                </a:rPr>
                <a:t>Call Site 2 starts its run sooner.</a:t>
              </a:r>
            </a:p>
          </p:txBody>
        </p:sp>
      </p:grpSp>
      <p:grpSp>
        <p:nvGrpSpPr>
          <p:cNvPr id="112" name="Group 111">
            <a:extLst>
              <a:ext uri="{FF2B5EF4-FFF2-40B4-BE49-F238E27FC236}">
                <a16:creationId xmlns:a16="http://schemas.microsoft.com/office/drawing/2014/main" id="{01EEAAB9-8CF9-6BAC-4509-6C81B4F34A78}"/>
              </a:ext>
            </a:extLst>
          </p:cNvPr>
          <p:cNvGrpSpPr/>
          <p:nvPr/>
        </p:nvGrpSpPr>
        <p:grpSpPr>
          <a:xfrm>
            <a:off x="4972178" y="771603"/>
            <a:ext cx="1261648" cy="4488730"/>
            <a:chOff x="4972178" y="771603"/>
            <a:chExt cx="1261648" cy="4488730"/>
          </a:xfrm>
        </p:grpSpPr>
        <p:cxnSp>
          <p:nvCxnSpPr>
            <p:cNvPr id="107" name="Straight Connector 106">
              <a:extLst>
                <a:ext uri="{FF2B5EF4-FFF2-40B4-BE49-F238E27FC236}">
                  <a16:creationId xmlns:a16="http://schemas.microsoft.com/office/drawing/2014/main" id="{820A70DF-18B4-CF6D-447F-EBC4384124BC}"/>
                </a:ext>
              </a:extLst>
            </p:cNvPr>
            <p:cNvCxnSpPr>
              <a:cxnSpLocks/>
            </p:cNvCxnSpPr>
            <p:nvPr/>
          </p:nvCxnSpPr>
          <p:spPr>
            <a:xfrm>
              <a:off x="4972178" y="771603"/>
              <a:ext cx="0" cy="4478898"/>
            </a:xfrm>
            <a:prstGeom prst="line">
              <a:avLst/>
            </a:prstGeom>
            <a:ln w="9525" cap="flat" cmpd="sng" algn="ctr">
              <a:solidFill>
                <a:schemeClr val="bg1">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9" name="Straight Connector 108">
              <a:extLst>
                <a:ext uri="{FF2B5EF4-FFF2-40B4-BE49-F238E27FC236}">
                  <a16:creationId xmlns:a16="http://schemas.microsoft.com/office/drawing/2014/main" id="{D1DF6085-D2FC-D56B-D4F1-839D93304DFE}"/>
                </a:ext>
              </a:extLst>
            </p:cNvPr>
            <p:cNvCxnSpPr>
              <a:cxnSpLocks/>
            </p:cNvCxnSpPr>
            <p:nvPr/>
          </p:nvCxnSpPr>
          <p:spPr>
            <a:xfrm>
              <a:off x="6233826" y="1922135"/>
              <a:ext cx="0" cy="3338198"/>
            </a:xfrm>
            <a:prstGeom prst="line">
              <a:avLst/>
            </a:prstGeom>
            <a:ln w="9525" cap="flat" cmpd="sng" algn="ctr">
              <a:solidFill>
                <a:schemeClr val="bg1">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1707399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E7E2F-B21A-AC98-4C6C-90A2B3359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771AE0-3FEE-3E1B-17F5-D99AEAFC3016}"/>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Preallocated Clone </a:t>
            </a:r>
            <a:r>
              <a:rPr lang="en-GB" dirty="0" err="1">
                <a:solidFill>
                  <a:srgbClr val="003B66"/>
                </a:solidFill>
                <a:latin typeface="Aptos Display" panose="020B0004020202020204" pitchFamily="34" charset="0"/>
              </a:rPr>
              <a:t>Reentrant</a:t>
            </a:r>
            <a:r>
              <a:rPr lang="en-GB" dirty="0">
                <a:solidFill>
                  <a:srgbClr val="003B66"/>
                </a:solidFill>
                <a:latin typeface="Aptos Display" panose="020B0004020202020204" pitchFamily="34" charset="0"/>
              </a:rPr>
              <a:t> (PCR) – Analogy</a:t>
            </a:r>
          </a:p>
        </p:txBody>
      </p:sp>
      <p:sp>
        <p:nvSpPr>
          <p:cNvPr id="4" name="Slide Number Placeholder 3">
            <a:extLst>
              <a:ext uri="{FF2B5EF4-FFF2-40B4-BE49-F238E27FC236}">
                <a16:creationId xmlns:a16="http://schemas.microsoft.com/office/drawing/2014/main" id="{D27BD6BB-771A-F334-001D-93A0D62E20ED}"/>
              </a:ext>
            </a:extLst>
          </p:cNvPr>
          <p:cNvSpPr>
            <a:spLocks noGrp="1"/>
          </p:cNvSpPr>
          <p:nvPr>
            <p:ph type="sldNum" sz="quarter" idx="12"/>
          </p:nvPr>
        </p:nvSpPr>
        <p:spPr/>
        <p:txBody>
          <a:bodyPr/>
          <a:lstStyle/>
          <a:p>
            <a:fld id="{A5BC3523-C363-4BFA-8941-CE9ECEEECBA2}" type="slidenum">
              <a:rPr lang="en-GB" smtClean="0"/>
              <a:t>20</a:t>
            </a:fld>
            <a:endParaRPr lang="en-GB" dirty="0"/>
          </a:p>
        </p:txBody>
      </p:sp>
      <p:pic>
        <p:nvPicPr>
          <p:cNvPr id="5" name="Picture 4">
            <a:extLst>
              <a:ext uri="{FF2B5EF4-FFF2-40B4-BE49-F238E27FC236}">
                <a16:creationId xmlns:a16="http://schemas.microsoft.com/office/drawing/2014/main" id="{5B4F951F-FB49-7B0B-8193-9CFF5C69E9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6000" y="1027290"/>
            <a:ext cx="9000000" cy="5142857"/>
          </a:xfrm>
          <a:prstGeom prst="rect">
            <a:avLst/>
          </a:prstGeom>
        </p:spPr>
      </p:pic>
    </p:spTree>
    <p:extLst>
      <p:ext uri="{BB962C8B-B14F-4D97-AF65-F5344CB8AC3E}">
        <p14:creationId xmlns:p14="http://schemas.microsoft.com/office/powerpoint/2010/main" val="43490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94CC8-9B5D-FAA1-D280-A2FB5E98C4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5D5864-7113-5995-1F74-5FB6A61277ED}"/>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Shared Clone </a:t>
            </a:r>
            <a:r>
              <a:rPr lang="en-GB" dirty="0" err="1">
                <a:solidFill>
                  <a:srgbClr val="003B66"/>
                </a:solidFill>
                <a:latin typeface="Aptos Display" panose="020B0004020202020204" pitchFamily="34" charset="0"/>
              </a:rPr>
              <a:t>Reentrant</a:t>
            </a:r>
            <a:r>
              <a:rPr lang="en-GB" dirty="0">
                <a:solidFill>
                  <a:srgbClr val="003B66"/>
                </a:solidFill>
                <a:latin typeface="Aptos Display" panose="020B0004020202020204" pitchFamily="34" charset="0"/>
              </a:rPr>
              <a:t> (SCR)</a:t>
            </a:r>
          </a:p>
        </p:txBody>
      </p:sp>
      <p:sp>
        <p:nvSpPr>
          <p:cNvPr id="3" name="Content Placeholder 2">
            <a:extLst>
              <a:ext uri="{FF2B5EF4-FFF2-40B4-BE49-F238E27FC236}">
                <a16:creationId xmlns:a16="http://schemas.microsoft.com/office/drawing/2014/main" id="{E2DFB99A-D8F8-F50F-7C64-AC4B718A1956}"/>
              </a:ext>
            </a:extLst>
          </p:cNvPr>
          <p:cNvSpPr>
            <a:spLocks noGrp="1"/>
          </p:cNvSpPr>
          <p:nvPr>
            <p:ph idx="1"/>
          </p:nvPr>
        </p:nvSpPr>
        <p:spPr>
          <a:xfrm>
            <a:off x="838200" y="1027290"/>
            <a:ext cx="5696156" cy="5117871"/>
          </a:xfrm>
        </p:spPr>
        <p:txBody>
          <a:bodyPr>
            <a:normAutofit lnSpcReduction="10000"/>
          </a:bodyPr>
          <a:lstStyle/>
          <a:p>
            <a:r>
              <a:rPr lang="en-GB" sz="2000" dirty="0">
                <a:solidFill>
                  <a:srgbClr val="003B66"/>
                </a:solidFill>
                <a:latin typeface="Aptos" panose="020B0004020202020204" pitchFamily="34" charset="0"/>
              </a:rPr>
              <a:t>Shared Clone </a:t>
            </a:r>
            <a:r>
              <a:rPr lang="en-GB" sz="2000" dirty="0" err="1">
                <a:solidFill>
                  <a:srgbClr val="003B66"/>
                </a:solidFill>
                <a:latin typeface="Aptos" panose="020B0004020202020204" pitchFamily="34" charset="0"/>
              </a:rPr>
              <a:t>Reentrant</a:t>
            </a:r>
            <a:r>
              <a:rPr lang="en-GB" sz="2000" dirty="0">
                <a:solidFill>
                  <a:srgbClr val="003B66"/>
                </a:solidFill>
                <a:latin typeface="Aptos" panose="020B0004020202020204" pitchFamily="34" charset="0"/>
              </a:rPr>
              <a:t> (SCR) eliminates the </a:t>
            </a:r>
            <a:r>
              <a:rPr lang="en-GB" sz="2000" dirty="0">
                <a:solidFill>
                  <a:srgbClr val="C00000"/>
                </a:solidFill>
                <a:latin typeface="Aptos" panose="020B0004020202020204" pitchFamily="34" charset="0"/>
              </a:rPr>
              <a:t>Collision Overhead</a:t>
            </a:r>
            <a:r>
              <a:rPr lang="en-GB" sz="2000" dirty="0">
                <a:solidFill>
                  <a:srgbClr val="003B66"/>
                </a:solidFill>
                <a:latin typeface="Aptos" panose="020B0004020202020204" pitchFamily="34" charset="0"/>
              </a:rPr>
              <a:t> but maintains a </a:t>
            </a:r>
            <a:r>
              <a:rPr lang="en-GB" sz="2000" dirty="0">
                <a:solidFill>
                  <a:srgbClr val="C00000"/>
                </a:solidFill>
                <a:latin typeface="Aptos" panose="020B0004020202020204" pitchFamily="34" charset="0"/>
              </a:rPr>
              <a:t>Co-ordination Overhead</a:t>
            </a:r>
            <a:r>
              <a:rPr lang="en-GB" sz="2000" dirty="0">
                <a:solidFill>
                  <a:srgbClr val="003B66"/>
                </a:solidFill>
                <a:latin typeface="Aptos" panose="020B0004020202020204" pitchFamily="34" charset="0"/>
              </a:rPr>
              <a:t>.</a:t>
            </a:r>
          </a:p>
          <a:p>
            <a:r>
              <a:rPr lang="en-GB" sz="2000" dirty="0">
                <a:solidFill>
                  <a:srgbClr val="003B66"/>
                </a:solidFill>
                <a:latin typeface="Aptos" panose="020B0004020202020204" pitchFamily="34" charset="0"/>
              </a:rPr>
              <a:t>When an SCR VI is used in n call sites, LabVIEW uses a </a:t>
            </a:r>
            <a:r>
              <a:rPr lang="en-GB" sz="2000" b="1" dirty="0">
                <a:solidFill>
                  <a:srgbClr val="003B66"/>
                </a:solidFill>
                <a:latin typeface="Aptos" panose="020B0004020202020204" pitchFamily="34" charset="0"/>
              </a:rPr>
              <a:t>pool of memory instances</a:t>
            </a:r>
            <a:r>
              <a:rPr lang="en-GB" sz="2000" dirty="0">
                <a:solidFill>
                  <a:srgbClr val="003B66"/>
                </a:solidFill>
                <a:latin typeface="Aptos" panose="020B0004020202020204" pitchFamily="34" charset="0"/>
              </a:rPr>
              <a:t> that contains </a:t>
            </a:r>
            <a:r>
              <a:rPr lang="en-GB" sz="2000" b="1" dirty="0">
                <a:solidFill>
                  <a:srgbClr val="003B66"/>
                </a:solidFill>
                <a:latin typeface="Aptos" panose="020B0004020202020204" pitchFamily="34" charset="0"/>
              </a:rPr>
              <a:t>between 1 and n instances</a:t>
            </a:r>
            <a:r>
              <a:rPr lang="en-GB" sz="2000" dirty="0">
                <a:solidFill>
                  <a:srgbClr val="003B66"/>
                </a:solidFill>
                <a:latin typeface="Aptos" panose="020B0004020202020204" pitchFamily="34" charset="0"/>
              </a:rPr>
              <a:t>.</a:t>
            </a:r>
          </a:p>
          <a:p>
            <a:r>
              <a:rPr lang="en-GB" sz="2000" dirty="0">
                <a:solidFill>
                  <a:srgbClr val="003B66"/>
                </a:solidFill>
                <a:latin typeface="Aptos" panose="020B0004020202020204" pitchFamily="34" charset="0"/>
              </a:rPr>
              <a:t>The same memory instance may be used (shared) by two or more call sites, if those call sites don’t execute at the same time (execution doesn’t overlap). This is what “Shared” refers to.</a:t>
            </a:r>
          </a:p>
          <a:p>
            <a:r>
              <a:rPr lang="en-GB" sz="2000" dirty="0">
                <a:solidFill>
                  <a:srgbClr val="003B66"/>
                </a:solidFill>
                <a:latin typeface="Aptos" panose="020B0004020202020204" pitchFamily="34" charset="0"/>
              </a:rPr>
              <a:t>LabVIEW actively manages the size of the pool by spawning new instances and closing old instances. This mechanism accounts for the </a:t>
            </a:r>
            <a:r>
              <a:rPr lang="en-GB" sz="2000" dirty="0">
                <a:solidFill>
                  <a:srgbClr val="C00000"/>
                </a:solidFill>
                <a:latin typeface="Aptos" panose="020B0004020202020204" pitchFamily="34" charset="0"/>
              </a:rPr>
              <a:t>Co-ordination Overhead</a:t>
            </a:r>
            <a:r>
              <a:rPr lang="en-GB" sz="2000" dirty="0">
                <a:solidFill>
                  <a:srgbClr val="003B66"/>
                </a:solidFill>
                <a:latin typeface="Aptos" panose="020B0004020202020204" pitchFamily="34" charset="0"/>
              </a:rPr>
              <a:t>. This mechanism is different than the NR mutex mechanism, so the execution overhead is different (could be smaller or larger).</a:t>
            </a:r>
          </a:p>
        </p:txBody>
      </p:sp>
      <p:sp>
        <p:nvSpPr>
          <p:cNvPr id="4" name="Slide Number Placeholder 3">
            <a:extLst>
              <a:ext uri="{FF2B5EF4-FFF2-40B4-BE49-F238E27FC236}">
                <a16:creationId xmlns:a16="http://schemas.microsoft.com/office/drawing/2014/main" id="{1BDC8D2E-877F-0A71-6A33-ED887A034D9F}"/>
              </a:ext>
            </a:extLst>
          </p:cNvPr>
          <p:cNvSpPr>
            <a:spLocks noGrp="1"/>
          </p:cNvSpPr>
          <p:nvPr>
            <p:ph type="sldNum" sz="quarter" idx="12"/>
          </p:nvPr>
        </p:nvSpPr>
        <p:spPr/>
        <p:txBody>
          <a:bodyPr/>
          <a:lstStyle/>
          <a:p>
            <a:fld id="{A5BC3523-C363-4BFA-8941-CE9ECEEECBA2}" type="slidenum">
              <a:rPr lang="en-GB" smtClean="0"/>
              <a:t>21</a:t>
            </a:fld>
            <a:endParaRPr lang="en-GB" dirty="0"/>
          </a:p>
        </p:txBody>
      </p:sp>
      <p:grpSp>
        <p:nvGrpSpPr>
          <p:cNvPr id="9" name="Group 8">
            <a:extLst>
              <a:ext uri="{FF2B5EF4-FFF2-40B4-BE49-F238E27FC236}">
                <a16:creationId xmlns:a16="http://schemas.microsoft.com/office/drawing/2014/main" id="{4765A081-B921-E3F2-C72B-25C1258468DB}"/>
              </a:ext>
            </a:extLst>
          </p:cNvPr>
          <p:cNvGrpSpPr/>
          <p:nvPr/>
        </p:nvGrpSpPr>
        <p:grpSpPr>
          <a:xfrm>
            <a:off x="6534356" y="1085645"/>
            <a:ext cx="5400000" cy="4210648"/>
            <a:chOff x="6534356" y="1085645"/>
            <a:chExt cx="5400000" cy="4210648"/>
          </a:xfrm>
        </p:grpSpPr>
        <p:pic>
          <p:nvPicPr>
            <p:cNvPr id="6" name="Picture 5">
              <a:extLst>
                <a:ext uri="{FF2B5EF4-FFF2-40B4-BE49-F238E27FC236}">
                  <a16:creationId xmlns:a16="http://schemas.microsoft.com/office/drawing/2014/main" id="{9F85C90E-A529-AF08-CCA6-BBCA9EFD747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539084" y="1085645"/>
              <a:ext cx="5390544" cy="3575171"/>
            </a:xfrm>
            <a:prstGeom prst="rect">
              <a:avLst/>
            </a:prstGeom>
          </p:spPr>
        </p:pic>
        <p:sp>
          <p:nvSpPr>
            <p:cNvPr id="8" name="Title 1">
              <a:extLst>
                <a:ext uri="{FF2B5EF4-FFF2-40B4-BE49-F238E27FC236}">
                  <a16:creationId xmlns:a16="http://schemas.microsoft.com/office/drawing/2014/main" id="{B0192680-8945-A790-6A29-60E987473A16}"/>
                </a:ext>
              </a:extLst>
            </p:cNvPr>
            <p:cNvSpPr txBox="1">
              <a:spLocks/>
            </p:cNvSpPr>
            <p:nvPr/>
          </p:nvSpPr>
          <p:spPr>
            <a:xfrm>
              <a:off x="6534356" y="4634129"/>
              <a:ext cx="5400000" cy="662164"/>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i="1" dirty="0">
                  <a:solidFill>
                    <a:schemeClr val="bg1">
                      <a:lumMod val="50000"/>
                    </a:schemeClr>
                  </a:solidFill>
                  <a:latin typeface="Aptos" panose="020B0004020202020204" pitchFamily="34" charset="0"/>
                </a:rPr>
                <a:t>The Shared Clone Reentrant (SCR) option.</a:t>
              </a:r>
            </a:p>
          </p:txBody>
        </p:sp>
      </p:grpSp>
    </p:spTree>
    <p:extLst>
      <p:ext uri="{BB962C8B-B14F-4D97-AF65-F5344CB8AC3E}">
        <p14:creationId xmlns:p14="http://schemas.microsoft.com/office/powerpoint/2010/main" val="1278756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0D36F-9FC3-10E2-CA26-5BDD318C58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7A392-FA08-2A81-EBE1-DEA037EC7F2A}"/>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Shared Clone </a:t>
            </a:r>
            <a:r>
              <a:rPr lang="en-GB" dirty="0" err="1">
                <a:solidFill>
                  <a:srgbClr val="003B66"/>
                </a:solidFill>
                <a:latin typeface="Aptos Display" panose="020B0004020202020204" pitchFamily="34" charset="0"/>
              </a:rPr>
              <a:t>Reentrant</a:t>
            </a:r>
            <a:r>
              <a:rPr lang="en-GB" dirty="0">
                <a:solidFill>
                  <a:srgbClr val="003B66"/>
                </a:solidFill>
                <a:latin typeface="Aptos Display" panose="020B0004020202020204" pitchFamily="34" charset="0"/>
              </a:rPr>
              <a:t> (SCR)</a:t>
            </a:r>
          </a:p>
        </p:txBody>
      </p:sp>
      <p:sp>
        <p:nvSpPr>
          <p:cNvPr id="3" name="Content Placeholder 2">
            <a:extLst>
              <a:ext uri="{FF2B5EF4-FFF2-40B4-BE49-F238E27FC236}">
                <a16:creationId xmlns:a16="http://schemas.microsoft.com/office/drawing/2014/main" id="{48C4E36C-C9AB-7A01-085A-C418EFBCD562}"/>
              </a:ext>
            </a:extLst>
          </p:cNvPr>
          <p:cNvSpPr>
            <a:spLocks noGrp="1"/>
          </p:cNvSpPr>
          <p:nvPr>
            <p:ph idx="1"/>
          </p:nvPr>
        </p:nvSpPr>
        <p:spPr>
          <a:xfrm>
            <a:off x="838200" y="1027290"/>
            <a:ext cx="5696156" cy="5117871"/>
          </a:xfrm>
        </p:spPr>
        <p:txBody>
          <a:bodyPr>
            <a:normAutofit/>
          </a:bodyPr>
          <a:lstStyle/>
          <a:p>
            <a:r>
              <a:rPr lang="en-GB" sz="2000" dirty="0">
                <a:solidFill>
                  <a:srgbClr val="003B66"/>
                </a:solidFill>
                <a:latin typeface="Aptos" panose="020B0004020202020204" pitchFamily="34" charset="0"/>
              </a:rPr>
              <a:t>SCR can reduce memory usage.</a:t>
            </a:r>
          </a:p>
          <a:p>
            <a:r>
              <a:rPr lang="en-GB" sz="2000" dirty="0">
                <a:solidFill>
                  <a:srgbClr val="003B66"/>
                </a:solidFill>
                <a:latin typeface="Aptos" panose="020B0004020202020204" pitchFamily="34" charset="0"/>
              </a:rPr>
              <a:t>Let a codebase contain 20 call sites of a VI. Let the codebase function in such a way that a maximum of 3 call sites execute at the same time. All 20 call sites are used, but a maximum of 3 are used at the same time. If the VI is set to PCR, 100 instances will exist in memory. If the VI is set to SCR, a maximum of 3 instances will exist in memory. The 3 instances are sufficient to service all call sites while avoiding collisions. Thus, a reduction of 17 memory instances.</a:t>
            </a:r>
          </a:p>
          <a:p>
            <a:r>
              <a:rPr lang="en-GB" sz="2000" dirty="0">
                <a:solidFill>
                  <a:srgbClr val="003B66"/>
                </a:solidFill>
                <a:latin typeface="Aptos" panose="020B0004020202020204" pitchFamily="34" charset="0"/>
              </a:rPr>
              <a:t>When a call site starts running LabVIEW needs to check if a memory instance is available. If no instance is free, LabVIEW needs to spawn a new instance on-the-fly. This is non-deterministic, can increase jitter.</a:t>
            </a:r>
          </a:p>
        </p:txBody>
      </p:sp>
      <p:sp>
        <p:nvSpPr>
          <p:cNvPr id="4" name="Slide Number Placeholder 3">
            <a:extLst>
              <a:ext uri="{FF2B5EF4-FFF2-40B4-BE49-F238E27FC236}">
                <a16:creationId xmlns:a16="http://schemas.microsoft.com/office/drawing/2014/main" id="{8FB8E8C7-184A-CBC6-B065-B682971DF566}"/>
              </a:ext>
            </a:extLst>
          </p:cNvPr>
          <p:cNvSpPr>
            <a:spLocks noGrp="1"/>
          </p:cNvSpPr>
          <p:nvPr>
            <p:ph type="sldNum" sz="quarter" idx="12"/>
          </p:nvPr>
        </p:nvSpPr>
        <p:spPr/>
        <p:txBody>
          <a:bodyPr/>
          <a:lstStyle/>
          <a:p>
            <a:fld id="{A5BC3523-C363-4BFA-8941-CE9ECEEECBA2}" type="slidenum">
              <a:rPr lang="en-GB" smtClean="0"/>
              <a:t>22</a:t>
            </a:fld>
            <a:endParaRPr lang="en-GB" dirty="0"/>
          </a:p>
        </p:txBody>
      </p:sp>
      <p:grpSp>
        <p:nvGrpSpPr>
          <p:cNvPr id="9" name="Group 8">
            <a:extLst>
              <a:ext uri="{FF2B5EF4-FFF2-40B4-BE49-F238E27FC236}">
                <a16:creationId xmlns:a16="http://schemas.microsoft.com/office/drawing/2014/main" id="{D4D470BE-27A2-D22B-147E-3E9289B9C056}"/>
              </a:ext>
            </a:extLst>
          </p:cNvPr>
          <p:cNvGrpSpPr/>
          <p:nvPr/>
        </p:nvGrpSpPr>
        <p:grpSpPr>
          <a:xfrm>
            <a:off x="6534356" y="1085645"/>
            <a:ext cx="5400000" cy="4210648"/>
            <a:chOff x="6534356" y="1085645"/>
            <a:chExt cx="5400000" cy="4210648"/>
          </a:xfrm>
        </p:grpSpPr>
        <p:pic>
          <p:nvPicPr>
            <p:cNvPr id="6" name="Picture 5">
              <a:extLst>
                <a:ext uri="{FF2B5EF4-FFF2-40B4-BE49-F238E27FC236}">
                  <a16:creationId xmlns:a16="http://schemas.microsoft.com/office/drawing/2014/main" id="{E1606D64-472B-768A-46A0-F4FACE132C2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539084" y="1085645"/>
              <a:ext cx="5390544" cy="3575171"/>
            </a:xfrm>
            <a:prstGeom prst="rect">
              <a:avLst/>
            </a:prstGeom>
          </p:spPr>
        </p:pic>
        <p:sp>
          <p:nvSpPr>
            <p:cNvPr id="8" name="Title 1">
              <a:extLst>
                <a:ext uri="{FF2B5EF4-FFF2-40B4-BE49-F238E27FC236}">
                  <a16:creationId xmlns:a16="http://schemas.microsoft.com/office/drawing/2014/main" id="{53D4E8F7-519A-5210-AA20-A74949365815}"/>
                </a:ext>
              </a:extLst>
            </p:cNvPr>
            <p:cNvSpPr txBox="1">
              <a:spLocks/>
            </p:cNvSpPr>
            <p:nvPr/>
          </p:nvSpPr>
          <p:spPr>
            <a:xfrm>
              <a:off x="6534356" y="4634129"/>
              <a:ext cx="5400000" cy="662164"/>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i="1" dirty="0">
                  <a:solidFill>
                    <a:schemeClr val="bg1">
                      <a:lumMod val="50000"/>
                    </a:schemeClr>
                  </a:solidFill>
                  <a:latin typeface="Aptos" panose="020B0004020202020204" pitchFamily="34" charset="0"/>
                </a:rPr>
                <a:t>The Shared Clone Reentrant (SCR) option.</a:t>
              </a:r>
            </a:p>
          </p:txBody>
        </p:sp>
      </p:grpSp>
    </p:spTree>
    <p:extLst>
      <p:ext uri="{BB962C8B-B14F-4D97-AF65-F5344CB8AC3E}">
        <p14:creationId xmlns:p14="http://schemas.microsoft.com/office/powerpoint/2010/main" val="1707592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72CFC-90A7-F744-9715-6356A6A0D6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9B85B-FE05-C986-7301-857983B77C8F}"/>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Shared Clone </a:t>
            </a:r>
            <a:r>
              <a:rPr lang="en-GB" dirty="0" err="1">
                <a:solidFill>
                  <a:srgbClr val="003B66"/>
                </a:solidFill>
                <a:latin typeface="Aptos Display" panose="020B0004020202020204" pitchFamily="34" charset="0"/>
              </a:rPr>
              <a:t>Reentrant</a:t>
            </a:r>
            <a:r>
              <a:rPr lang="en-GB" dirty="0">
                <a:solidFill>
                  <a:srgbClr val="003B66"/>
                </a:solidFill>
                <a:latin typeface="Aptos Display" panose="020B0004020202020204" pitchFamily="34" charset="0"/>
              </a:rPr>
              <a:t> (SCR)</a:t>
            </a:r>
          </a:p>
        </p:txBody>
      </p:sp>
      <p:sp>
        <p:nvSpPr>
          <p:cNvPr id="3" name="Content Placeholder 2">
            <a:extLst>
              <a:ext uri="{FF2B5EF4-FFF2-40B4-BE49-F238E27FC236}">
                <a16:creationId xmlns:a16="http://schemas.microsoft.com/office/drawing/2014/main" id="{FE9F9DF6-5758-3FF2-71A2-5730147440FF}"/>
              </a:ext>
            </a:extLst>
          </p:cNvPr>
          <p:cNvSpPr>
            <a:spLocks noGrp="1"/>
          </p:cNvSpPr>
          <p:nvPr>
            <p:ph idx="1"/>
          </p:nvPr>
        </p:nvSpPr>
        <p:spPr>
          <a:xfrm>
            <a:off x="838200" y="1027290"/>
            <a:ext cx="5696156" cy="5117871"/>
          </a:xfrm>
        </p:spPr>
        <p:txBody>
          <a:bodyPr>
            <a:normAutofit/>
          </a:bodyPr>
          <a:lstStyle/>
          <a:p>
            <a:r>
              <a:rPr lang="en-GB" sz="2000" dirty="0">
                <a:solidFill>
                  <a:srgbClr val="003B66"/>
                </a:solidFill>
                <a:latin typeface="Aptos" panose="020B0004020202020204" pitchFamily="34" charset="0"/>
              </a:rPr>
              <a:t>SCR is correctly located between NR and PCR. It borrows characteristics from NR (co-ordination overhead, smaller memory usage) and from PCR (parallel execution, no waiting for another call site to finish).</a:t>
            </a:r>
          </a:p>
          <a:p>
            <a:r>
              <a:rPr lang="en-GB" sz="2000" dirty="0">
                <a:solidFill>
                  <a:srgbClr val="003B66"/>
                </a:solidFill>
                <a:latin typeface="Aptos" panose="020B0004020202020204" pitchFamily="34" charset="0"/>
              </a:rPr>
              <a:t>Just being “in the middle” doesn’t automatically make it the best default, or the best choice for most VIs.</a:t>
            </a:r>
          </a:p>
        </p:txBody>
      </p:sp>
      <p:sp>
        <p:nvSpPr>
          <p:cNvPr id="4" name="Slide Number Placeholder 3">
            <a:extLst>
              <a:ext uri="{FF2B5EF4-FFF2-40B4-BE49-F238E27FC236}">
                <a16:creationId xmlns:a16="http://schemas.microsoft.com/office/drawing/2014/main" id="{071DACFA-A9DF-265B-98F8-08DF8940CE2D}"/>
              </a:ext>
            </a:extLst>
          </p:cNvPr>
          <p:cNvSpPr>
            <a:spLocks noGrp="1"/>
          </p:cNvSpPr>
          <p:nvPr>
            <p:ph type="sldNum" sz="quarter" idx="12"/>
          </p:nvPr>
        </p:nvSpPr>
        <p:spPr/>
        <p:txBody>
          <a:bodyPr/>
          <a:lstStyle/>
          <a:p>
            <a:fld id="{A5BC3523-C363-4BFA-8941-CE9ECEEECBA2}" type="slidenum">
              <a:rPr lang="en-GB" smtClean="0"/>
              <a:t>23</a:t>
            </a:fld>
            <a:endParaRPr lang="en-GB" dirty="0"/>
          </a:p>
        </p:txBody>
      </p:sp>
      <p:grpSp>
        <p:nvGrpSpPr>
          <p:cNvPr id="9" name="Group 8">
            <a:extLst>
              <a:ext uri="{FF2B5EF4-FFF2-40B4-BE49-F238E27FC236}">
                <a16:creationId xmlns:a16="http://schemas.microsoft.com/office/drawing/2014/main" id="{72037B5D-5D09-C96D-FD43-128070752840}"/>
              </a:ext>
            </a:extLst>
          </p:cNvPr>
          <p:cNvGrpSpPr/>
          <p:nvPr/>
        </p:nvGrpSpPr>
        <p:grpSpPr>
          <a:xfrm>
            <a:off x="6534356" y="1085645"/>
            <a:ext cx="5400000" cy="4210648"/>
            <a:chOff x="6534356" y="1085645"/>
            <a:chExt cx="5400000" cy="4210648"/>
          </a:xfrm>
        </p:grpSpPr>
        <p:pic>
          <p:nvPicPr>
            <p:cNvPr id="6" name="Picture 5">
              <a:extLst>
                <a:ext uri="{FF2B5EF4-FFF2-40B4-BE49-F238E27FC236}">
                  <a16:creationId xmlns:a16="http://schemas.microsoft.com/office/drawing/2014/main" id="{B3985287-3F00-6846-C47F-134137F74E6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539084" y="1085645"/>
              <a:ext cx="5390544" cy="3575171"/>
            </a:xfrm>
            <a:prstGeom prst="rect">
              <a:avLst/>
            </a:prstGeom>
          </p:spPr>
        </p:pic>
        <p:sp>
          <p:nvSpPr>
            <p:cNvPr id="8" name="Title 1">
              <a:extLst>
                <a:ext uri="{FF2B5EF4-FFF2-40B4-BE49-F238E27FC236}">
                  <a16:creationId xmlns:a16="http://schemas.microsoft.com/office/drawing/2014/main" id="{E98E13D3-6FE4-D4F1-6DF1-597FA1B892FD}"/>
                </a:ext>
              </a:extLst>
            </p:cNvPr>
            <p:cNvSpPr txBox="1">
              <a:spLocks/>
            </p:cNvSpPr>
            <p:nvPr/>
          </p:nvSpPr>
          <p:spPr>
            <a:xfrm>
              <a:off x="6534356" y="4634129"/>
              <a:ext cx="5400000" cy="662164"/>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i="1" dirty="0">
                  <a:solidFill>
                    <a:schemeClr val="bg1">
                      <a:lumMod val="50000"/>
                    </a:schemeClr>
                  </a:solidFill>
                  <a:latin typeface="Aptos" panose="020B0004020202020204" pitchFamily="34" charset="0"/>
                </a:rPr>
                <a:t>The Shared Clone Reentrant (SCR) option.</a:t>
              </a:r>
            </a:p>
          </p:txBody>
        </p:sp>
      </p:grpSp>
    </p:spTree>
    <p:extLst>
      <p:ext uri="{BB962C8B-B14F-4D97-AF65-F5344CB8AC3E}">
        <p14:creationId xmlns:p14="http://schemas.microsoft.com/office/powerpoint/2010/main" val="3821472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AF382-B923-EF2E-324F-CD0F838E8A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F62BD9-304E-226D-B751-DB509AAF1EED}"/>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Taking a step back</a:t>
            </a:r>
          </a:p>
        </p:txBody>
      </p:sp>
      <p:sp>
        <p:nvSpPr>
          <p:cNvPr id="3" name="Content Placeholder 2">
            <a:extLst>
              <a:ext uri="{FF2B5EF4-FFF2-40B4-BE49-F238E27FC236}">
                <a16:creationId xmlns:a16="http://schemas.microsoft.com/office/drawing/2014/main" id="{2DA57564-A3C1-D656-FD10-AEE881CA5AB2}"/>
              </a:ext>
            </a:extLst>
          </p:cNvPr>
          <p:cNvSpPr>
            <a:spLocks noGrp="1"/>
          </p:cNvSpPr>
          <p:nvPr>
            <p:ph idx="1"/>
          </p:nvPr>
        </p:nvSpPr>
        <p:spPr>
          <a:xfrm>
            <a:off x="838200" y="1027290"/>
            <a:ext cx="10839600" cy="5117871"/>
          </a:xfrm>
        </p:spPr>
        <p:txBody>
          <a:bodyPr>
            <a:normAutofit/>
          </a:bodyPr>
          <a:lstStyle/>
          <a:p>
            <a:r>
              <a:rPr lang="en-GB" sz="2000" dirty="0">
                <a:solidFill>
                  <a:srgbClr val="003B66"/>
                </a:solidFill>
                <a:latin typeface="Aptos" panose="020B0004020202020204" pitchFamily="34" charset="0"/>
              </a:rPr>
              <a:t>The reentrancy option dictates </a:t>
            </a:r>
            <a:r>
              <a:rPr lang="en-GB" sz="2000" b="1" dirty="0">
                <a:solidFill>
                  <a:srgbClr val="003B66"/>
                </a:solidFill>
                <a:latin typeface="Aptos" panose="020B0004020202020204" pitchFamily="34" charset="0"/>
              </a:rPr>
              <a:t>the relationship between a VI’s call sites and its memory instances</a:t>
            </a:r>
            <a:r>
              <a:rPr lang="en-GB" sz="2000" dirty="0">
                <a:solidFill>
                  <a:srgbClr val="003B66"/>
                </a:solidFill>
                <a:latin typeface="Aptos" panose="020B0004020202020204" pitchFamily="34" charset="0"/>
              </a:rPr>
              <a:t>. All characteristics of each option derive from the call sites-to-memory instances relationship.</a:t>
            </a:r>
          </a:p>
          <a:p>
            <a:endParaRPr lang="en-GB" sz="2000" dirty="0">
              <a:solidFill>
                <a:srgbClr val="003B66"/>
              </a:solidFill>
              <a:latin typeface="Aptos" panose="020B0004020202020204" pitchFamily="34" charset="0"/>
            </a:endParaRPr>
          </a:p>
          <a:p>
            <a:pPr marL="0" indent="0">
              <a:buNone/>
            </a:pPr>
            <a:endParaRPr lang="en-GB" sz="2000" dirty="0">
              <a:solidFill>
                <a:srgbClr val="003B66"/>
              </a:solidFill>
              <a:latin typeface="Aptos" panose="020B0004020202020204" pitchFamily="34" charset="0"/>
            </a:endParaRPr>
          </a:p>
          <a:p>
            <a:pPr marL="0" indent="0">
              <a:buNone/>
            </a:pPr>
            <a:endParaRPr lang="en-GB" sz="2000" dirty="0">
              <a:solidFill>
                <a:srgbClr val="003B66"/>
              </a:solidFill>
              <a:latin typeface="Aptos" panose="020B0004020202020204" pitchFamily="34" charset="0"/>
            </a:endParaRPr>
          </a:p>
          <a:p>
            <a:pPr marL="0" indent="0">
              <a:buNone/>
            </a:pPr>
            <a:endParaRPr lang="en-GB" sz="2000" dirty="0">
              <a:solidFill>
                <a:srgbClr val="003B66"/>
              </a:solidFill>
              <a:latin typeface="Aptos" panose="020B0004020202020204" pitchFamily="34" charset="0"/>
            </a:endParaRPr>
          </a:p>
        </p:txBody>
      </p:sp>
      <p:sp>
        <p:nvSpPr>
          <p:cNvPr id="4" name="Slide Number Placeholder 3">
            <a:extLst>
              <a:ext uri="{FF2B5EF4-FFF2-40B4-BE49-F238E27FC236}">
                <a16:creationId xmlns:a16="http://schemas.microsoft.com/office/drawing/2014/main" id="{EB178CD9-6F16-653F-F006-287CACD45154}"/>
              </a:ext>
            </a:extLst>
          </p:cNvPr>
          <p:cNvSpPr>
            <a:spLocks noGrp="1"/>
          </p:cNvSpPr>
          <p:nvPr>
            <p:ph type="sldNum" sz="quarter" idx="12"/>
          </p:nvPr>
        </p:nvSpPr>
        <p:spPr/>
        <p:txBody>
          <a:bodyPr/>
          <a:lstStyle/>
          <a:p>
            <a:fld id="{A5BC3523-C363-4BFA-8941-CE9ECEEECBA2}" type="slidenum">
              <a:rPr lang="en-GB" smtClean="0"/>
              <a:t>24</a:t>
            </a:fld>
            <a:endParaRPr lang="en-GB" dirty="0"/>
          </a:p>
        </p:txBody>
      </p:sp>
      <p:graphicFrame>
        <p:nvGraphicFramePr>
          <p:cNvPr id="7" name="Content Placeholder 5">
            <a:extLst>
              <a:ext uri="{FF2B5EF4-FFF2-40B4-BE49-F238E27FC236}">
                <a16:creationId xmlns:a16="http://schemas.microsoft.com/office/drawing/2014/main" id="{9A550DD7-C747-833B-0D07-F92DB6ED1BDC}"/>
              </a:ext>
            </a:extLst>
          </p:cNvPr>
          <p:cNvGraphicFramePr>
            <a:graphicFrameLocks/>
          </p:cNvGraphicFramePr>
          <p:nvPr>
            <p:extLst>
              <p:ext uri="{D42A27DB-BD31-4B8C-83A1-F6EECF244321}">
                <p14:modId xmlns:p14="http://schemas.microsoft.com/office/powerpoint/2010/main" val="3459715652"/>
              </p:ext>
            </p:extLst>
          </p:nvPr>
        </p:nvGraphicFramePr>
        <p:xfrm>
          <a:off x="1776000" y="1945486"/>
          <a:ext cx="8640000" cy="1584960"/>
        </p:xfrm>
        <a:graphic>
          <a:graphicData uri="http://schemas.openxmlformats.org/drawingml/2006/table">
            <a:tbl>
              <a:tblPr firstRow="1" bandRow="1">
                <a:tableStyleId>{7DF18680-E054-41AD-8BC1-D1AEF772440D}</a:tableStyleId>
              </a:tblPr>
              <a:tblGrid>
                <a:gridCol w="1440000">
                  <a:extLst>
                    <a:ext uri="{9D8B030D-6E8A-4147-A177-3AD203B41FA5}">
                      <a16:colId xmlns:a16="http://schemas.microsoft.com/office/drawing/2014/main" val="3342448778"/>
                    </a:ext>
                  </a:extLst>
                </a:gridCol>
                <a:gridCol w="3600000">
                  <a:extLst>
                    <a:ext uri="{9D8B030D-6E8A-4147-A177-3AD203B41FA5}">
                      <a16:colId xmlns:a16="http://schemas.microsoft.com/office/drawing/2014/main" val="762947387"/>
                    </a:ext>
                  </a:extLst>
                </a:gridCol>
                <a:gridCol w="3600000">
                  <a:extLst>
                    <a:ext uri="{9D8B030D-6E8A-4147-A177-3AD203B41FA5}">
                      <a16:colId xmlns:a16="http://schemas.microsoft.com/office/drawing/2014/main" val="2828692460"/>
                    </a:ext>
                  </a:extLst>
                </a:gridCol>
              </a:tblGrid>
              <a:tr h="370840">
                <a:tc>
                  <a:txBody>
                    <a:bodyPr/>
                    <a:lstStyle/>
                    <a:p>
                      <a:pPr algn="ctr"/>
                      <a:r>
                        <a:rPr lang="en-GB" sz="2000" dirty="0">
                          <a:latin typeface="Aptos Display" panose="020B0004020202020204" pitchFamily="34" charset="0"/>
                        </a:rPr>
                        <a:t>Reentrancy</a:t>
                      </a:r>
                    </a:p>
                  </a:txBody>
                  <a:tcPr/>
                </a:tc>
                <a:tc>
                  <a:txBody>
                    <a:bodyPr/>
                    <a:lstStyle/>
                    <a:p>
                      <a:pPr algn="ctr"/>
                      <a:r>
                        <a:rPr lang="en-GB" sz="2000" dirty="0">
                          <a:latin typeface="Aptos Display" panose="020B0004020202020204" pitchFamily="34" charset="0"/>
                        </a:rPr>
                        <a:t>Number of Call Sites</a:t>
                      </a:r>
                    </a:p>
                  </a:txBody>
                  <a:tcPr/>
                </a:tc>
                <a:tc>
                  <a:txBody>
                    <a:bodyPr/>
                    <a:lstStyle/>
                    <a:p>
                      <a:pPr algn="ctr"/>
                      <a:r>
                        <a:rPr lang="en-GB" sz="2000" dirty="0">
                          <a:latin typeface="Aptos Display" panose="020B0004020202020204" pitchFamily="34" charset="0"/>
                        </a:rPr>
                        <a:t>Number of Memory Instances</a:t>
                      </a:r>
                    </a:p>
                  </a:txBody>
                  <a:tcPr/>
                </a:tc>
                <a:extLst>
                  <a:ext uri="{0D108BD9-81ED-4DB2-BD59-A6C34878D82A}">
                    <a16:rowId xmlns:a16="http://schemas.microsoft.com/office/drawing/2014/main" val="3076839595"/>
                  </a:ext>
                </a:extLst>
              </a:tr>
              <a:tr h="370840">
                <a:tc>
                  <a:txBody>
                    <a:bodyPr/>
                    <a:lstStyle/>
                    <a:p>
                      <a:pPr algn="ctr"/>
                      <a:r>
                        <a:rPr lang="en-GB" sz="2000" dirty="0">
                          <a:solidFill>
                            <a:srgbClr val="003B66"/>
                          </a:solidFill>
                          <a:latin typeface="Aptos" panose="020B0004020202020204" pitchFamily="34" charset="0"/>
                        </a:rPr>
                        <a:t>NR</a:t>
                      </a:r>
                    </a:p>
                  </a:txBody>
                  <a:tcPr anchor="ctr"/>
                </a:tc>
                <a:tc>
                  <a:txBody>
                    <a:bodyPr/>
                    <a:lstStyle/>
                    <a:p>
                      <a:pPr marL="0" indent="0" algn="ctr">
                        <a:buFont typeface="Arial" panose="020B0604020202020204" pitchFamily="34" charset="0"/>
                        <a:buNone/>
                      </a:pPr>
                      <a:r>
                        <a:rPr lang="en-GB" sz="2000" dirty="0">
                          <a:solidFill>
                            <a:srgbClr val="003B66"/>
                          </a:solidFill>
                          <a:latin typeface="Aptos" panose="020B0004020202020204" pitchFamily="34" charset="0"/>
                        </a:rPr>
                        <a:t>N</a:t>
                      </a:r>
                    </a:p>
                  </a:txBody>
                  <a:tcPr anchor="ctr"/>
                </a:tc>
                <a:tc>
                  <a:txBody>
                    <a:bodyPr/>
                    <a:lstStyle/>
                    <a:p>
                      <a:pPr algn="ctr"/>
                      <a:r>
                        <a:rPr lang="en-GB" sz="2000" dirty="0">
                          <a:solidFill>
                            <a:srgbClr val="003B66"/>
                          </a:solidFill>
                          <a:latin typeface="Aptos" panose="020B0004020202020204" pitchFamily="34" charset="0"/>
                        </a:rPr>
                        <a:t>1</a:t>
                      </a:r>
                    </a:p>
                  </a:txBody>
                  <a:tcPr anchor="ctr"/>
                </a:tc>
                <a:extLst>
                  <a:ext uri="{0D108BD9-81ED-4DB2-BD59-A6C34878D82A}">
                    <a16:rowId xmlns:a16="http://schemas.microsoft.com/office/drawing/2014/main" val="2848429078"/>
                  </a:ext>
                </a:extLst>
              </a:tr>
              <a:tr h="370840">
                <a:tc>
                  <a:txBody>
                    <a:bodyPr/>
                    <a:lstStyle/>
                    <a:p>
                      <a:pPr algn="ctr"/>
                      <a:r>
                        <a:rPr lang="en-GB" sz="2000" dirty="0">
                          <a:solidFill>
                            <a:srgbClr val="003B66"/>
                          </a:solidFill>
                          <a:latin typeface="Aptos" panose="020B0004020202020204" pitchFamily="34" charset="0"/>
                        </a:rPr>
                        <a:t>SCR</a:t>
                      </a:r>
                    </a:p>
                  </a:txBody>
                  <a:tcPr anchor="ctr"/>
                </a:tc>
                <a:tc>
                  <a:txBody>
                    <a:bodyPr/>
                    <a:lstStyle/>
                    <a:p>
                      <a:pPr algn="ctr"/>
                      <a:r>
                        <a:rPr lang="en-GB" sz="2000" dirty="0">
                          <a:solidFill>
                            <a:srgbClr val="003B66"/>
                          </a:solidFill>
                          <a:latin typeface="Aptos" panose="020B0004020202020204" pitchFamily="34" charset="0"/>
                        </a:rPr>
                        <a:t>N</a:t>
                      </a:r>
                    </a:p>
                  </a:txBody>
                  <a:tcPr anchor="ctr"/>
                </a:tc>
                <a:tc>
                  <a:txBody>
                    <a:bodyPr/>
                    <a:lstStyle/>
                    <a:p>
                      <a:pPr algn="ctr"/>
                      <a:r>
                        <a:rPr lang="en-GB" sz="2000" dirty="0">
                          <a:solidFill>
                            <a:srgbClr val="003B66"/>
                          </a:solidFill>
                          <a:latin typeface="Aptos" panose="020B0004020202020204" pitchFamily="34" charset="0"/>
                        </a:rPr>
                        <a:t>1 to N (actively managed)</a:t>
                      </a:r>
                    </a:p>
                  </a:txBody>
                  <a:tcPr anchor="ctr"/>
                </a:tc>
                <a:extLst>
                  <a:ext uri="{0D108BD9-81ED-4DB2-BD59-A6C34878D82A}">
                    <a16:rowId xmlns:a16="http://schemas.microsoft.com/office/drawing/2014/main" val="3354099830"/>
                  </a:ext>
                </a:extLst>
              </a:tr>
              <a:tr h="370840">
                <a:tc>
                  <a:txBody>
                    <a:bodyPr/>
                    <a:lstStyle/>
                    <a:p>
                      <a:pPr algn="ctr"/>
                      <a:r>
                        <a:rPr lang="en-GB" sz="2000" dirty="0">
                          <a:solidFill>
                            <a:srgbClr val="003B66"/>
                          </a:solidFill>
                          <a:latin typeface="Aptos" panose="020B0004020202020204" pitchFamily="34" charset="0"/>
                        </a:rPr>
                        <a:t>PCR</a:t>
                      </a:r>
                    </a:p>
                  </a:txBody>
                  <a:tcPr anchor="ctr"/>
                </a:tc>
                <a:tc>
                  <a:txBody>
                    <a:bodyPr/>
                    <a:lstStyle/>
                    <a:p>
                      <a:pPr algn="ctr"/>
                      <a:r>
                        <a:rPr lang="en-GB" sz="2000" dirty="0">
                          <a:solidFill>
                            <a:srgbClr val="003B66"/>
                          </a:solidFill>
                          <a:latin typeface="Aptos" panose="020B0004020202020204" pitchFamily="34" charset="0"/>
                        </a:rPr>
                        <a:t>N</a:t>
                      </a:r>
                    </a:p>
                  </a:txBody>
                  <a:tcPr anchor="ctr"/>
                </a:tc>
                <a:tc>
                  <a:txBody>
                    <a:bodyPr/>
                    <a:lstStyle/>
                    <a:p>
                      <a:pPr algn="ctr"/>
                      <a:r>
                        <a:rPr lang="en-GB" sz="2000" dirty="0">
                          <a:solidFill>
                            <a:srgbClr val="003B66"/>
                          </a:solidFill>
                          <a:latin typeface="Aptos" panose="020B0004020202020204" pitchFamily="34" charset="0"/>
                        </a:rPr>
                        <a:t>N</a:t>
                      </a:r>
                    </a:p>
                  </a:txBody>
                  <a:tcPr anchor="ctr"/>
                </a:tc>
                <a:extLst>
                  <a:ext uri="{0D108BD9-81ED-4DB2-BD59-A6C34878D82A}">
                    <a16:rowId xmlns:a16="http://schemas.microsoft.com/office/drawing/2014/main" val="3889144522"/>
                  </a:ext>
                </a:extLst>
              </a:tr>
            </a:tbl>
          </a:graphicData>
        </a:graphic>
      </p:graphicFrame>
    </p:spTree>
    <p:extLst>
      <p:ext uri="{BB962C8B-B14F-4D97-AF65-F5344CB8AC3E}">
        <p14:creationId xmlns:p14="http://schemas.microsoft.com/office/powerpoint/2010/main" val="9167742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01A4F-8047-F0B4-DE5A-04736E71BD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08EA8C-739F-ED05-FFEB-AFC7624C057D}"/>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NR vs SCR vs PCR</a:t>
            </a:r>
          </a:p>
        </p:txBody>
      </p:sp>
      <p:sp>
        <p:nvSpPr>
          <p:cNvPr id="4" name="Slide Number Placeholder 3">
            <a:extLst>
              <a:ext uri="{FF2B5EF4-FFF2-40B4-BE49-F238E27FC236}">
                <a16:creationId xmlns:a16="http://schemas.microsoft.com/office/drawing/2014/main" id="{EF4E2B33-32B8-ABC5-6DCE-1FDD71334387}"/>
              </a:ext>
            </a:extLst>
          </p:cNvPr>
          <p:cNvSpPr>
            <a:spLocks noGrp="1"/>
          </p:cNvSpPr>
          <p:nvPr>
            <p:ph type="sldNum" sz="quarter" idx="12"/>
          </p:nvPr>
        </p:nvSpPr>
        <p:spPr/>
        <p:txBody>
          <a:bodyPr/>
          <a:lstStyle/>
          <a:p>
            <a:fld id="{A5BC3523-C363-4BFA-8941-CE9ECEEECBA2}" type="slidenum">
              <a:rPr lang="en-GB" smtClean="0"/>
              <a:t>25</a:t>
            </a:fld>
            <a:endParaRPr lang="en-GB" dirty="0"/>
          </a:p>
        </p:txBody>
      </p:sp>
      <p:graphicFrame>
        <p:nvGraphicFramePr>
          <p:cNvPr id="13" name="Content Placeholder 5">
            <a:extLst>
              <a:ext uri="{FF2B5EF4-FFF2-40B4-BE49-F238E27FC236}">
                <a16:creationId xmlns:a16="http://schemas.microsoft.com/office/drawing/2014/main" id="{5D730710-04E1-39E2-3001-1AAF7648F6D8}"/>
              </a:ext>
            </a:extLst>
          </p:cNvPr>
          <p:cNvGraphicFramePr>
            <a:graphicFrameLocks/>
          </p:cNvGraphicFramePr>
          <p:nvPr>
            <p:extLst>
              <p:ext uri="{D42A27DB-BD31-4B8C-83A1-F6EECF244321}">
                <p14:modId xmlns:p14="http://schemas.microsoft.com/office/powerpoint/2010/main" val="1868705339"/>
              </p:ext>
            </p:extLst>
          </p:nvPr>
        </p:nvGraphicFramePr>
        <p:xfrm>
          <a:off x="297733" y="988790"/>
          <a:ext cx="11700000" cy="4272280"/>
        </p:xfrm>
        <a:graphic>
          <a:graphicData uri="http://schemas.openxmlformats.org/drawingml/2006/table">
            <a:tbl>
              <a:tblPr firstRow="1" bandRow="1">
                <a:tableStyleId>{7DF18680-E054-41AD-8BC1-D1AEF772440D}</a:tableStyleId>
              </a:tblPr>
              <a:tblGrid>
                <a:gridCol w="540000">
                  <a:extLst>
                    <a:ext uri="{9D8B030D-6E8A-4147-A177-3AD203B41FA5}">
                      <a16:colId xmlns:a16="http://schemas.microsoft.com/office/drawing/2014/main" val="3342448778"/>
                    </a:ext>
                  </a:extLst>
                </a:gridCol>
                <a:gridCol w="540000">
                  <a:extLst>
                    <a:ext uri="{9D8B030D-6E8A-4147-A177-3AD203B41FA5}">
                      <a16:colId xmlns:a16="http://schemas.microsoft.com/office/drawing/2014/main" val="3067975266"/>
                    </a:ext>
                  </a:extLst>
                </a:gridCol>
                <a:gridCol w="540000">
                  <a:extLst>
                    <a:ext uri="{9D8B030D-6E8A-4147-A177-3AD203B41FA5}">
                      <a16:colId xmlns:a16="http://schemas.microsoft.com/office/drawing/2014/main" val="1616016181"/>
                    </a:ext>
                  </a:extLst>
                </a:gridCol>
                <a:gridCol w="3600000">
                  <a:extLst>
                    <a:ext uri="{9D8B030D-6E8A-4147-A177-3AD203B41FA5}">
                      <a16:colId xmlns:a16="http://schemas.microsoft.com/office/drawing/2014/main" val="762947387"/>
                    </a:ext>
                  </a:extLst>
                </a:gridCol>
                <a:gridCol w="6480000">
                  <a:extLst>
                    <a:ext uri="{9D8B030D-6E8A-4147-A177-3AD203B41FA5}">
                      <a16:colId xmlns:a16="http://schemas.microsoft.com/office/drawing/2014/main" val="2828692460"/>
                    </a:ext>
                  </a:extLst>
                </a:gridCol>
              </a:tblGrid>
              <a:tr h="370840">
                <a:tc>
                  <a:txBody>
                    <a:bodyPr/>
                    <a:lstStyle/>
                    <a:p>
                      <a:pPr algn="ctr"/>
                      <a:endParaRPr lang="en-GB" dirty="0">
                        <a:latin typeface="Aptos Display" panose="020B0004020202020204" pitchFamily="34" charset="0"/>
                      </a:endParaRPr>
                    </a:p>
                  </a:txBody>
                  <a:tcPr/>
                </a:tc>
                <a:tc>
                  <a:txBody>
                    <a:bodyPr/>
                    <a:lstStyle/>
                    <a:p>
                      <a:pPr algn="ctr"/>
                      <a:r>
                        <a:rPr lang="en-GB" dirty="0">
                          <a:latin typeface="Aptos Display" panose="020B0004020202020204" pitchFamily="34" charset="0"/>
                        </a:rPr>
                        <a:t>CS</a:t>
                      </a:r>
                    </a:p>
                  </a:txBody>
                  <a:tcPr/>
                </a:tc>
                <a:tc>
                  <a:txBody>
                    <a:bodyPr/>
                    <a:lstStyle/>
                    <a:p>
                      <a:pPr algn="ctr"/>
                      <a:r>
                        <a:rPr lang="en-GB" dirty="0">
                          <a:latin typeface="Aptos Display" panose="020B0004020202020204" pitchFamily="34" charset="0"/>
                        </a:rPr>
                        <a:t>MI</a:t>
                      </a:r>
                    </a:p>
                  </a:txBody>
                  <a:tcPr/>
                </a:tc>
                <a:tc>
                  <a:txBody>
                    <a:bodyPr/>
                    <a:lstStyle/>
                    <a:p>
                      <a:pPr algn="ctr"/>
                      <a:r>
                        <a:rPr lang="en-GB" dirty="0">
                          <a:latin typeface="Aptos Display" panose="020B0004020202020204" pitchFamily="34" charset="0"/>
                        </a:rPr>
                        <a:t>Pros</a:t>
                      </a:r>
                    </a:p>
                  </a:txBody>
                  <a:tcPr/>
                </a:tc>
                <a:tc>
                  <a:txBody>
                    <a:bodyPr/>
                    <a:lstStyle/>
                    <a:p>
                      <a:pPr algn="ctr"/>
                      <a:r>
                        <a:rPr lang="en-GB" dirty="0">
                          <a:latin typeface="Aptos Display" panose="020B0004020202020204" pitchFamily="34" charset="0"/>
                        </a:rPr>
                        <a:t>Cons</a:t>
                      </a:r>
                    </a:p>
                  </a:txBody>
                  <a:tcPr/>
                </a:tc>
                <a:extLst>
                  <a:ext uri="{0D108BD9-81ED-4DB2-BD59-A6C34878D82A}">
                    <a16:rowId xmlns:a16="http://schemas.microsoft.com/office/drawing/2014/main" val="3076839595"/>
                  </a:ext>
                </a:extLst>
              </a:tr>
              <a:tr h="370840">
                <a:tc>
                  <a:txBody>
                    <a:bodyPr/>
                    <a:lstStyle/>
                    <a:p>
                      <a:pPr algn="ctr"/>
                      <a:r>
                        <a:rPr lang="en-GB" sz="1400" dirty="0">
                          <a:solidFill>
                            <a:srgbClr val="003B66"/>
                          </a:solidFill>
                          <a:latin typeface="Aptos" panose="020B0004020202020204" pitchFamily="34" charset="0"/>
                        </a:rPr>
                        <a:t>NR</a:t>
                      </a:r>
                    </a:p>
                  </a:txBody>
                  <a:tcPr anchor="ctr"/>
                </a:tc>
                <a:tc>
                  <a:txBody>
                    <a:bodyPr/>
                    <a:lstStyle/>
                    <a:p>
                      <a:pPr marL="0" indent="0" algn="ctr">
                        <a:buFont typeface="Arial" panose="020B0604020202020204" pitchFamily="34" charset="0"/>
                        <a:buNone/>
                      </a:pPr>
                      <a:r>
                        <a:rPr lang="en-GB" sz="1400" dirty="0">
                          <a:solidFill>
                            <a:srgbClr val="003B66"/>
                          </a:solidFill>
                          <a:latin typeface="Aptos" panose="020B0004020202020204" pitchFamily="34" charset="0"/>
                        </a:rPr>
                        <a:t>N</a:t>
                      </a:r>
                    </a:p>
                  </a:txBody>
                  <a:tcPr anchor="ctr"/>
                </a:tc>
                <a:tc>
                  <a:txBody>
                    <a:bodyPr/>
                    <a:lstStyle/>
                    <a:p>
                      <a:pPr marL="0" indent="0" algn="ctr">
                        <a:buFont typeface="Arial" panose="020B0604020202020204" pitchFamily="34" charset="0"/>
                        <a:buNone/>
                      </a:pPr>
                      <a:r>
                        <a:rPr lang="en-GB" sz="1400" dirty="0">
                          <a:solidFill>
                            <a:srgbClr val="003B66"/>
                          </a:solidFill>
                          <a:latin typeface="Aptos" panose="020B0004020202020204" pitchFamily="34" charset="0"/>
                        </a:rPr>
                        <a:t>1</a:t>
                      </a:r>
                    </a:p>
                  </a:txBody>
                  <a:tcPr anchor="ctr"/>
                </a:tc>
                <a:tc>
                  <a:txBody>
                    <a:bodyPr/>
                    <a:lstStyle/>
                    <a:p>
                      <a:pPr marL="285750" indent="-285750">
                        <a:buFont typeface="Arial" panose="020B0604020202020204" pitchFamily="34" charset="0"/>
                        <a:buChar char="•"/>
                      </a:pPr>
                      <a:r>
                        <a:rPr lang="en-GB" sz="1400" dirty="0">
                          <a:solidFill>
                            <a:srgbClr val="003B66"/>
                          </a:solidFill>
                          <a:latin typeface="Aptos" panose="020B0004020202020204" pitchFamily="34" charset="0"/>
                        </a:rPr>
                        <a:t>Lowest memory usage</a:t>
                      </a:r>
                    </a:p>
                    <a:p>
                      <a:pPr marL="285750" indent="-285750">
                        <a:buFont typeface="Arial" panose="020B0604020202020204" pitchFamily="34" charset="0"/>
                        <a:buChar char="•"/>
                      </a:pPr>
                      <a:r>
                        <a:rPr lang="en-GB" sz="1400" dirty="0">
                          <a:solidFill>
                            <a:srgbClr val="003B66"/>
                          </a:solidFill>
                          <a:latin typeface="Aptos" panose="020B0004020202020204" pitchFamily="34" charset="0"/>
                        </a:rPr>
                        <a:t>Can be used to implement FGVs or Action Engines*</a:t>
                      </a:r>
                    </a:p>
                  </a:txBody>
                  <a:tcPr anchor="ctr"/>
                </a:tc>
                <a:tc>
                  <a:txBody>
                    <a:bodyPr/>
                    <a:lstStyle/>
                    <a:p>
                      <a:pPr marL="285750" indent="-285750">
                        <a:buFont typeface="Arial" panose="020B0604020202020204" pitchFamily="34" charset="0"/>
                        <a:buChar char="•"/>
                      </a:pPr>
                      <a:r>
                        <a:rPr lang="en-GB" sz="1400" dirty="0">
                          <a:solidFill>
                            <a:srgbClr val="003B66"/>
                          </a:solidFill>
                          <a:latin typeface="Aptos" panose="020B0004020202020204" pitchFamily="34" charset="0"/>
                        </a:rPr>
                        <a:t>Collision and co-ordination overhead (mutex)</a:t>
                      </a:r>
                    </a:p>
                    <a:p>
                      <a:pPr marL="285750" indent="-285750">
                        <a:buFont typeface="Arial" panose="020B0604020202020204" pitchFamily="34" charset="0"/>
                        <a:buChar char="•"/>
                      </a:pPr>
                      <a:r>
                        <a:rPr lang="en-GB" sz="1400" dirty="0">
                          <a:solidFill>
                            <a:srgbClr val="003B66"/>
                          </a:solidFill>
                          <a:latin typeface="Aptos" panose="020B0004020202020204" pitchFamily="34" charset="0"/>
                        </a:rPr>
                        <a:t>Sequential, anti-parallel execution</a:t>
                      </a:r>
                    </a:p>
                    <a:p>
                      <a:pPr marL="285750" indent="-285750">
                        <a:buFont typeface="Arial" panose="020B0604020202020204" pitchFamily="34" charset="0"/>
                        <a:buChar char="•"/>
                      </a:pPr>
                      <a:r>
                        <a:rPr lang="en-GB" sz="1400" dirty="0">
                          <a:solidFill>
                            <a:srgbClr val="003B66"/>
                          </a:solidFill>
                          <a:latin typeface="Aptos" panose="020B0004020202020204" pitchFamily="34" charset="0"/>
                        </a:rPr>
                        <a:t>Fights against LabVIEW’s parallel nature</a:t>
                      </a:r>
                    </a:p>
                    <a:p>
                      <a:pPr marL="285750" indent="-285750">
                        <a:buFont typeface="Arial" panose="020B0604020202020204" pitchFamily="34" charset="0"/>
                        <a:buChar char="•"/>
                      </a:pPr>
                      <a:r>
                        <a:rPr lang="en-GB" sz="1400" dirty="0">
                          <a:solidFill>
                            <a:srgbClr val="003B66"/>
                          </a:solidFill>
                          <a:latin typeface="Aptos" panose="020B0004020202020204" pitchFamily="34" charset="0"/>
                        </a:rPr>
                        <a:t>High jitter. Not best for real-time applications.</a:t>
                      </a:r>
                    </a:p>
                    <a:p>
                      <a:pPr marL="285750" indent="-285750">
                        <a:buFont typeface="Arial" panose="020B0604020202020204" pitchFamily="34" charset="0"/>
                        <a:buChar char="•"/>
                      </a:pPr>
                      <a:r>
                        <a:rPr lang="en-GB" sz="1400" dirty="0">
                          <a:solidFill>
                            <a:srgbClr val="003B66"/>
                          </a:solidFill>
                          <a:latin typeface="Aptos" panose="020B0004020202020204" pitchFamily="34" charset="0"/>
                        </a:rPr>
                        <a:t>Adds invisible ties (the co-ordination mechanism) between different regions of code. Bad from a software engineering, clean code perspective.***</a:t>
                      </a:r>
                    </a:p>
                  </a:txBody>
                  <a:tcPr anchor="ctr"/>
                </a:tc>
                <a:extLst>
                  <a:ext uri="{0D108BD9-81ED-4DB2-BD59-A6C34878D82A}">
                    <a16:rowId xmlns:a16="http://schemas.microsoft.com/office/drawing/2014/main" val="2848429078"/>
                  </a:ext>
                </a:extLst>
              </a:tr>
              <a:tr h="370840">
                <a:tc>
                  <a:txBody>
                    <a:bodyPr/>
                    <a:lstStyle/>
                    <a:p>
                      <a:pPr algn="ctr"/>
                      <a:r>
                        <a:rPr lang="en-GB" sz="1400" dirty="0">
                          <a:solidFill>
                            <a:srgbClr val="003B66"/>
                          </a:solidFill>
                          <a:latin typeface="Aptos" panose="020B0004020202020204" pitchFamily="34" charset="0"/>
                        </a:rPr>
                        <a:t>SCR</a:t>
                      </a:r>
                    </a:p>
                  </a:txBody>
                  <a:tcPr anchor="ctr"/>
                </a:tc>
                <a:tc>
                  <a:txBody>
                    <a:bodyPr/>
                    <a:lstStyle/>
                    <a:p>
                      <a:pPr algn="ctr"/>
                      <a:r>
                        <a:rPr lang="en-GB" sz="1400" dirty="0">
                          <a:solidFill>
                            <a:srgbClr val="003B66"/>
                          </a:solidFill>
                          <a:latin typeface="Aptos" panose="020B0004020202020204" pitchFamily="34" charset="0"/>
                        </a:rPr>
                        <a:t>N</a:t>
                      </a:r>
                    </a:p>
                  </a:txBody>
                  <a:tcPr anchor="ctr"/>
                </a:tc>
                <a:tc>
                  <a:txBody>
                    <a:bodyPr/>
                    <a:lstStyle/>
                    <a:p>
                      <a:pPr algn="ctr"/>
                      <a:r>
                        <a:rPr lang="en-GB" sz="1400" dirty="0">
                          <a:solidFill>
                            <a:srgbClr val="003B66"/>
                          </a:solidFill>
                          <a:latin typeface="Aptos" panose="020B0004020202020204" pitchFamily="34" charset="0"/>
                        </a:rPr>
                        <a:t>1..N</a:t>
                      </a:r>
                    </a:p>
                  </a:txBody>
                  <a:tcPr anchor="ctr"/>
                </a:tc>
                <a:tc>
                  <a:txBody>
                    <a:bodyPr/>
                    <a:lstStyle/>
                    <a:p>
                      <a:pPr marL="285750" indent="-285750">
                        <a:buFont typeface="Arial" panose="020B0604020202020204" pitchFamily="34" charset="0"/>
                        <a:buChar char="•"/>
                      </a:pPr>
                      <a:r>
                        <a:rPr lang="en-GB" sz="1400" dirty="0">
                          <a:solidFill>
                            <a:srgbClr val="003B66"/>
                          </a:solidFill>
                          <a:latin typeface="Aptos" panose="020B0004020202020204" pitchFamily="34" charset="0"/>
                        </a:rPr>
                        <a:t>Lower memory usage than PCR</a:t>
                      </a:r>
                    </a:p>
                    <a:p>
                      <a:pPr marL="285750" indent="-285750">
                        <a:buFont typeface="Arial" panose="020B0604020202020204" pitchFamily="34" charset="0"/>
                        <a:buChar char="•"/>
                      </a:pPr>
                      <a:r>
                        <a:rPr lang="en-GB" sz="1400" dirty="0">
                          <a:solidFill>
                            <a:srgbClr val="003B66"/>
                          </a:solidFill>
                          <a:latin typeface="Aptos" panose="020B0004020202020204" pitchFamily="34" charset="0"/>
                        </a:rPr>
                        <a:t>Enables parallel execution</a:t>
                      </a:r>
                    </a:p>
                    <a:p>
                      <a:pPr marL="285750" indent="-285750">
                        <a:buFont typeface="Arial" panose="020B0604020202020204" pitchFamily="34" charset="0"/>
                        <a:buChar char="•"/>
                      </a:pPr>
                      <a:r>
                        <a:rPr lang="en-GB" sz="1400" dirty="0">
                          <a:solidFill>
                            <a:srgbClr val="003B66"/>
                          </a:solidFill>
                          <a:latin typeface="Aptos" panose="020B0004020202020204" pitchFamily="34" charset="0"/>
                        </a:rPr>
                        <a:t>Required to implement recursion**</a:t>
                      </a:r>
                    </a:p>
                    <a:p>
                      <a:pPr marL="285750" indent="-285750">
                        <a:buFont typeface="Arial" panose="020B0604020202020204" pitchFamily="34" charset="0"/>
                        <a:buChar char="•"/>
                      </a:pPr>
                      <a:r>
                        <a:rPr lang="en-GB" sz="1400" dirty="0">
                          <a:solidFill>
                            <a:srgbClr val="003B66"/>
                          </a:solidFill>
                          <a:latin typeface="Aptos" panose="020B0004020202020204" pitchFamily="34" charset="0"/>
                        </a:rPr>
                        <a:t>Only form of parallelism supported by Dynamic Dispatch VIs</a:t>
                      </a:r>
                    </a:p>
                  </a:txBody>
                  <a:tcPr anchor="ctr"/>
                </a:tc>
                <a:tc>
                  <a:txBody>
                    <a:bodyPr/>
                    <a:lstStyle/>
                    <a:p>
                      <a:pPr marL="285750" indent="-285750">
                        <a:buFont typeface="Arial" panose="020B0604020202020204" pitchFamily="34" charset="0"/>
                        <a:buChar char="•"/>
                      </a:pPr>
                      <a:r>
                        <a:rPr lang="en-GB" sz="1400" dirty="0">
                          <a:solidFill>
                            <a:srgbClr val="003B66"/>
                          </a:solidFill>
                          <a:latin typeface="Aptos" panose="020B0004020202020204" pitchFamily="34" charset="0"/>
                        </a:rPr>
                        <a:t>Co-ordination overhead (pool management)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dirty="0">
                          <a:solidFill>
                            <a:srgbClr val="003B66"/>
                          </a:solidFill>
                          <a:latin typeface="Aptos" panose="020B0004020202020204" pitchFamily="34" charset="0"/>
                        </a:rPr>
                        <a:t>High jitter. Not best for real-time applications.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dirty="0">
                          <a:solidFill>
                            <a:srgbClr val="003B66"/>
                          </a:solidFill>
                          <a:latin typeface="Aptos" panose="020B0004020202020204" pitchFamily="34" charset="0"/>
                        </a:rPr>
                        <a:t>Adds invisible ties (the co-ordination mechanism) between different regions of code. Bad from a software engineering, clean code perspective.***</a:t>
                      </a:r>
                    </a:p>
                  </a:txBody>
                  <a:tcPr anchor="ctr"/>
                </a:tc>
                <a:extLst>
                  <a:ext uri="{0D108BD9-81ED-4DB2-BD59-A6C34878D82A}">
                    <a16:rowId xmlns:a16="http://schemas.microsoft.com/office/drawing/2014/main" val="3354099830"/>
                  </a:ext>
                </a:extLst>
              </a:tr>
              <a:tr h="370840">
                <a:tc>
                  <a:txBody>
                    <a:bodyPr/>
                    <a:lstStyle/>
                    <a:p>
                      <a:pPr algn="ctr"/>
                      <a:r>
                        <a:rPr lang="en-GB" sz="1400" dirty="0">
                          <a:solidFill>
                            <a:srgbClr val="003B66"/>
                          </a:solidFill>
                          <a:latin typeface="Aptos" panose="020B0004020202020204" pitchFamily="34" charset="0"/>
                        </a:rPr>
                        <a:t>PCR</a:t>
                      </a:r>
                    </a:p>
                  </a:txBody>
                  <a:tcPr anchor="ctr"/>
                </a:tc>
                <a:tc>
                  <a:txBody>
                    <a:bodyPr/>
                    <a:lstStyle/>
                    <a:p>
                      <a:pPr algn="ctr"/>
                      <a:r>
                        <a:rPr lang="en-GB" sz="1400" dirty="0">
                          <a:solidFill>
                            <a:srgbClr val="003B66"/>
                          </a:solidFill>
                          <a:latin typeface="Aptos" panose="020B0004020202020204" pitchFamily="34" charset="0"/>
                        </a:rPr>
                        <a:t>N</a:t>
                      </a:r>
                    </a:p>
                  </a:txBody>
                  <a:tcPr anchor="ctr"/>
                </a:tc>
                <a:tc>
                  <a:txBody>
                    <a:bodyPr/>
                    <a:lstStyle/>
                    <a:p>
                      <a:pPr algn="ctr"/>
                      <a:r>
                        <a:rPr lang="en-GB" sz="1400" dirty="0">
                          <a:solidFill>
                            <a:srgbClr val="003B66"/>
                          </a:solidFill>
                          <a:latin typeface="Aptos" panose="020B0004020202020204" pitchFamily="34" charset="0"/>
                        </a:rPr>
                        <a:t>N</a:t>
                      </a:r>
                    </a:p>
                  </a:txBody>
                  <a:tcPr anchor="ctr"/>
                </a:tc>
                <a:tc>
                  <a:txBody>
                    <a:bodyPr/>
                    <a:lstStyle/>
                    <a:p>
                      <a:pPr marL="285750" indent="-285750">
                        <a:buFont typeface="Arial" panose="020B0604020202020204" pitchFamily="34" charset="0"/>
                        <a:buChar char="•"/>
                      </a:pPr>
                      <a:r>
                        <a:rPr lang="en-GB" sz="1400" dirty="0">
                          <a:solidFill>
                            <a:srgbClr val="003B66"/>
                          </a:solidFill>
                          <a:latin typeface="Aptos" panose="020B0004020202020204" pitchFamily="34" charset="0"/>
                        </a:rPr>
                        <a:t>No overheads compared to NR and SCR</a:t>
                      </a:r>
                    </a:p>
                    <a:p>
                      <a:pPr marL="285750" indent="-285750">
                        <a:buFont typeface="Arial" panose="020B0604020202020204" pitchFamily="34" charset="0"/>
                        <a:buChar char="•"/>
                      </a:pPr>
                      <a:r>
                        <a:rPr lang="en-GB" sz="1400" dirty="0">
                          <a:solidFill>
                            <a:srgbClr val="003B66"/>
                          </a:solidFill>
                          <a:latin typeface="Aptos" panose="020B0004020202020204" pitchFamily="34" charset="0"/>
                        </a:rPr>
                        <a:t>Truly parallel, independent execution</a:t>
                      </a:r>
                    </a:p>
                    <a:p>
                      <a:pPr marL="285750" indent="-285750">
                        <a:buFont typeface="Arial" panose="020B0604020202020204" pitchFamily="34" charset="0"/>
                        <a:buChar char="•"/>
                      </a:pPr>
                      <a:r>
                        <a:rPr lang="en-GB" sz="1400" dirty="0">
                          <a:solidFill>
                            <a:srgbClr val="003B66"/>
                          </a:solidFill>
                          <a:latin typeface="Aptos" panose="020B0004020202020204" pitchFamily="34" charset="0"/>
                        </a:rPr>
                        <a:t>Most alike the primitive functions</a:t>
                      </a:r>
                    </a:p>
                    <a:p>
                      <a:pPr marL="285750" indent="-285750">
                        <a:buFont typeface="Arial" panose="020B0604020202020204" pitchFamily="34" charset="0"/>
                        <a:buChar char="•"/>
                      </a:pPr>
                      <a:r>
                        <a:rPr lang="en-GB" sz="1400" dirty="0">
                          <a:solidFill>
                            <a:srgbClr val="003B66"/>
                          </a:solidFill>
                          <a:latin typeface="Aptos" panose="020B0004020202020204" pitchFamily="34" charset="0"/>
                        </a:rPr>
                        <a:t>Most deterministic, lowest jitter. Best for real-time applications.</a:t>
                      </a:r>
                    </a:p>
                    <a:p>
                      <a:pPr marL="285750" indent="-285750">
                        <a:buFont typeface="Arial" panose="020B0604020202020204" pitchFamily="34" charset="0"/>
                        <a:buChar char="•"/>
                      </a:pPr>
                      <a:r>
                        <a:rPr lang="en-GB" sz="1400" dirty="0">
                          <a:solidFill>
                            <a:srgbClr val="003B66"/>
                          </a:solidFill>
                          <a:latin typeface="Aptos" panose="020B0004020202020204" pitchFamily="34" charset="0"/>
                        </a:rPr>
                        <a:t>Best from SE/clean-code perspective</a:t>
                      </a:r>
                    </a:p>
                  </a:txBody>
                  <a:tcPr anchor="ctr"/>
                </a:tc>
                <a:tc>
                  <a:txBody>
                    <a:bodyPr/>
                    <a:lstStyle/>
                    <a:p>
                      <a:pPr marL="285750" indent="-285750">
                        <a:buFont typeface="Arial" panose="020B0604020202020204" pitchFamily="34" charset="0"/>
                        <a:buChar char="•"/>
                      </a:pPr>
                      <a:r>
                        <a:rPr lang="en-GB" sz="1400" dirty="0">
                          <a:solidFill>
                            <a:srgbClr val="003B66"/>
                          </a:solidFill>
                          <a:latin typeface="Aptos" panose="020B0004020202020204" pitchFamily="34" charset="0"/>
                        </a:rPr>
                        <a:t>Highest memory usage</a:t>
                      </a:r>
                    </a:p>
                  </a:txBody>
                  <a:tcPr anchor="ctr"/>
                </a:tc>
                <a:extLst>
                  <a:ext uri="{0D108BD9-81ED-4DB2-BD59-A6C34878D82A}">
                    <a16:rowId xmlns:a16="http://schemas.microsoft.com/office/drawing/2014/main" val="3889144522"/>
                  </a:ext>
                </a:extLst>
              </a:tr>
            </a:tbl>
          </a:graphicData>
        </a:graphic>
      </p:graphicFrame>
      <p:sp>
        <p:nvSpPr>
          <p:cNvPr id="15" name="Title 1">
            <a:extLst>
              <a:ext uri="{FF2B5EF4-FFF2-40B4-BE49-F238E27FC236}">
                <a16:creationId xmlns:a16="http://schemas.microsoft.com/office/drawing/2014/main" id="{EFC475E0-CA7F-2D2D-FA2F-05108B9A98BF}"/>
              </a:ext>
            </a:extLst>
          </p:cNvPr>
          <p:cNvSpPr txBox="1">
            <a:spLocks/>
          </p:cNvSpPr>
          <p:nvPr/>
        </p:nvSpPr>
        <p:spPr>
          <a:xfrm>
            <a:off x="240631" y="5261070"/>
            <a:ext cx="11609265" cy="1697514"/>
          </a:xfrm>
          <a:prstGeom prst="rect">
            <a:avLst/>
          </a:prstGeom>
        </p:spPr>
        <p:txBody>
          <a:bodyPr vert="horz" lIns="91440" tIns="45720" rIns="91440" bIns="45720" rtlCol="0" anchor="t">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400" dirty="0">
                <a:solidFill>
                  <a:srgbClr val="003B66"/>
                </a:solidFill>
                <a:latin typeface="Aptos" panose="020B0004020202020204" pitchFamily="34" charset="0"/>
              </a:rPr>
              <a:t>CS = Number of Call Sites, MI = Number of Memory Instances.</a:t>
            </a:r>
          </a:p>
          <a:p>
            <a:pPr algn="l"/>
            <a:r>
              <a:rPr lang="en-US" sz="1400" dirty="0">
                <a:solidFill>
                  <a:srgbClr val="003B66"/>
                </a:solidFill>
                <a:latin typeface="Aptos" panose="020B0004020202020204" pitchFamily="34" charset="0"/>
              </a:rPr>
              <a:t>*FGVs and Action Engines (AEs), while popular in older codebases, are largely superseded by better communication and data sharing mechanisms in modern frameworks. I personally very rarely create FGVs or AEs nowadays.</a:t>
            </a:r>
          </a:p>
          <a:p>
            <a:pPr algn="l"/>
            <a:r>
              <a:rPr lang="en-US" sz="1400" dirty="0">
                <a:solidFill>
                  <a:srgbClr val="003B66"/>
                </a:solidFill>
                <a:latin typeface="Aptos" panose="020B0004020202020204" pitchFamily="34" charset="0"/>
              </a:rPr>
              <a:t>**Recursive algorithms, while fun to play with, often take longer to execute and use more memory than the same algorithm implemented in the traditional, iterative fashion. All recursive algorithms can be implemented iteratively and vice-versa.</a:t>
            </a:r>
          </a:p>
          <a:p>
            <a:pPr algn="l"/>
            <a:r>
              <a:rPr lang="en-US" sz="1400" dirty="0">
                <a:solidFill>
                  <a:srgbClr val="003B66"/>
                </a:solidFill>
                <a:latin typeface="Aptos" panose="020B0004020202020204" pitchFamily="34" charset="0"/>
              </a:rPr>
              <a:t>***Example: Imagine a codebase that uses a native non-reentrant VI in a tight loop inside module M1. The code works fine.</a:t>
            </a:r>
          </a:p>
          <a:p>
            <a:pPr algn="l"/>
            <a:r>
              <a:rPr lang="en-US" sz="1400" dirty="0">
                <a:solidFill>
                  <a:srgbClr val="003B66"/>
                </a:solidFill>
                <a:latin typeface="Aptos" panose="020B0004020202020204" pitchFamily="34" charset="0"/>
              </a:rPr>
              <a:t>Later, the codebase grows and a new module, M2, starts using an open-source, third-party library </a:t>
            </a:r>
          </a:p>
          <a:p>
            <a:pPr algn="l"/>
            <a:r>
              <a:rPr lang="en-US" sz="1400" dirty="0">
                <a:solidFill>
                  <a:srgbClr val="003B66"/>
                </a:solidFill>
                <a:latin typeface="Aptos" panose="020B0004020202020204" pitchFamily="34" charset="0"/>
              </a:rPr>
              <a:t>that also happens to call the same native non-reentrant VI. The tight loop in M1 might start to work differently.</a:t>
            </a:r>
          </a:p>
          <a:p>
            <a:pPr algn="l"/>
            <a:r>
              <a:rPr lang="en-US" sz="1400" dirty="0">
                <a:solidFill>
                  <a:srgbClr val="003B66"/>
                </a:solidFill>
                <a:latin typeface="Aptos" panose="020B0004020202020204" pitchFamily="34" charset="0"/>
              </a:rPr>
              <a:t>This is dangerous. Adding new code makes existing code behave differently. Not good from an SE perspective.</a:t>
            </a:r>
          </a:p>
        </p:txBody>
      </p:sp>
    </p:spTree>
    <p:extLst>
      <p:ext uri="{BB962C8B-B14F-4D97-AF65-F5344CB8AC3E}">
        <p14:creationId xmlns:p14="http://schemas.microsoft.com/office/powerpoint/2010/main" val="22458393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0880E-A5CE-69DD-F417-3BECC5C92B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DD53A7-C687-2728-F626-3F35E3D9AE0D}"/>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NR vs SCR vs PCR</a:t>
            </a:r>
          </a:p>
        </p:txBody>
      </p:sp>
      <p:sp>
        <p:nvSpPr>
          <p:cNvPr id="4" name="Slide Number Placeholder 3">
            <a:extLst>
              <a:ext uri="{FF2B5EF4-FFF2-40B4-BE49-F238E27FC236}">
                <a16:creationId xmlns:a16="http://schemas.microsoft.com/office/drawing/2014/main" id="{DB479143-778B-AB56-1C2C-767D2BBB6608}"/>
              </a:ext>
            </a:extLst>
          </p:cNvPr>
          <p:cNvSpPr>
            <a:spLocks noGrp="1"/>
          </p:cNvSpPr>
          <p:nvPr>
            <p:ph type="sldNum" sz="quarter" idx="12"/>
          </p:nvPr>
        </p:nvSpPr>
        <p:spPr/>
        <p:txBody>
          <a:bodyPr/>
          <a:lstStyle/>
          <a:p>
            <a:fld id="{A5BC3523-C363-4BFA-8941-CE9ECEEECBA2}" type="slidenum">
              <a:rPr lang="en-GB" smtClean="0"/>
              <a:t>26</a:t>
            </a:fld>
            <a:endParaRPr lang="en-GB" dirty="0"/>
          </a:p>
        </p:txBody>
      </p:sp>
      <p:grpSp>
        <p:nvGrpSpPr>
          <p:cNvPr id="33" name="Group 32">
            <a:extLst>
              <a:ext uri="{FF2B5EF4-FFF2-40B4-BE49-F238E27FC236}">
                <a16:creationId xmlns:a16="http://schemas.microsoft.com/office/drawing/2014/main" id="{DE26AA7D-C942-9CDC-31EB-EE1893E40097}"/>
              </a:ext>
            </a:extLst>
          </p:cNvPr>
          <p:cNvGrpSpPr/>
          <p:nvPr/>
        </p:nvGrpSpPr>
        <p:grpSpPr>
          <a:xfrm>
            <a:off x="696000" y="1197864"/>
            <a:ext cx="11496000" cy="2886449"/>
            <a:chOff x="696000" y="2359152"/>
            <a:chExt cx="11496000" cy="2886449"/>
          </a:xfrm>
        </p:grpSpPr>
        <p:cxnSp>
          <p:nvCxnSpPr>
            <p:cNvPr id="8" name="Straight Arrow Connector 7">
              <a:extLst>
                <a:ext uri="{FF2B5EF4-FFF2-40B4-BE49-F238E27FC236}">
                  <a16:creationId xmlns:a16="http://schemas.microsoft.com/office/drawing/2014/main" id="{2CBB56D2-2BE0-FA22-ADBE-7089713D4B37}"/>
                </a:ext>
              </a:extLst>
            </p:cNvPr>
            <p:cNvCxnSpPr>
              <a:cxnSpLocks/>
            </p:cNvCxnSpPr>
            <p:nvPr/>
          </p:nvCxnSpPr>
          <p:spPr>
            <a:xfrm rot="16200000">
              <a:off x="6096000" y="-2611171"/>
              <a:ext cx="0" cy="1080000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34B41458-46F5-0EB0-15F9-64D93E559293}"/>
                </a:ext>
              </a:extLst>
            </p:cNvPr>
            <p:cNvSpPr txBox="1">
              <a:spLocks/>
            </p:cNvSpPr>
            <p:nvPr/>
          </p:nvSpPr>
          <p:spPr>
            <a:xfrm>
              <a:off x="9931536" y="2924113"/>
              <a:ext cx="2029968" cy="460755"/>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solidFill>
                    <a:srgbClr val="00B050"/>
                  </a:solidFill>
                  <a:latin typeface="Aptos" panose="020B0004020202020204" pitchFamily="34" charset="0"/>
                </a:rPr>
                <a:t>Performance</a:t>
              </a:r>
            </a:p>
          </p:txBody>
        </p:sp>
        <p:cxnSp>
          <p:nvCxnSpPr>
            <p:cNvPr id="15" name="Straight Arrow Connector 14">
              <a:extLst>
                <a:ext uri="{FF2B5EF4-FFF2-40B4-BE49-F238E27FC236}">
                  <a16:creationId xmlns:a16="http://schemas.microsoft.com/office/drawing/2014/main" id="{12DBA8BC-7E64-8094-09B3-8661F9305014}"/>
                </a:ext>
              </a:extLst>
            </p:cNvPr>
            <p:cNvCxnSpPr>
              <a:cxnSpLocks/>
            </p:cNvCxnSpPr>
            <p:nvPr/>
          </p:nvCxnSpPr>
          <p:spPr>
            <a:xfrm rot="16200000">
              <a:off x="6096000" y="-1699925"/>
              <a:ext cx="0" cy="10800000"/>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7" name="Title 1">
              <a:extLst>
                <a:ext uri="{FF2B5EF4-FFF2-40B4-BE49-F238E27FC236}">
                  <a16:creationId xmlns:a16="http://schemas.microsoft.com/office/drawing/2014/main" id="{97F297BB-33AB-A532-6355-0720180B6ED0}"/>
                </a:ext>
              </a:extLst>
            </p:cNvPr>
            <p:cNvSpPr txBox="1">
              <a:spLocks/>
            </p:cNvSpPr>
            <p:nvPr/>
          </p:nvSpPr>
          <p:spPr>
            <a:xfrm>
              <a:off x="9931536" y="3869733"/>
              <a:ext cx="2260464" cy="460755"/>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solidFill>
                    <a:srgbClr val="00B0F0"/>
                  </a:solidFill>
                  <a:latin typeface="Aptos" panose="020B0004020202020204" pitchFamily="34" charset="0"/>
                </a:rPr>
                <a:t>Memory usage</a:t>
              </a:r>
            </a:p>
          </p:txBody>
        </p:sp>
        <p:cxnSp>
          <p:nvCxnSpPr>
            <p:cNvPr id="22" name="Straight Arrow Connector 21">
              <a:extLst>
                <a:ext uri="{FF2B5EF4-FFF2-40B4-BE49-F238E27FC236}">
                  <a16:creationId xmlns:a16="http://schemas.microsoft.com/office/drawing/2014/main" id="{37D37001-5D72-B168-97F1-8C9D234B2FE4}"/>
                </a:ext>
              </a:extLst>
            </p:cNvPr>
            <p:cNvCxnSpPr>
              <a:cxnSpLocks/>
            </p:cNvCxnSpPr>
            <p:nvPr/>
          </p:nvCxnSpPr>
          <p:spPr>
            <a:xfrm>
              <a:off x="2260464" y="2359152"/>
              <a:ext cx="0" cy="1737360"/>
            </a:xfrm>
            <a:prstGeom prst="straightConnector1">
              <a:avLst/>
            </a:prstGeom>
            <a:ln w="76200">
              <a:solidFill>
                <a:srgbClr val="003B6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Title 1">
              <a:extLst>
                <a:ext uri="{FF2B5EF4-FFF2-40B4-BE49-F238E27FC236}">
                  <a16:creationId xmlns:a16="http://schemas.microsoft.com/office/drawing/2014/main" id="{22196410-8910-B09E-0949-9C2E7E5447CB}"/>
                </a:ext>
              </a:extLst>
            </p:cNvPr>
            <p:cNvSpPr txBox="1">
              <a:spLocks/>
            </p:cNvSpPr>
            <p:nvPr/>
          </p:nvSpPr>
          <p:spPr>
            <a:xfrm>
              <a:off x="1127304" y="4123132"/>
              <a:ext cx="2266320" cy="460755"/>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solidFill>
                    <a:srgbClr val="003B66"/>
                  </a:solidFill>
                  <a:latin typeface="Aptos" panose="020B0004020202020204" pitchFamily="34" charset="0"/>
                </a:rPr>
                <a:t>Non-Reentrant</a:t>
              </a:r>
            </a:p>
          </p:txBody>
        </p:sp>
        <p:cxnSp>
          <p:nvCxnSpPr>
            <p:cNvPr id="27" name="Straight Arrow Connector 26">
              <a:extLst>
                <a:ext uri="{FF2B5EF4-FFF2-40B4-BE49-F238E27FC236}">
                  <a16:creationId xmlns:a16="http://schemas.microsoft.com/office/drawing/2014/main" id="{BE78FADD-24D5-FA7A-166D-86D04A51F88E}"/>
                </a:ext>
              </a:extLst>
            </p:cNvPr>
            <p:cNvCxnSpPr>
              <a:cxnSpLocks/>
            </p:cNvCxnSpPr>
            <p:nvPr/>
          </p:nvCxnSpPr>
          <p:spPr>
            <a:xfrm>
              <a:off x="5477628" y="2359152"/>
              <a:ext cx="0" cy="1737360"/>
            </a:xfrm>
            <a:prstGeom prst="straightConnector1">
              <a:avLst/>
            </a:prstGeom>
            <a:ln w="76200">
              <a:solidFill>
                <a:srgbClr val="003B6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CB96A3A-3161-4E26-492F-9157296329BE}"/>
                </a:ext>
              </a:extLst>
            </p:cNvPr>
            <p:cNvCxnSpPr>
              <a:cxnSpLocks/>
            </p:cNvCxnSpPr>
            <p:nvPr/>
          </p:nvCxnSpPr>
          <p:spPr>
            <a:xfrm>
              <a:off x="8694792" y="2359152"/>
              <a:ext cx="0" cy="1737360"/>
            </a:xfrm>
            <a:prstGeom prst="straightConnector1">
              <a:avLst/>
            </a:prstGeom>
            <a:ln w="76200">
              <a:solidFill>
                <a:srgbClr val="003B6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C9E696CF-1702-B391-EFB4-89586324677F}"/>
                </a:ext>
              </a:extLst>
            </p:cNvPr>
            <p:cNvSpPr txBox="1">
              <a:spLocks/>
            </p:cNvSpPr>
            <p:nvPr/>
          </p:nvSpPr>
          <p:spPr>
            <a:xfrm>
              <a:off x="4252866" y="4123138"/>
              <a:ext cx="2449523" cy="1122461"/>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solidFill>
                    <a:srgbClr val="003B66"/>
                  </a:solidFill>
                  <a:latin typeface="Aptos" panose="020B0004020202020204" pitchFamily="34" charset="0"/>
                </a:rPr>
                <a:t>Shared</a:t>
              </a:r>
            </a:p>
            <a:p>
              <a:r>
                <a:rPr lang="en-US" sz="2400" dirty="0">
                  <a:solidFill>
                    <a:srgbClr val="003B66"/>
                  </a:solidFill>
                  <a:latin typeface="Aptos" panose="020B0004020202020204" pitchFamily="34" charset="0"/>
                </a:rPr>
                <a:t>Clone</a:t>
              </a:r>
            </a:p>
            <a:p>
              <a:r>
                <a:rPr lang="en-US" sz="2400" dirty="0">
                  <a:solidFill>
                    <a:srgbClr val="003B66"/>
                  </a:solidFill>
                  <a:latin typeface="Aptos" panose="020B0004020202020204" pitchFamily="34" charset="0"/>
                </a:rPr>
                <a:t>Reentrant</a:t>
              </a:r>
            </a:p>
          </p:txBody>
        </p:sp>
        <p:sp>
          <p:nvSpPr>
            <p:cNvPr id="32" name="Title 1">
              <a:extLst>
                <a:ext uri="{FF2B5EF4-FFF2-40B4-BE49-F238E27FC236}">
                  <a16:creationId xmlns:a16="http://schemas.microsoft.com/office/drawing/2014/main" id="{B7FBA1C7-9725-565F-5B57-43410D6B0272}"/>
                </a:ext>
              </a:extLst>
            </p:cNvPr>
            <p:cNvSpPr txBox="1">
              <a:spLocks/>
            </p:cNvSpPr>
            <p:nvPr/>
          </p:nvSpPr>
          <p:spPr>
            <a:xfrm>
              <a:off x="7701839" y="4123134"/>
              <a:ext cx="1985905" cy="1122467"/>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solidFill>
                    <a:srgbClr val="003B66"/>
                  </a:solidFill>
                  <a:latin typeface="Aptos" panose="020B0004020202020204" pitchFamily="34" charset="0"/>
                </a:rPr>
                <a:t>Preallocated Clone Reentrant</a:t>
              </a:r>
            </a:p>
          </p:txBody>
        </p:sp>
      </p:grpSp>
      <p:sp>
        <p:nvSpPr>
          <p:cNvPr id="34" name="Content Placeholder 2">
            <a:extLst>
              <a:ext uri="{FF2B5EF4-FFF2-40B4-BE49-F238E27FC236}">
                <a16:creationId xmlns:a16="http://schemas.microsoft.com/office/drawing/2014/main" id="{62B74924-4E4F-C2C2-D0AE-6D43FF2BED37}"/>
              </a:ext>
            </a:extLst>
          </p:cNvPr>
          <p:cNvSpPr>
            <a:spLocks noGrp="1"/>
          </p:cNvSpPr>
          <p:nvPr>
            <p:ph idx="1"/>
          </p:nvPr>
        </p:nvSpPr>
        <p:spPr>
          <a:xfrm>
            <a:off x="838200" y="4266385"/>
            <a:ext cx="10839600" cy="1855985"/>
          </a:xfrm>
        </p:spPr>
        <p:txBody>
          <a:bodyPr>
            <a:normAutofit lnSpcReduction="10000"/>
          </a:bodyPr>
          <a:lstStyle/>
          <a:p>
            <a:r>
              <a:rPr lang="en-GB" sz="2000" dirty="0">
                <a:solidFill>
                  <a:srgbClr val="003B66"/>
                </a:solidFill>
                <a:latin typeface="Aptos" panose="020B0004020202020204" pitchFamily="34" charset="0"/>
              </a:rPr>
              <a:t>We get better and better performance by moving from NR to SCR to PCR. We also use more and more memory. This is ok. This simply means that we are </a:t>
            </a:r>
            <a:r>
              <a:rPr lang="en-GB" sz="2000" b="1" dirty="0">
                <a:solidFill>
                  <a:srgbClr val="003B66"/>
                </a:solidFill>
                <a:latin typeface="Aptos" panose="020B0004020202020204" pitchFamily="34" charset="0"/>
              </a:rPr>
              <a:t>making use</a:t>
            </a:r>
            <a:r>
              <a:rPr lang="en-GB" sz="2000" dirty="0">
                <a:solidFill>
                  <a:srgbClr val="003B66"/>
                </a:solidFill>
                <a:latin typeface="Aptos" panose="020B0004020202020204" pitchFamily="34" charset="0"/>
              </a:rPr>
              <a:t> of the machine’s memory towards achieving parallel execution. We are </a:t>
            </a:r>
            <a:r>
              <a:rPr lang="en-GB" sz="2000" b="1" dirty="0">
                <a:solidFill>
                  <a:srgbClr val="003B66"/>
                </a:solidFill>
                <a:latin typeface="Aptos" panose="020B0004020202020204" pitchFamily="34" charset="0"/>
              </a:rPr>
              <a:t>putting memory to work</a:t>
            </a:r>
            <a:r>
              <a:rPr lang="en-GB" sz="2000" dirty="0">
                <a:solidFill>
                  <a:srgbClr val="003B66"/>
                </a:solidFill>
                <a:latin typeface="Aptos" panose="020B0004020202020204" pitchFamily="34" charset="0"/>
              </a:rPr>
              <a:t> to achieve best performance. Nowadays PCs and even embedded devices have lots of memory.</a:t>
            </a:r>
          </a:p>
          <a:p>
            <a:r>
              <a:rPr lang="en-GB" sz="2000" dirty="0">
                <a:solidFill>
                  <a:srgbClr val="003B66"/>
                </a:solidFill>
                <a:latin typeface="Aptos" panose="020B0004020202020204" pitchFamily="34" charset="0"/>
              </a:rPr>
              <a:t>Anecdotally, memory usage is relatively low even when a codebase uses lots of PCR VIs. I will provide two data points shortly.</a:t>
            </a:r>
          </a:p>
        </p:txBody>
      </p:sp>
    </p:spTree>
    <p:extLst>
      <p:ext uri="{BB962C8B-B14F-4D97-AF65-F5344CB8AC3E}">
        <p14:creationId xmlns:p14="http://schemas.microsoft.com/office/powerpoint/2010/main" val="911135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CFFCB-62E9-1BF0-90D3-6A72DD1CB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D0B0CD-FA68-454D-11A7-CFA02B77D086}"/>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Experiments</a:t>
            </a:r>
          </a:p>
        </p:txBody>
      </p:sp>
      <p:sp>
        <p:nvSpPr>
          <p:cNvPr id="4" name="Slide Number Placeholder 3">
            <a:extLst>
              <a:ext uri="{FF2B5EF4-FFF2-40B4-BE49-F238E27FC236}">
                <a16:creationId xmlns:a16="http://schemas.microsoft.com/office/drawing/2014/main" id="{C62A957E-1360-1D1C-ABF6-4E37093B09A1}"/>
              </a:ext>
            </a:extLst>
          </p:cNvPr>
          <p:cNvSpPr>
            <a:spLocks noGrp="1"/>
          </p:cNvSpPr>
          <p:nvPr>
            <p:ph type="sldNum" sz="quarter" idx="12"/>
          </p:nvPr>
        </p:nvSpPr>
        <p:spPr/>
        <p:txBody>
          <a:bodyPr/>
          <a:lstStyle/>
          <a:p>
            <a:fld id="{A5BC3523-C363-4BFA-8941-CE9ECEEECBA2}" type="slidenum">
              <a:rPr lang="en-GB" smtClean="0"/>
              <a:t>27</a:t>
            </a:fld>
            <a:endParaRPr lang="en-GB" dirty="0"/>
          </a:p>
        </p:txBody>
      </p:sp>
      <p:sp>
        <p:nvSpPr>
          <p:cNvPr id="6" name="Content Placeholder 2">
            <a:extLst>
              <a:ext uri="{FF2B5EF4-FFF2-40B4-BE49-F238E27FC236}">
                <a16:creationId xmlns:a16="http://schemas.microsoft.com/office/drawing/2014/main" id="{AA3B3345-69B4-D1C3-B1D6-F729FDC0D4D1}"/>
              </a:ext>
            </a:extLst>
          </p:cNvPr>
          <p:cNvSpPr>
            <a:spLocks noGrp="1"/>
          </p:cNvSpPr>
          <p:nvPr>
            <p:ph idx="1"/>
          </p:nvPr>
        </p:nvSpPr>
        <p:spPr>
          <a:xfrm>
            <a:off x="838200" y="1027291"/>
            <a:ext cx="10838512" cy="4228104"/>
          </a:xfrm>
        </p:spPr>
        <p:txBody>
          <a:bodyPr>
            <a:normAutofit/>
          </a:bodyPr>
          <a:lstStyle/>
          <a:p>
            <a:r>
              <a:rPr lang="en-GB" sz="2000" dirty="0">
                <a:solidFill>
                  <a:srgbClr val="003B66"/>
                </a:solidFill>
                <a:latin typeface="Aptos" panose="020B0004020202020204" pitchFamily="34" charset="0"/>
              </a:rPr>
              <a:t>Let’s see some experiments that shed light on the performance difference.</a:t>
            </a:r>
          </a:p>
          <a:p>
            <a:r>
              <a:rPr lang="en-GB" sz="2000" dirty="0">
                <a:solidFill>
                  <a:srgbClr val="003B66"/>
                </a:solidFill>
                <a:latin typeface="Aptos" panose="020B0004020202020204" pitchFamily="34" charset="0"/>
              </a:rPr>
              <a:t>All experiments were run in the latest LabVIEW version – LabVIEW 2026 Q3 Patch 1 (26.3.1f1) (64-bit) – on Windows 11.</a:t>
            </a:r>
          </a:p>
          <a:p>
            <a:r>
              <a:rPr lang="en-GB" sz="2000" dirty="0">
                <a:solidFill>
                  <a:srgbClr val="003B66"/>
                </a:solidFill>
                <a:latin typeface="Aptos" panose="020B0004020202020204" pitchFamily="34" charset="0"/>
              </a:rPr>
              <a:t>All experiments were run on the laptop I’m presenting from (model name: Surface Laptop 4).</a:t>
            </a:r>
            <a:endParaRPr lang="en-GB" sz="1600" dirty="0">
              <a:solidFill>
                <a:srgbClr val="003B66"/>
              </a:solidFill>
              <a:latin typeface="Aptos" panose="020B0004020202020204" pitchFamily="34" charset="0"/>
            </a:endParaRPr>
          </a:p>
        </p:txBody>
      </p:sp>
      <p:grpSp>
        <p:nvGrpSpPr>
          <p:cNvPr id="12" name="Group 11">
            <a:extLst>
              <a:ext uri="{FF2B5EF4-FFF2-40B4-BE49-F238E27FC236}">
                <a16:creationId xmlns:a16="http://schemas.microsoft.com/office/drawing/2014/main" id="{0A9C89CB-80E8-6E71-0FEF-1444CB13B5E6}"/>
              </a:ext>
            </a:extLst>
          </p:cNvPr>
          <p:cNvGrpSpPr/>
          <p:nvPr/>
        </p:nvGrpSpPr>
        <p:grpSpPr>
          <a:xfrm>
            <a:off x="133935" y="2606516"/>
            <a:ext cx="11680114" cy="3300498"/>
            <a:chOff x="133935" y="2606516"/>
            <a:chExt cx="11680114" cy="3300498"/>
          </a:xfrm>
        </p:grpSpPr>
        <p:pic>
          <p:nvPicPr>
            <p:cNvPr id="10" name="Picture 9">
              <a:extLst>
                <a:ext uri="{FF2B5EF4-FFF2-40B4-BE49-F238E27FC236}">
                  <a16:creationId xmlns:a16="http://schemas.microsoft.com/office/drawing/2014/main" id="{FB371432-A09A-6503-FAAD-FEF711A308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935" y="2606516"/>
              <a:ext cx="3240000" cy="3300498"/>
            </a:xfrm>
            <a:prstGeom prst="rect">
              <a:avLst/>
            </a:prstGeom>
            <a:ln>
              <a:solidFill>
                <a:schemeClr val="bg1">
                  <a:lumMod val="50000"/>
                </a:schemeClr>
              </a:solidFill>
            </a:ln>
          </p:spPr>
        </p:pic>
        <p:pic>
          <p:nvPicPr>
            <p:cNvPr id="11" name="Picture 10">
              <a:extLst>
                <a:ext uri="{FF2B5EF4-FFF2-40B4-BE49-F238E27FC236}">
                  <a16:creationId xmlns:a16="http://schemas.microsoft.com/office/drawing/2014/main" id="{81CF632A-7DDB-9444-FA42-7BAF49DF91E4}"/>
                </a:ext>
              </a:extLst>
            </p:cNvPr>
            <p:cNvPicPr>
              <a:picLocks noChangeAspect="1"/>
            </p:cNvPicPr>
            <p:nvPr/>
          </p:nvPicPr>
          <p:blipFill>
            <a:blip r:embed="rId4">
              <a:extLst>
                <a:ext uri="{28A0092B-C50C-407E-A947-70E740481C1C}">
                  <a14:useLocalDpi xmlns:a14="http://schemas.microsoft.com/office/drawing/2010/main" val="0"/>
                </a:ext>
              </a:extLst>
            </a:blip>
            <a:srcRect r="9071" b="66042"/>
            <a:stretch>
              <a:fillRect/>
            </a:stretch>
          </p:blipFill>
          <p:spPr>
            <a:xfrm>
              <a:off x="3600149" y="2606516"/>
              <a:ext cx="8213900" cy="2129152"/>
            </a:xfrm>
            <a:prstGeom prst="rect">
              <a:avLst/>
            </a:prstGeom>
          </p:spPr>
        </p:pic>
      </p:grpSp>
    </p:spTree>
    <p:extLst>
      <p:ext uri="{BB962C8B-B14F-4D97-AF65-F5344CB8AC3E}">
        <p14:creationId xmlns:p14="http://schemas.microsoft.com/office/powerpoint/2010/main" val="26334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F22FB-F57F-AC03-0220-750D8B6610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7C3862-6382-11CC-A895-F3F6272583F8}"/>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Experiments</a:t>
            </a:r>
          </a:p>
        </p:txBody>
      </p:sp>
      <p:sp>
        <p:nvSpPr>
          <p:cNvPr id="4" name="Slide Number Placeholder 3">
            <a:extLst>
              <a:ext uri="{FF2B5EF4-FFF2-40B4-BE49-F238E27FC236}">
                <a16:creationId xmlns:a16="http://schemas.microsoft.com/office/drawing/2014/main" id="{0693A01F-14D0-1086-A865-E6B050F4E7C8}"/>
              </a:ext>
            </a:extLst>
          </p:cNvPr>
          <p:cNvSpPr>
            <a:spLocks noGrp="1"/>
          </p:cNvSpPr>
          <p:nvPr>
            <p:ph type="sldNum" sz="quarter" idx="12"/>
          </p:nvPr>
        </p:nvSpPr>
        <p:spPr/>
        <p:txBody>
          <a:bodyPr/>
          <a:lstStyle/>
          <a:p>
            <a:fld id="{A5BC3523-C363-4BFA-8941-CE9ECEEECBA2}" type="slidenum">
              <a:rPr lang="en-GB" smtClean="0"/>
              <a:t>28</a:t>
            </a:fld>
            <a:endParaRPr lang="en-GB" dirty="0"/>
          </a:p>
        </p:txBody>
      </p:sp>
      <p:pic>
        <p:nvPicPr>
          <p:cNvPr id="5" name="Picture 4">
            <a:extLst>
              <a:ext uri="{FF2B5EF4-FFF2-40B4-BE49-F238E27FC236}">
                <a16:creationId xmlns:a16="http://schemas.microsoft.com/office/drawing/2014/main" id="{C728172A-8981-8192-A410-A3B8554BF3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3208" y="2476367"/>
            <a:ext cx="3105583" cy="1905266"/>
          </a:xfrm>
          <a:prstGeom prst="rect">
            <a:avLst/>
          </a:prstGeom>
        </p:spPr>
      </p:pic>
      <p:pic>
        <p:nvPicPr>
          <p:cNvPr id="8" name="Picture 7">
            <a:extLst>
              <a:ext uri="{FF2B5EF4-FFF2-40B4-BE49-F238E27FC236}">
                <a16:creationId xmlns:a16="http://schemas.microsoft.com/office/drawing/2014/main" id="{9565E061-124A-3966-C548-0B578A5300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8096" y="3518782"/>
            <a:ext cx="11520000" cy="2669487"/>
          </a:xfrm>
          <a:prstGeom prst="rect">
            <a:avLst/>
          </a:prstGeom>
        </p:spPr>
      </p:pic>
      <p:pic>
        <p:nvPicPr>
          <p:cNvPr id="13" name="Picture 12">
            <a:extLst>
              <a:ext uri="{FF2B5EF4-FFF2-40B4-BE49-F238E27FC236}">
                <a16:creationId xmlns:a16="http://schemas.microsoft.com/office/drawing/2014/main" id="{B6A8A6A0-E984-B679-FCB2-0CFEB73C18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8096" y="3390765"/>
            <a:ext cx="11520000" cy="2812018"/>
          </a:xfrm>
          <a:prstGeom prst="rect">
            <a:avLst/>
          </a:prstGeom>
        </p:spPr>
      </p:pic>
      <p:pic>
        <p:nvPicPr>
          <p:cNvPr id="15" name="Picture 14">
            <a:extLst>
              <a:ext uri="{FF2B5EF4-FFF2-40B4-BE49-F238E27FC236}">
                <a16:creationId xmlns:a16="http://schemas.microsoft.com/office/drawing/2014/main" id="{24517EBB-AABA-2076-9A83-0D87E71CD32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35256" y="89958"/>
            <a:ext cx="4680000" cy="3105622"/>
          </a:xfrm>
          <a:prstGeom prst="rect">
            <a:avLst/>
          </a:prstGeom>
        </p:spPr>
      </p:pic>
      <p:sp>
        <p:nvSpPr>
          <p:cNvPr id="6" name="Content Placeholder 2">
            <a:extLst>
              <a:ext uri="{FF2B5EF4-FFF2-40B4-BE49-F238E27FC236}">
                <a16:creationId xmlns:a16="http://schemas.microsoft.com/office/drawing/2014/main" id="{94E169CF-F113-7261-AF20-B67A1A725924}"/>
              </a:ext>
            </a:extLst>
          </p:cNvPr>
          <p:cNvSpPr>
            <a:spLocks noGrp="1"/>
          </p:cNvSpPr>
          <p:nvPr>
            <p:ph idx="1"/>
          </p:nvPr>
        </p:nvSpPr>
        <p:spPr>
          <a:xfrm>
            <a:off x="838200" y="1027291"/>
            <a:ext cx="10838512" cy="4228104"/>
          </a:xfrm>
        </p:spPr>
        <p:txBody>
          <a:bodyPr>
            <a:normAutofit/>
          </a:bodyPr>
          <a:lstStyle/>
          <a:p>
            <a:r>
              <a:rPr lang="en-GB" sz="2000" dirty="0">
                <a:solidFill>
                  <a:srgbClr val="003B66"/>
                </a:solidFill>
                <a:latin typeface="Aptos" panose="020B0004020202020204" pitchFamily="34" charset="0"/>
              </a:rPr>
              <a:t>Three mathematical subVIs were created</a:t>
            </a:r>
          </a:p>
          <a:p>
            <a:pPr marL="800100" lvl="1" indent="-342900">
              <a:buFont typeface="+mj-lt"/>
              <a:buAutoNum type="arabicPeriod"/>
            </a:pPr>
            <a:r>
              <a:rPr lang="en-GB" sz="1600" dirty="0">
                <a:solidFill>
                  <a:srgbClr val="003B66"/>
                </a:solidFill>
                <a:latin typeface="Aptos" panose="020B0004020202020204" pitchFamily="34" charset="0"/>
              </a:rPr>
              <a:t>Low Complexity VI (a.k.a. Simple VI)</a:t>
            </a:r>
          </a:p>
          <a:p>
            <a:pPr marL="800100" lvl="1" indent="-342900">
              <a:buFont typeface="+mj-lt"/>
              <a:buAutoNum type="arabicPeriod"/>
            </a:pPr>
            <a:r>
              <a:rPr lang="en-GB" sz="1600" dirty="0">
                <a:solidFill>
                  <a:srgbClr val="003B66"/>
                </a:solidFill>
                <a:latin typeface="Aptos" panose="020B0004020202020204" pitchFamily="34" charset="0"/>
              </a:rPr>
              <a:t>Moderate Complexity VI (a.k.a. Medium VI)</a:t>
            </a:r>
          </a:p>
          <a:p>
            <a:pPr marL="800100" lvl="1" indent="-342900">
              <a:buFont typeface="+mj-lt"/>
              <a:buAutoNum type="arabicPeriod"/>
            </a:pPr>
            <a:r>
              <a:rPr lang="en-GB" sz="1600" dirty="0">
                <a:solidFill>
                  <a:srgbClr val="003B66"/>
                </a:solidFill>
                <a:latin typeface="Aptos" panose="020B0004020202020204" pitchFamily="34" charset="0"/>
              </a:rPr>
              <a:t>High Complexity VI (a.k.a. Complex) = 10 repetitions of the code of the Medium VI</a:t>
            </a:r>
          </a:p>
          <a:p>
            <a:r>
              <a:rPr lang="en-GB" sz="2000" dirty="0">
                <a:solidFill>
                  <a:srgbClr val="003B66"/>
                </a:solidFill>
                <a:latin typeface="Aptos" panose="020B0004020202020204" pitchFamily="34" charset="0"/>
              </a:rPr>
              <a:t>Each subVI has one DBL input and one DBL output</a:t>
            </a:r>
          </a:p>
          <a:p>
            <a:r>
              <a:rPr lang="en-GB" sz="2000" dirty="0">
                <a:solidFill>
                  <a:srgbClr val="003B66"/>
                </a:solidFill>
                <a:latin typeface="Aptos" panose="020B0004020202020204" pitchFamily="34" charset="0"/>
              </a:rPr>
              <a:t>The subVIs can be chained together</a:t>
            </a:r>
          </a:p>
          <a:p>
            <a:r>
              <a:rPr lang="en-GB" sz="2000" dirty="0">
                <a:solidFill>
                  <a:srgbClr val="003B66"/>
                </a:solidFill>
                <a:latin typeface="Aptos" panose="020B0004020202020204" pitchFamily="34" charset="0"/>
              </a:rPr>
              <a:t>Multiple versions of each subVI were created: NR, SCR, PCR. Execution settings were the only difference (no block diagram changes).</a:t>
            </a:r>
          </a:p>
        </p:txBody>
      </p:sp>
    </p:spTree>
    <p:extLst>
      <p:ext uri="{BB962C8B-B14F-4D97-AF65-F5344CB8AC3E}">
        <p14:creationId xmlns:p14="http://schemas.microsoft.com/office/powerpoint/2010/main" val="1073971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8"/>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5"/>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4" end="4"/>
                                            </p:txEl>
                                          </p:spTgt>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13"/>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3DB5A-0E5D-BB73-C5E4-A783B18572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0398A0-6DC0-7953-8496-D8437DBCBD90}"/>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Experiments</a:t>
            </a:r>
          </a:p>
        </p:txBody>
      </p:sp>
      <p:sp>
        <p:nvSpPr>
          <p:cNvPr id="4" name="Slide Number Placeholder 3">
            <a:extLst>
              <a:ext uri="{FF2B5EF4-FFF2-40B4-BE49-F238E27FC236}">
                <a16:creationId xmlns:a16="http://schemas.microsoft.com/office/drawing/2014/main" id="{17A9EDFE-9F6E-909B-98DA-4A02CAB81872}"/>
              </a:ext>
            </a:extLst>
          </p:cNvPr>
          <p:cNvSpPr>
            <a:spLocks noGrp="1"/>
          </p:cNvSpPr>
          <p:nvPr>
            <p:ph type="sldNum" sz="quarter" idx="12"/>
          </p:nvPr>
        </p:nvSpPr>
        <p:spPr/>
        <p:txBody>
          <a:bodyPr/>
          <a:lstStyle/>
          <a:p>
            <a:fld id="{A5BC3523-C363-4BFA-8941-CE9ECEEECBA2}" type="slidenum">
              <a:rPr lang="en-GB" smtClean="0"/>
              <a:t>29</a:t>
            </a:fld>
            <a:endParaRPr lang="en-GB" dirty="0"/>
          </a:p>
        </p:txBody>
      </p:sp>
      <p:pic>
        <p:nvPicPr>
          <p:cNvPr id="7" name="Picture 6">
            <a:extLst>
              <a:ext uri="{FF2B5EF4-FFF2-40B4-BE49-F238E27FC236}">
                <a16:creationId xmlns:a16="http://schemas.microsoft.com/office/drawing/2014/main" id="{C49C6CB9-1B8B-C6C5-5003-5E36E0FAD3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3291" y="1673363"/>
            <a:ext cx="9888330" cy="4391638"/>
          </a:xfrm>
          <a:prstGeom prst="rect">
            <a:avLst/>
          </a:prstGeom>
        </p:spPr>
      </p:pic>
      <p:sp>
        <p:nvSpPr>
          <p:cNvPr id="6" name="Content Placeholder 2">
            <a:extLst>
              <a:ext uri="{FF2B5EF4-FFF2-40B4-BE49-F238E27FC236}">
                <a16:creationId xmlns:a16="http://schemas.microsoft.com/office/drawing/2014/main" id="{FDF049A5-A00F-DB53-06D5-EAFC4D4FA458}"/>
              </a:ext>
            </a:extLst>
          </p:cNvPr>
          <p:cNvSpPr>
            <a:spLocks noGrp="1"/>
          </p:cNvSpPr>
          <p:nvPr>
            <p:ph idx="1"/>
          </p:nvPr>
        </p:nvSpPr>
        <p:spPr>
          <a:xfrm>
            <a:off x="838200" y="1027291"/>
            <a:ext cx="10838512" cy="4228104"/>
          </a:xfrm>
        </p:spPr>
        <p:txBody>
          <a:bodyPr>
            <a:normAutofit/>
          </a:bodyPr>
          <a:lstStyle/>
          <a:p>
            <a:r>
              <a:rPr lang="en-GB" sz="2000" dirty="0">
                <a:solidFill>
                  <a:srgbClr val="003B66"/>
                </a:solidFill>
                <a:latin typeface="Aptos" panose="020B0004020202020204" pitchFamily="34" charset="0"/>
              </a:rPr>
              <a:t>Caller VIs named </a:t>
            </a:r>
            <a:r>
              <a:rPr lang="en-GB" sz="2000" b="1" dirty="0">
                <a:solidFill>
                  <a:srgbClr val="003B66"/>
                </a:solidFill>
                <a:latin typeface="Aptos" panose="020B0004020202020204" pitchFamily="34" charset="0"/>
              </a:rPr>
              <a:t>Experiment 1.vi</a:t>
            </a:r>
            <a:r>
              <a:rPr lang="en-GB" sz="2000" dirty="0">
                <a:solidFill>
                  <a:srgbClr val="003B66"/>
                </a:solidFill>
                <a:latin typeface="Aptos" panose="020B0004020202020204" pitchFamily="34" charset="0"/>
              </a:rPr>
              <a:t>, </a:t>
            </a:r>
            <a:r>
              <a:rPr lang="en-GB" sz="2000" b="1" dirty="0">
                <a:solidFill>
                  <a:srgbClr val="003B66"/>
                </a:solidFill>
                <a:latin typeface="Aptos" panose="020B0004020202020204" pitchFamily="34" charset="0"/>
              </a:rPr>
              <a:t>Experiment 2.vi</a:t>
            </a:r>
            <a:r>
              <a:rPr lang="en-GB" sz="2000" dirty="0">
                <a:solidFill>
                  <a:srgbClr val="003B66"/>
                </a:solidFill>
                <a:latin typeface="Aptos" panose="020B0004020202020204" pitchFamily="34" charset="0"/>
              </a:rPr>
              <a:t>, </a:t>
            </a:r>
            <a:r>
              <a:rPr lang="en-GB" sz="2000" b="1" dirty="0">
                <a:solidFill>
                  <a:srgbClr val="003B66"/>
                </a:solidFill>
                <a:latin typeface="Aptos" panose="020B0004020202020204" pitchFamily="34" charset="0"/>
              </a:rPr>
              <a:t>Experiment 3.vi</a:t>
            </a:r>
            <a:r>
              <a:rPr lang="en-GB" sz="2000" dirty="0">
                <a:solidFill>
                  <a:srgbClr val="003B66"/>
                </a:solidFill>
                <a:latin typeface="Aptos" panose="020B0004020202020204" pitchFamily="34" charset="0"/>
              </a:rPr>
              <a:t>, etc., were created</a:t>
            </a:r>
          </a:p>
          <a:p>
            <a:pPr lvl="1"/>
            <a:r>
              <a:rPr lang="en-GB" sz="2000" dirty="0">
                <a:solidFill>
                  <a:srgbClr val="003B66"/>
                </a:solidFill>
                <a:latin typeface="Aptos" panose="020B0004020202020204" pitchFamily="34" charset="0"/>
              </a:rPr>
              <a:t>Each Experiment VI is a simple caller of one or more of the subVIs.</a:t>
            </a:r>
          </a:p>
          <a:p>
            <a:pPr lvl="1"/>
            <a:r>
              <a:rPr lang="en-GB" sz="2000" dirty="0">
                <a:solidFill>
                  <a:srgbClr val="003B66"/>
                </a:solidFill>
                <a:latin typeface="Aptos" panose="020B0004020202020204" pitchFamily="34" charset="0"/>
              </a:rPr>
              <a:t>Each Experiment VI benchmarks the execution time using </a:t>
            </a:r>
            <a:r>
              <a:rPr lang="en-GB" sz="2000" b="1" dirty="0">
                <a:solidFill>
                  <a:srgbClr val="003B66"/>
                </a:solidFill>
                <a:latin typeface="Aptos" panose="020B0004020202020204" pitchFamily="34" charset="0"/>
              </a:rPr>
              <a:t>High Resolution Relative Seconds.vi</a:t>
            </a:r>
          </a:p>
          <a:p>
            <a:pPr lvl="1"/>
            <a:r>
              <a:rPr lang="en-GB" sz="2000" dirty="0">
                <a:solidFill>
                  <a:srgbClr val="003B66"/>
                </a:solidFill>
                <a:latin typeface="Aptos" panose="020B0004020202020204" pitchFamily="34" charset="0"/>
              </a:rPr>
              <a:t>Experiment VIs contain Diagram Disable Structures (DDS). Each case contains a different version of a subVI.</a:t>
            </a:r>
          </a:p>
          <a:p>
            <a:pPr lvl="1"/>
            <a:r>
              <a:rPr lang="en-GB" sz="2000" dirty="0">
                <a:solidFill>
                  <a:srgbClr val="003B66"/>
                </a:solidFill>
                <a:latin typeface="Aptos" panose="020B0004020202020204" pitchFamily="34" charset="0"/>
              </a:rPr>
              <a:t>Experiments were run as follows:</a:t>
            </a:r>
          </a:p>
          <a:p>
            <a:pPr lvl="2"/>
            <a:r>
              <a:rPr lang="en-GB" sz="1600" dirty="0">
                <a:solidFill>
                  <a:srgbClr val="003B66"/>
                </a:solidFill>
                <a:latin typeface="Aptos" panose="020B0004020202020204" pitchFamily="34" charset="0"/>
              </a:rPr>
              <a:t>A DDS case would be enabled</a:t>
            </a:r>
          </a:p>
          <a:p>
            <a:pPr lvl="2"/>
            <a:r>
              <a:rPr lang="en-GB" sz="1600" dirty="0">
                <a:solidFill>
                  <a:srgbClr val="003B66"/>
                </a:solidFill>
                <a:latin typeface="Aptos" panose="020B0004020202020204" pitchFamily="34" charset="0"/>
              </a:rPr>
              <a:t>The Experiment VI would be run a set of 5 times, 10 times, or 15 times</a:t>
            </a:r>
          </a:p>
          <a:p>
            <a:pPr lvl="2"/>
            <a:r>
              <a:rPr lang="en-GB" sz="1600" dirty="0">
                <a:solidFill>
                  <a:srgbClr val="003B66"/>
                </a:solidFill>
                <a:latin typeface="Aptos" panose="020B0004020202020204" pitchFamily="34" charset="0"/>
              </a:rPr>
              <a:t>The results of each run were recorded in an Excel spreadsheet</a:t>
            </a:r>
          </a:p>
          <a:p>
            <a:pPr lvl="2"/>
            <a:r>
              <a:rPr lang="en-GB" sz="1600" dirty="0">
                <a:solidFill>
                  <a:srgbClr val="003B66"/>
                </a:solidFill>
                <a:latin typeface="Aptos" panose="020B0004020202020204" pitchFamily="34" charset="0"/>
              </a:rPr>
              <a:t>Another DDS case would be enabled, and the process repeated</a:t>
            </a:r>
          </a:p>
        </p:txBody>
      </p:sp>
    </p:spTree>
    <p:extLst>
      <p:ext uri="{BB962C8B-B14F-4D97-AF65-F5344CB8AC3E}">
        <p14:creationId xmlns:p14="http://schemas.microsoft.com/office/powerpoint/2010/main" val="1628611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6" presetClass="emph" presetSubtype="0" fill="hold" nodeType="withEffect">
                                  <p:stCondLst>
                                    <p:cond delay="0"/>
                                  </p:stCondLst>
                                  <p:childTnLst>
                                    <p:animScale>
                                      <p:cBhvr>
                                        <p:cTn id="14" dur="500" fill="hold"/>
                                        <p:tgtEl>
                                          <p:spTgt spid="7"/>
                                        </p:tgtEl>
                                      </p:cBhvr>
                                      <p:by x="50000" y="50000"/>
                                    </p:animScale>
                                  </p:childTnLst>
                                </p:cTn>
                              </p:par>
                            </p:childTnLst>
                          </p:cTn>
                        </p:par>
                        <p:par>
                          <p:cTn id="15" fill="hold">
                            <p:stCondLst>
                              <p:cond delay="500"/>
                            </p:stCondLst>
                            <p:childTnLst>
                              <p:par>
                                <p:cTn id="16" presetID="42" presetClass="path" presetSubtype="0" accel="50000" decel="50000" fill="hold" nodeType="afterEffect">
                                  <p:stCondLst>
                                    <p:cond delay="0"/>
                                  </p:stCondLst>
                                  <p:childTnLst>
                                    <p:animMotion origin="layout" path="M -1.04167E-6 -3.7037E-7 L -0.16211 0.24792 " pathEditMode="relative" rAng="0" ptsTypes="AA">
                                      <p:cBhvr>
                                        <p:cTn id="17" dur="500" fill="hold"/>
                                        <p:tgtEl>
                                          <p:spTgt spid="7"/>
                                        </p:tgtEl>
                                        <p:attrNameLst>
                                          <p:attrName>ppt_x</p:attrName>
                                          <p:attrName>ppt_y</p:attrName>
                                        </p:attrNameLst>
                                      </p:cBhvr>
                                      <p:rCtr x="-8112" y="12384"/>
                                    </p:animMotion>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6">
                                            <p:txEl>
                                              <p:pRg st="4" end="4"/>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6">
                                            <p:txEl>
                                              <p:pRg st="5" end="5"/>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6">
                                            <p:txEl>
                                              <p:pRg st="6" end="6"/>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6">
                                            <p:txEl>
                                              <p:pRg st="7" end="7"/>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B9C4C-3708-97A7-BBF4-39C041D4BB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A05719-D103-C070-90B6-5CAB39E56F3F}"/>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Experiments</a:t>
            </a:r>
          </a:p>
        </p:txBody>
      </p:sp>
      <p:sp>
        <p:nvSpPr>
          <p:cNvPr id="4" name="Slide Number Placeholder 3">
            <a:extLst>
              <a:ext uri="{FF2B5EF4-FFF2-40B4-BE49-F238E27FC236}">
                <a16:creationId xmlns:a16="http://schemas.microsoft.com/office/drawing/2014/main" id="{F090F38B-CC41-1036-DBCB-3EF232C81107}"/>
              </a:ext>
            </a:extLst>
          </p:cNvPr>
          <p:cNvSpPr>
            <a:spLocks noGrp="1"/>
          </p:cNvSpPr>
          <p:nvPr>
            <p:ph type="sldNum" sz="quarter" idx="12"/>
          </p:nvPr>
        </p:nvSpPr>
        <p:spPr/>
        <p:txBody>
          <a:bodyPr/>
          <a:lstStyle/>
          <a:p>
            <a:fld id="{A5BC3523-C363-4BFA-8941-CE9ECEEECBA2}" type="slidenum">
              <a:rPr lang="en-GB" smtClean="0"/>
              <a:t>30</a:t>
            </a:fld>
            <a:endParaRPr lang="en-GB" dirty="0"/>
          </a:p>
        </p:txBody>
      </p:sp>
      <p:sp>
        <p:nvSpPr>
          <p:cNvPr id="6" name="Content Placeholder 2">
            <a:extLst>
              <a:ext uri="{FF2B5EF4-FFF2-40B4-BE49-F238E27FC236}">
                <a16:creationId xmlns:a16="http://schemas.microsoft.com/office/drawing/2014/main" id="{7E39FE6C-F423-1FD8-2443-1D6D7D3B2847}"/>
              </a:ext>
            </a:extLst>
          </p:cNvPr>
          <p:cNvSpPr>
            <a:spLocks noGrp="1"/>
          </p:cNvSpPr>
          <p:nvPr>
            <p:ph idx="1"/>
          </p:nvPr>
        </p:nvSpPr>
        <p:spPr>
          <a:xfrm>
            <a:off x="838200" y="1027291"/>
            <a:ext cx="10838512" cy="4228104"/>
          </a:xfrm>
        </p:spPr>
        <p:txBody>
          <a:bodyPr>
            <a:normAutofit/>
          </a:bodyPr>
          <a:lstStyle/>
          <a:p>
            <a:r>
              <a:rPr lang="en-GB" sz="2000" dirty="0">
                <a:solidFill>
                  <a:srgbClr val="003B66"/>
                </a:solidFill>
                <a:latin typeface="Aptos" panose="020B0004020202020204" pitchFamily="34" charset="0"/>
              </a:rPr>
              <a:t>Results were collected and analysed in </a:t>
            </a:r>
            <a:r>
              <a:rPr lang="en-GB" sz="2000" b="1" dirty="0">
                <a:solidFill>
                  <a:srgbClr val="003B66"/>
                </a:solidFill>
                <a:latin typeface="Aptos" panose="020B0004020202020204" pitchFamily="34" charset="0"/>
              </a:rPr>
              <a:t>Experiment Records.xlsx</a:t>
            </a:r>
          </a:p>
        </p:txBody>
      </p:sp>
      <p:pic>
        <p:nvPicPr>
          <p:cNvPr id="9" name="Picture 8">
            <a:extLst>
              <a:ext uri="{FF2B5EF4-FFF2-40B4-BE49-F238E27FC236}">
                <a16:creationId xmlns:a16="http://schemas.microsoft.com/office/drawing/2014/main" id="{991403C1-EDD0-CB45-2F2C-DAD82CEE77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7456" y="1414259"/>
            <a:ext cx="7920000" cy="4831566"/>
          </a:xfrm>
          <a:prstGeom prst="rect">
            <a:avLst/>
          </a:prstGeom>
        </p:spPr>
      </p:pic>
    </p:spTree>
    <p:extLst>
      <p:ext uri="{BB962C8B-B14F-4D97-AF65-F5344CB8AC3E}">
        <p14:creationId xmlns:p14="http://schemas.microsoft.com/office/powerpoint/2010/main" val="1415859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DAACF-5760-F224-324B-FD8FD993CE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E68799-EC63-A50E-61FD-1AD5D795F85B}"/>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Experiment 1</a:t>
            </a:r>
          </a:p>
        </p:txBody>
      </p:sp>
      <p:sp>
        <p:nvSpPr>
          <p:cNvPr id="4" name="Slide Number Placeholder 3">
            <a:extLst>
              <a:ext uri="{FF2B5EF4-FFF2-40B4-BE49-F238E27FC236}">
                <a16:creationId xmlns:a16="http://schemas.microsoft.com/office/drawing/2014/main" id="{6C8D3163-04A1-4C4E-FE6F-0C54CE6B215C}"/>
              </a:ext>
            </a:extLst>
          </p:cNvPr>
          <p:cNvSpPr>
            <a:spLocks noGrp="1"/>
          </p:cNvSpPr>
          <p:nvPr>
            <p:ph type="sldNum" sz="quarter" idx="12"/>
          </p:nvPr>
        </p:nvSpPr>
        <p:spPr/>
        <p:txBody>
          <a:bodyPr/>
          <a:lstStyle/>
          <a:p>
            <a:fld id="{A5BC3523-C363-4BFA-8941-CE9ECEEECBA2}" type="slidenum">
              <a:rPr lang="en-GB" smtClean="0"/>
              <a:t>31</a:t>
            </a:fld>
            <a:endParaRPr lang="en-GB" dirty="0"/>
          </a:p>
        </p:txBody>
      </p:sp>
      <p:pic>
        <p:nvPicPr>
          <p:cNvPr id="8" name="Picture 7">
            <a:extLst>
              <a:ext uri="{FF2B5EF4-FFF2-40B4-BE49-F238E27FC236}">
                <a16:creationId xmlns:a16="http://schemas.microsoft.com/office/drawing/2014/main" id="{66C0A143-B809-7C5C-459D-3D6895BFEF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000" y="1030734"/>
            <a:ext cx="10800000" cy="4796532"/>
          </a:xfrm>
          <a:prstGeom prst="rect">
            <a:avLst/>
          </a:prstGeom>
        </p:spPr>
      </p:pic>
    </p:spTree>
    <p:extLst>
      <p:ext uri="{BB962C8B-B14F-4D97-AF65-F5344CB8AC3E}">
        <p14:creationId xmlns:p14="http://schemas.microsoft.com/office/powerpoint/2010/main" val="7510706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1A7DF-A090-5907-B2E7-6836018F5F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62080D-FD05-6C64-385D-43A0903DA1F7}"/>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Experiment 1 Results</a:t>
            </a:r>
          </a:p>
        </p:txBody>
      </p:sp>
      <p:sp>
        <p:nvSpPr>
          <p:cNvPr id="4" name="Slide Number Placeholder 3">
            <a:extLst>
              <a:ext uri="{FF2B5EF4-FFF2-40B4-BE49-F238E27FC236}">
                <a16:creationId xmlns:a16="http://schemas.microsoft.com/office/drawing/2014/main" id="{36885865-C326-2964-B636-4B4D22582D98}"/>
              </a:ext>
            </a:extLst>
          </p:cNvPr>
          <p:cNvSpPr>
            <a:spLocks noGrp="1"/>
          </p:cNvSpPr>
          <p:nvPr>
            <p:ph type="sldNum" sz="quarter" idx="12"/>
          </p:nvPr>
        </p:nvSpPr>
        <p:spPr/>
        <p:txBody>
          <a:bodyPr/>
          <a:lstStyle/>
          <a:p>
            <a:fld id="{A5BC3523-C363-4BFA-8941-CE9ECEEECBA2}" type="slidenum">
              <a:rPr lang="en-GB" smtClean="0"/>
              <a:t>32</a:t>
            </a:fld>
            <a:endParaRPr lang="en-GB" dirty="0"/>
          </a:p>
        </p:txBody>
      </p:sp>
      <p:pic>
        <p:nvPicPr>
          <p:cNvPr id="5" name="Picture 4">
            <a:extLst>
              <a:ext uri="{FF2B5EF4-FFF2-40B4-BE49-F238E27FC236}">
                <a16:creationId xmlns:a16="http://schemas.microsoft.com/office/drawing/2014/main" id="{DD5CE5DA-D260-D827-0207-CB7FC8D26D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9768" y="2498717"/>
            <a:ext cx="10800000" cy="3745749"/>
          </a:xfrm>
          <a:prstGeom prst="rect">
            <a:avLst/>
          </a:prstGeom>
        </p:spPr>
      </p:pic>
      <p:pic>
        <p:nvPicPr>
          <p:cNvPr id="8" name="Picture 7">
            <a:extLst>
              <a:ext uri="{FF2B5EF4-FFF2-40B4-BE49-F238E27FC236}">
                <a16:creationId xmlns:a16="http://schemas.microsoft.com/office/drawing/2014/main" id="{934BE98F-E96C-353F-DB45-9EA1049A77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40008" y="48628"/>
            <a:ext cx="5400000" cy="2398266"/>
          </a:xfrm>
          <a:prstGeom prst="rect">
            <a:avLst/>
          </a:prstGeom>
        </p:spPr>
      </p:pic>
    </p:spTree>
    <p:extLst>
      <p:ext uri="{BB962C8B-B14F-4D97-AF65-F5344CB8AC3E}">
        <p14:creationId xmlns:p14="http://schemas.microsoft.com/office/powerpoint/2010/main" val="28559583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B948C-66A3-EE27-89F2-353FA8C3B4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4F3FA5-DE2F-F4E3-3BBA-B6A0D63DC6F9}"/>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Experiment 2</a:t>
            </a:r>
          </a:p>
        </p:txBody>
      </p:sp>
      <p:sp>
        <p:nvSpPr>
          <p:cNvPr id="4" name="Slide Number Placeholder 3">
            <a:extLst>
              <a:ext uri="{FF2B5EF4-FFF2-40B4-BE49-F238E27FC236}">
                <a16:creationId xmlns:a16="http://schemas.microsoft.com/office/drawing/2014/main" id="{2AF58F5D-C94B-5BB9-079A-63961F9213BE}"/>
              </a:ext>
            </a:extLst>
          </p:cNvPr>
          <p:cNvSpPr>
            <a:spLocks noGrp="1"/>
          </p:cNvSpPr>
          <p:nvPr>
            <p:ph type="sldNum" sz="quarter" idx="12"/>
          </p:nvPr>
        </p:nvSpPr>
        <p:spPr/>
        <p:txBody>
          <a:bodyPr/>
          <a:lstStyle/>
          <a:p>
            <a:fld id="{A5BC3523-C363-4BFA-8941-CE9ECEEECBA2}" type="slidenum">
              <a:rPr lang="en-GB" smtClean="0"/>
              <a:t>33</a:t>
            </a:fld>
            <a:endParaRPr lang="en-GB" dirty="0"/>
          </a:p>
        </p:txBody>
      </p:sp>
      <p:pic>
        <p:nvPicPr>
          <p:cNvPr id="8" name="Picture 7">
            <a:extLst>
              <a:ext uri="{FF2B5EF4-FFF2-40B4-BE49-F238E27FC236}">
                <a16:creationId xmlns:a16="http://schemas.microsoft.com/office/drawing/2014/main" id="{5E0C34D1-8ADE-2119-ADB5-E416BA1B583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56000" y="1027290"/>
            <a:ext cx="10080000" cy="5045322"/>
          </a:xfrm>
          <a:prstGeom prst="rect">
            <a:avLst/>
          </a:prstGeom>
        </p:spPr>
      </p:pic>
    </p:spTree>
    <p:extLst>
      <p:ext uri="{BB962C8B-B14F-4D97-AF65-F5344CB8AC3E}">
        <p14:creationId xmlns:p14="http://schemas.microsoft.com/office/powerpoint/2010/main" val="15541774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F4B92-C819-68BF-9CA5-E16BA9BBA9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FD4CEE-DF57-877E-13D2-1FED78E42979}"/>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Experiment 2 Results</a:t>
            </a:r>
          </a:p>
        </p:txBody>
      </p:sp>
      <p:sp>
        <p:nvSpPr>
          <p:cNvPr id="4" name="Slide Number Placeholder 3">
            <a:extLst>
              <a:ext uri="{FF2B5EF4-FFF2-40B4-BE49-F238E27FC236}">
                <a16:creationId xmlns:a16="http://schemas.microsoft.com/office/drawing/2014/main" id="{1912F463-1D37-AC59-5ECA-343DE2D5E7DE}"/>
              </a:ext>
            </a:extLst>
          </p:cNvPr>
          <p:cNvSpPr>
            <a:spLocks noGrp="1"/>
          </p:cNvSpPr>
          <p:nvPr>
            <p:ph type="sldNum" sz="quarter" idx="12"/>
          </p:nvPr>
        </p:nvSpPr>
        <p:spPr/>
        <p:txBody>
          <a:bodyPr/>
          <a:lstStyle/>
          <a:p>
            <a:fld id="{A5BC3523-C363-4BFA-8941-CE9ECEEECBA2}" type="slidenum">
              <a:rPr lang="en-GB" smtClean="0"/>
              <a:t>34</a:t>
            </a:fld>
            <a:endParaRPr lang="en-GB" dirty="0"/>
          </a:p>
        </p:txBody>
      </p:sp>
      <p:pic>
        <p:nvPicPr>
          <p:cNvPr id="5" name="Picture 4">
            <a:extLst>
              <a:ext uri="{FF2B5EF4-FFF2-40B4-BE49-F238E27FC236}">
                <a16:creationId xmlns:a16="http://schemas.microsoft.com/office/drawing/2014/main" id="{4DF43555-C80D-0D48-D2CA-370EC56579B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29768" y="2501938"/>
            <a:ext cx="10800000" cy="3739307"/>
          </a:xfrm>
          <a:prstGeom prst="rect">
            <a:avLst/>
          </a:prstGeom>
        </p:spPr>
      </p:pic>
      <p:pic>
        <p:nvPicPr>
          <p:cNvPr id="8" name="Picture 7">
            <a:extLst>
              <a:ext uri="{FF2B5EF4-FFF2-40B4-BE49-F238E27FC236}">
                <a16:creationId xmlns:a16="http://schemas.microsoft.com/office/drawing/2014/main" id="{F6BA2AA5-C490-ADB9-B9D9-6951D36CD3C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044272" y="48628"/>
            <a:ext cx="4791472" cy="2398266"/>
          </a:xfrm>
          <a:prstGeom prst="rect">
            <a:avLst/>
          </a:prstGeom>
        </p:spPr>
      </p:pic>
    </p:spTree>
    <p:extLst>
      <p:ext uri="{BB962C8B-B14F-4D97-AF65-F5344CB8AC3E}">
        <p14:creationId xmlns:p14="http://schemas.microsoft.com/office/powerpoint/2010/main" val="21632018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5E1C9-4DBC-3CB2-DFC1-3EBCDA404E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60739E-6B82-5ABF-9911-C954605487F7}"/>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Experiment 3</a:t>
            </a:r>
          </a:p>
        </p:txBody>
      </p:sp>
      <p:sp>
        <p:nvSpPr>
          <p:cNvPr id="4" name="Slide Number Placeholder 3">
            <a:extLst>
              <a:ext uri="{FF2B5EF4-FFF2-40B4-BE49-F238E27FC236}">
                <a16:creationId xmlns:a16="http://schemas.microsoft.com/office/drawing/2014/main" id="{FFA3804C-66C4-6569-ACD4-41ED4CB2DD54}"/>
              </a:ext>
            </a:extLst>
          </p:cNvPr>
          <p:cNvSpPr>
            <a:spLocks noGrp="1"/>
          </p:cNvSpPr>
          <p:nvPr>
            <p:ph type="sldNum" sz="quarter" idx="12"/>
          </p:nvPr>
        </p:nvSpPr>
        <p:spPr/>
        <p:txBody>
          <a:bodyPr/>
          <a:lstStyle/>
          <a:p>
            <a:fld id="{A5BC3523-C363-4BFA-8941-CE9ECEEECBA2}" type="slidenum">
              <a:rPr lang="en-GB" smtClean="0"/>
              <a:t>35</a:t>
            </a:fld>
            <a:endParaRPr lang="en-GB" dirty="0"/>
          </a:p>
        </p:txBody>
      </p:sp>
      <p:pic>
        <p:nvPicPr>
          <p:cNvPr id="8" name="Picture 7">
            <a:extLst>
              <a:ext uri="{FF2B5EF4-FFF2-40B4-BE49-F238E27FC236}">
                <a16:creationId xmlns:a16="http://schemas.microsoft.com/office/drawing/2014/main" id="{535FB558-5516-8266-2B62-1C9DCF01886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96000" y="1125637"/>
            <a:ext cx="10800000" cy="4606726"/>
          </a:xfrm>
          <a:prstGeom prst="rect">
            <a:avLst/>
          </a:prstGeom>
        </p:spPr>
      </p:pic>
    </p:spTree>
    <p:extLst>
      <p:ext uri="{BB962C8B-B14F-4D97-AF65-F5344CB8AC3E}">
        <p14:creationId xmlns:p14="http://schemas.microsoft.com/office/powerpoint/2010/main" val="752349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6BB7D-A534-20D9-8C46-0422A18DD4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F3123D-2EB1-BAEC-BA23-D5B9C136B39B}"/>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Experiment 3 Results</a:t>
            </a:r>
          </a:p>
        </p:txBody>
      </p:sp>
      <p:sp>
        <p:nvSpPr>
          <p:cNvPr id="4" name="Slide Number Placeholder 3">
            <a:extLst>
              <a:ext uri="{FF2B5EF4-FFF2-40B4-BE49-F238E27FC236}">
                <a16:creationId xmlns:a16="http://schemas.microsoft.com/office/drawing/2014/main" id="{5212BC73-FD66-AD61-5B2C-0DFAFAE99DA4}"/>
              </a:ext>
            </a:extLst>
          </p:cNvPr>
          <p:cNvSpPr>
            <a:spLocks noGrp="1"/>
          </p:cNvSpPr>
          <p:nvPr>
            <p:ph type="sldNum" sz="quarter" idx="12"/>
          </p:nvPr>
        </p:nvSpPr>
        <p:spPr/>
        <p:txBody>
          <a:bodyPr/>
          <a:lstStyle/>
          <a:p>
            <a:fld id="{A5BC3523-C363-4BFA-8941-CE9ECEEECBA2}" type="slidenum">
              <a:rPr lang="en-GB" smtClean="0"/>
              <a:t>36</a:t>
            </a:fld>
            <a:endParaRPr lang="en-GB" dirty="0"/>
          </a:p>
        </p:txBody>
      </p:sp>
      <p:pic>
        <p:nvPicPr>
          <p:cNvPr id="8" name="Picture 7">
            <a:extLst>
              <a:ext uri="{FF2B5EF4-FFF2-40B4-BE49-F238E27FC236}">
                <a16:creationId xmlns:a16="http://schemas.microsoft.com/office/drawing/2014/main" id="{FA82F79B-9341-2384-F8D9-363DE00C3DD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044272" y="225863"/>
            <a:ext cx="4791472" cy="2043796"/>
          </a:xfrm>
          <a:prstGeom prst="rect">
            <a:avLst/>
          </a:prstGeom>
        </p:spPr>
      </p:pic>
      <p:pic>
        <p:nvPicPr>
          <p:cNvPr id="6" name="Picture 5">
            <a:extLst>
              <a:ext uri="{FF2B5EF4-FFF2-40B4-BE49-F238E27FC236}">
                <a16:creationId xmlns:a16="http://schemas.microsoft.com/office/drawing/2014/main" id="{E76DA3B9-F7D9-85C6-2587-5EE2909278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6256" y="1450017"/>
            <a:ext cx="6480000" cy="4129957"/>
          </a:xfrm>
          <a:prstGeom prst="rect">
            <a:avLst/>
          </a:prstGeom>
        </p:spPr>
      </p:pic>
    </p:spTree>
    <p:extLst>
      <p:ext uri="{BB962C8B-B14F-4D97-AF65-F5344CB8AC3E}">
        <p14:creationId xmlns:p14="http://schemas.microsoft.com/office/powerpoint/2010/main" val="42852371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C93D0-E1A8-048D-ABFF-317B7E87C7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1CC6A-0263-5480-380E-CACB1E71FD75}"/>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Experiment 4</a:t>
            </a:r>
          </a:p>
        </p:txBody>
      </p:sp>
      <p:sp>
        <p:nvSpPr>
          <p:cNvPr id="4" name="Slide Number Placeholder 3">
            <a:extLst>
              <a:ext uri="{FF2B5EF4-FFF2-40B4-BE49-F238E27FC236}">
                <a16:creationId xmlns:a16="http://schemas.microsoft.com/office/drawing/2014/main" id="{E7D60E2B-0ECB-D4A7-2032-BA3A8E02F1C9}"/>
              </a:ext>
            </a:extLst>
          </p:cNvPr>
          <p:cNvSpPr>
            <a:spLocks noGrp="1"/>
          </p:cNvSpPr>
          <p:nvPr>
            <p:ph type="sldNum" sz="quarter" idx="12"/>
          </p:nvPr>
        </p:nvSpPr>
        <p:spPr/>
        <p:txBody>
          <a:bodyPr/>
          <a:lstStyle/>
          <a:p>
            <a:fld id="{A5BC3523-C363-4BFA-8941-CE9ECEEECBA2}" type="slidenum">
              <a:rPr lang="en-GB" smtClean="0"/>
              <a:t>37</a:t>
            </a:fld>
            <a:endParaRPr lang="en-GB" dirty="0"/>
          </a:p>
        </p:txBody>
      </p:sp>
      <p:pic>
        <p:nvPicPr>
          <p:cNvPr id="8" name="Picture 7">
            <a:extLst>
              <a:ext uri="{FF2B5EF4-FFF2-40B4-BE49-F238E27FC236}">
                <a16:creationId xmlns:a16="http://schemas.microsoft.com/office/drawing/2014/main" id="{AB260CA6-3B70-5E03-0E33-875EDFDF64C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36000" y="1027290"/>
            <a:ext cx="11520000" cy="4255455"/>
          </a:xfrm>
          <a:prstGeom prst="rect">
            <a:avLst/>
          </a:prstGeom>
        </p:spPr>
      </p:pic>
    </p:spTree>
    <p:extLst>
      <p:ext uri="{BB962C8B-B14F-4D97-AF65-F5344CB8AC3E}">
        <p14:creationId xmlns:p14="http://schemas.microsoft.com/office/powerpoint/2010/main" val="2353750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2E564-5065-02DF-B3E6-8CD3A80D8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53483F-6B38-FFEB-D370-4C35C0B1DAA6}"/>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Experiment 4 Results</a:t>
            </a:r>
          </a:p>
        </p:txBody>
      </p:sp>
      <p:sp>
        <p:nvSpPr>
          <p:cNvPr id="4" name="Slide Number Placeholder 3">
            <a:extLst>
              <a:ext uri="{FF2B5EF4-FFF2-40B4-BE49-F238E27FC236}">
                <a16:creationId xmlns:a16="http://schemas.microsoft.com/office/drawing/2014/main" id="{DDEEE63A-9ED4-83D8-5C49-16E41953C2FF}"/>
              </a:ext>
            </a:extLst>
          </p:cNvPr>
          <p:cNvSpPr>
            <a:spLocks noGrp="1"/>
          </p:cNvSpPr>
          <p:nvPr>
            <p:ph type="sldNum" sz="quarter" idx="12"/>
          </p:nvPr>
        </p:nvSpPr>
        <p:spPr/>
        <p:txBody>
          <a:bodyPr/>
          <a:lstStyle/>
          <a:p>
            <a:fld id="{A5BC3523-C363-4BFA-8941-CE9ECEEECBA2}" type="slidenum">
              <a:rPr lang="en-GB" smtClean="0"/>
              <a:t>38</a:t>
            </a:fld>
            <a:endParaRPr lang="en-GB" dirty="0"/>
          </a:p>
        </p:txBody>
      </p:sp>
      <p:pic>
        <p:nvPicPr>
          <p:cNvPr id="8" name="Picture 7">
            <a:extLst>
              <a:ext uri="{FF2B5EF4-FFF2-40B4-BE49-F238E27FC236}">
                <a16:creationId xmlns:a16="http://schemas.microsoft.com/office/drawing/2014/main" id="{F2E7DF9B-4A94-6AAA-6B72-9441471CF98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044272" y="362783"/>
            <a:ext cx="4791472" cy="1769956"/>
          </a:xfrm>
          <a:prstGeom prst="rect">
            <a:avLst/>
          </a:prstGeom>
        </p:spPr>
      </p:pic>
      <p:pic>
        <p:nvPicPr>
          <p:cNvPr id="6" name="Picture 5">
            <a:extLst>
              <a:ext uri="{FF2B5EF4-FFF2-40B4-BE49-F238E27FC236}">
                <a16:creationId xmlns:a16="http://schemas.microsoft.com/office/drawing/2014/main" id="{F1A721C7-EDC5-8821-1F1D-2860C421B83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71022" y="1450017"/>
            <a:ext cx="6450468" cy="4129957"/>
          </a:xfrm>
          <a:prstGeom prst="rect">
            <a:avLst/>
          </a:prstGeom>
        </p:spPr>
      </p:pic>
    </p:spTree>
    <p:extLst>
      <p:ext uri="{BB962C8B-B14F-4D97-AF65-F5344CB8AC3E}">
        <p14:creationId xmlns:p14="http://schemas.microsoft.com/office/powerpoint/2010/main" val="42008485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2FA2D-9ED9-0384-BB00-63C09E6472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3BDA8-573D-112A-14F9-4C7646B90B51}"/>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Experiment 5</a:t>
            </a:r>
          </a:p>
        </p:txBody>
      </p:sp>
      <p:sp>
        <p:nvSpPr>
          <p:cNvPr id="4" name="Slide Number Placeholder 3">
            <a:extLst>
              <a:ext uri="{FF2B5EF4-FFF2-40B4-BE49-F238E27FC236}">
                <a16:creationId xmlns:a16="http://schemas.microsoft.com/office/drawing/2014/main" id="{AA5DE8EB-C8D6-DD61-2BA4-1946CABE3240}"/>
              </a:ext>
            </a:extLst>
          </p:cNvPr>
          <p:cNvSpPr>
            <a:spLocks noGrp="1"/>
          </p:cNvSpPr>
          <p:nvPr>
            <p:ph type="sldNum" sz="quarter" idx="12"/>
          </p:nvPr>
        </p:nvSpPr>
        <p:spPr/>
        <p:txBody>
          <a:bodyPr/>
          <a:lstStyle/>
          <a:p>
            <a:fld id="{A5BC3523-C363-4BFA-8941-CE9ECEEECBA2}" type="slidenum">
              <a:rPr lang="en-GB" smtClean="0"/>
              <a:t>39</a:t>
            </a:fld>
            <a:endParaRPr lang="en-GB" dirty="0"/>
          </a:p>
        </p:txBody>
      </p:sp>
      <p:pic>
        <p:nvPicPr>
          <p:cNvPr id="8" name="Picture 7">
            <a:extLst>
              <a:ext uri="{FF2B5EF4-FFF2-40B4-BE49-F238E27FC236}">
                <a16:creationId xmlns:a16="http://schemas.microsoft.com/office/drawing/2014/main" id="{E760A498-1947-7FCD-EDD1-5B70DD9AB30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36000" y="1377140"/>
            <a:ext cx="11520000" cy="3555754"/>
          </a:xfrm>
          <a:prstGeom prst="rect">
            <a:avLst/>
          </a:prstGeom>
        </p:spPr>
      </p:pic>
    </p:spTree>
    <p:extLst>
      <p:ext uri="{BB962C8B-B14F-4D97-AF65-F5344CB8AC3E}">
        <p14:creationId xmlns:p14="http://schemas.microsoft.com/office/powerpoint/2010/main" val="18974780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4C9DA-B8AB-4563-8A1A-99D67B656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B2A93-06E6-CA91-8448-905203F8BEA6}"/>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Experiment 5 Results</a:t>
            </a:r>
          </a:p>
        </p:txBody>
      </p:sp>
      <p:sp>
        <p:nvSpPr>
          <p:cNvPr id="4" name="Slide Number Placeholder 3">
            <a:extLst>
              <a:ext uri="{FF2B5EF4-FFF2-40B4-BE49-F238E27FC236}">
                <a16:creationId xmlns:a16="http://schemas.microsoft.com/office/drawing/2014/main" id="{B98D6913-20FE-9AAF-74A8-BFB4960B4995}"/>
              </a:ext>
            </a:extLst>
          </p:cNvPr>
          <p:cNvSpPr>
            <a:spLocks noGrp="1"/>
          </p:cNvSpPr>
          <p:nvPr>
            <p:ph type="sldNum" sz="quarter" idx="12"/>
          </p:nvPr>
        </p:nvSpPr>
        <p:spPr/>
        <p:txBody>
          <a:bodyPr/>
          <a:lstStyle/>
          <a:p>
            <a:fld id="{A5BC3523-C363-4BFA-8941-CE9ECEEECBA2}" type="slidenum">
              <a:rPr lang="en-GB" smtClean="0"/>
              <a:t>40</a:t>
            </a:fld>
            <a:endParaRPr lang="en-GB" dirty="0"/>
          </a:p>
        </p:txBody>
      </p:sp>
      <p:pic>
        <p:nvPicPr>
          <p:cNvPr id="8" name="Picture 7">
            <a:extLst>
              <a:ext uri="{FF2B5EF4-FFF2-40B4-BE49-F238E27FC236}">
                <a16:creationId xmlns:a16="http://schemas.microsoft.com/office/drawing/2014/main" id="{2CB87362-0A84-A4EE-7C68-A14CEEE5C14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044272" y="508295"/>
            <a:ext cx="4791472" cy="1478932"/>
          </a:xfrm>
          <a:prstGeom prst="rect">
            <a:avLst/>
          </a:prstGeom>
        </p:spPr>
      </p:pic>
      <p:pic>
        <p:nvPicPr>
          <p:cNvPr id="9" name="Picture 8">
            <a:extLst>
              <a:ext uri="{FF2B5EF4-FFF2-40B4-BE49-F238E27FC236}">
                <a16:creationId xmlns:a16="http://schemas.microsoft.com/office/drawing/2014/main" id="{01E4F505-74FF-C9F7-B982-CE1D24DB59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45" y="1027290"/>
            <a:ext cx="6840000" cy="5181818"/>
          </a:xfrm>
          <a:prstGeom prst="rect">
            <a:avLst/>
          </a:prstGeom>
        </p:spPr>
      </p:pic>
    </p:spTree>
    <p:extLst>
      <p:ext uri="{BB962C8B-B14F-4D97-AF65-F5344CB8AC3E}">
        <p14:creationId xmlns:p14="http://schemas.microsoft.com/office/powerpoint/2010/main" val="27520117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13C43-C9CE-8A4F-D214-81F30A6C0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063A5E-5CAA-AEC3-57A3-33BE73FF4F0D}"/>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Experiment 7</a:t>
            </a:r>
          </a:p>
        </p:txBody>
      </p:sp>
      <p:sp>
        <p:nvSpPr>
          <p:cNvPr id="4" name="Slide Number Placeholder 3">
            <a:extLst>
              <a:ext uri="{FF2B5EF4-FFF2-40B4-BE49-F238E27FC236}">
                <a16:creationId xmlns:a16="http://schemas.microsoft.com/office/drawing/2014/main" id="{06D6FEC0-C575-7E84-46F9-BA8407EEBA27}"/>
              </a:ext>
            </a:extLst>
          </p:cNvPr>
          <p:cNvSpPr>
            <a:spLocks noGrp="1"/>
          </p:cNvSpPr>
          <p:nvPr>
            <p:ph type="sldNum" sz="quarter" idx="12"/>
          </p:nvPr>
        </p:nvSpPr>
        <p:spPr/>
        <p:txBody>
          <a:bodyPr/>
          <a:lstStyle/>
          <a:p>
            <a:fld id="{A5BC3523-C363-4BFA-8941-CE9ECEEECBA2}" type="slidenum">
              <a:rPr lang="en-GB" smtClean="0"/>
              <a:t>41</a:t>
            </a:fld>
            <a:endParaRPr lang="en-GB" dirty="0"/>
          </a:p>
        </p:txBody>
      </p:sp>
      <p:pic>
        <p:nvPicPr>
          <p:cNvPr id="5" name="Picture 4">
            <a:extLst>
              <a:ext uri="{FF2B5EF4-FFF2-40B4-BE49-F238E27FC236}">
                <a16:creationId xmlns:a16="http://schemas.microsoft.com/office/drawing/2014/main" id="{D38B3D89-BE1B-F8C4-FCE9-9CE6D044F9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054508"/>
            <a:ext cx="5940000" cy="5666967"/>
          </a:xfrm>
          <a:prstGeom prst="rect">
            <a:avLst/>
          </a:prstGeom>
        </p:spPr>
      </p:pic>
    </p:spTree>
    <p:extLst>
      <p:ext uri="{BB962C8B-B14F-4D97-AF65-F5344CB8AC3E}">
        <p14:creationId xmlns:p14="http://schemas.microsoft.com/office/powerpoint/2010/main" val="26620667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C04BF-083A-0D71-28AF-CB79AAC4E3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19C9CC-97BB-0E0D-1598-52551059EA6F}"/>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Experiment 7 Results</a:t>
            </a:r>
          </a:p>
        </p:txBody>
      </p:sp>
      <p:sp>
        <p:nvSpPr>
          <p:cNvPr id="4" name="Slide Number Placeholder 3">
            <a:extLst>
              <a:ext uri="{FF2B5EF4-FFF2-40B4-BE49-F238E27FC236}">
                <a16:creationId xmlns:a16="http://schemas.microsoft.com/office/drawing/2014/main" id="{BA9C4117-57A1-1C8E-BF6E-CFF57B9C9EF1}"/>
              </a:ext>
            </a:extLst>
          </p:cNvPr>
          <p:cNvSpPr>
            <a:spLocks noGrp="1"/>
          </p:cNvSpPr>
          <p:nvPr>
            <p:ph type="sldNum" sz="quarter" idx="12"/>
          </p:nvPr>
        </p:nvSpPr>
        <p:spPr/>
        <p:txBody>
          <a:bodyPr/>
          <a:lstStyle/>
          <a:p>
            <a:fld id="{A5BC3523-C363-4BFA-8941-CE9ECEEECBA2}" type="slidenum">
              <a:rPr lang="en-GB" smtClean="0"/>
              <a:t>42</a:t>
            </a:fld>
            <a:endParaRPr lang="en-GB" dirty="0"/>
          </a:p>
        </p:txBody>
      </p:sp>
      <p:pic>
        <p:nvPicPr>
          <p:cNvPr id="8" name="Picture 7">
            <a:extLst>
              <a:ext uri="{FF2B5EF4-FFF2-40B4-BE49-F238E27FC236}">
                <a16:creationId xmlns:a16="http://schemas.microsoft.com/office/drawing/2014/main" id="{ABFACBF5-C8AF-2079-4A4E-ED9CACDC146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872291" y="121902"/>
            <a:ext cx="3240000" cy="3091075"/>
          </a:xfrm>
          <a:prstGeom prst="rect">
            <a:avLst/>
          </a:prstGeom>
        </p:spPr>
      </p:pic>
      <p:pic>
        <p:nvPicPr>
          <p:cNvPr id="5" name="Picture 4">
            <a:extLst>
              <a:ext uri="{FF2B5EF4-FFF2-40B4-BE49-F238E27FC236}">
                <a16:creationId xmlns:a16="http://schemas.microsoft.com/office/drawing/2014/main" id="{B354D522-5108-4476-B139-D94CBC3F16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709" y="1146232"/>
            <a:ext cx="8640000" cy="3045660"/>
          </a:xfrm>
          <a:prstGeom prst="rect">
            <a:avLst/>
          </a:prstGeom>
        </p:spPr>
      </p:pic>
    </p:spTree>
    <p:extLst>
      <p:ext uri="{BB962C8B-B14F-4D97-AF65-F5344CB8AC3E}">
        <p14:creationId xmlns:p14="http://schemas.microsoft.com/office/powerpoint/2010/main" val="21852272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1EF3E-3FF0-10D0-3EC3-00A854F2D9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E4FC26-5131-0071-4798-6ABB1AB11DAB}"/>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Recommendations</a:t>
            </a:r>
          </a:p>
        </p:txBody>
      </p:sp>
      <p:sp>
        <p:nvSpPr>
          <p:cNvPr id="3" name="Content Placeholder 2">
            <a:extLst>
              <a:ext uri="{FF2B5EF4-FFF2-40B4-BE49-F238E27FC236}">
                <a16:creationId xmlns:a16="http://schemas.microsoft.com/office/drawing/2014/main" id="{7604C169-3C72-EFC5-91BC-1113C263AB3C}"/>
              </a:ext>
            </a:extLst>
          </p:cNvPr>
          <p:cNvSpPr>
            <a:spLocks noGrp="1"/>
          </p:cNvSpPr>
          <p:nvPr>
            <p:ph idx="1"/>
          </p:nvPr>
        </p:nvSpPr>
        <p:spPr>
          <a:xfrm>
            <a:off x="838200" y="1027291"/>
            <a:ext cx="10838512" cy="4228104"/>
          </a:xfrm>
        </p:spPr>
        <p:txBody>
          <a:bodyPr>
            <a:normAutofit/>
          </a:bodyPr>
          <a:lstStyle/>
          <a:p>
            <a:r>
              <a:rPr lang="en-GB" sz="2000" dirty="0">
                <a:solidFill>
                  <a:srgbClr val="003B66"/>
                </a:solidFill>
                <a:latin typeface="Aptos" panose="020B0004020202020204" pitchFamily="34" charset="0"/>
              </a:rPr>
              <a:t>We’ve seen PCR consistently and significantly outperform NR and SCR.</a:t>
            </a:r>
          </a:p>
          <a:p>
            <a:r>
              <a:rPr lang="en-GB" sz="2000" dirty="0">
                <a:solidFill>
                  <a:srgbClr val="003B66"/>
                </a:solidFill>
                <a:latin typeface="Aptos" panose="020B0004020202020204" pitchFamily="34" charset="0"/>
              </a:rPr>
              <a:t>PCR is the setting I choose for most VIs I create (where the PCR setting is available).</a:t>
            </a:r>
          </a:p>
          <a:p>
            <a:pPr lvl="1"/>
            <a:r>
              <a:rPr lang="en-GB" sz="2000" dirty="0">
                <a:solidFill>
                  <a:srgbClr val="003B66"/>
                </a:solidFill>
                <a:latin typeface="Aptos" panose="020B0004020202020204" pitchFamily="34" charset="0"/>
              </a:rPr>
              <a:t>Dynamic Dispatch VIs (including dynamic class accessors) cannot use PCR.</a:t>
            </a:r>
          </a:p>
          <a:p>
            <a:r>
              <a:rPr lang="en-GB" sz="2000" dirty="0">
                <a:solidFill>
                  <a:srgbClr val="003B66"/>
                </a:solidFill>
                <a:latin typeface="Aptos" panose="020B0004020202020204" pitchFamily="34" charset="0"/>
              </a:rPr>
              <a:t>Give Preallocated Clone </a:t>
            </a:r>
            <a:r>
              <a:rPr lang="en-GB" sz="2000" dirty="0" err="1">
                <a:solidFill>
                  <a:srgbClr val="003B66"/>
                </a:solidFill>
                <a:latin typeface="Aptos" panose="020B0004020202020204" pitchFamily="34" charset="0"/>
              </a:rPr>
              <a:t>Reentrant</a:t>
            </a:r>
            <a:r>
              <a:rPr lang="en-GB" sz="2000" dirty="0">
                <a:solidFill>
                  <a:srgbClr val="003B66"/>
                </a:solidFill>
                <a:latin typeface="Aptos" panose="020B0004020202020204" pitchFamily="34" charset="0"/>
              </a:rPr>
              <a:t> a try. You will be pleasantly surprised.</a:t>
            </a:r>
          </a:p>
        </p:txBody>
      </p:sp>
      <p:sp>
        <p:nvSpPr>
          <p:cNvPr id="4" name="Slide Number Placeholder 3">
            <a:extLst>
              <a:ext uri="{FF2B5EF4-FFF2-40B4-BE49-F238E27FC236}">
                <a16:creationId xmlns:a16="http://schemas.microsoft.com/office/drawing/2014/main" id="{EADA97D9-DD1F-1202-1A47-54DC633EAD77}"/>
              </a:ext>
            </a:extLst>
          </p:cNvPr>
          <p:cNvSpPr>
            <a:spLocks noGrp="1"/>
          </p:cNvSpPr>
          <p:nvPr>
            <p:ph type="sldNum" sz="quarter" idx="12"/>
          </p:nvPr>
        </p:nvSpPr>
        <p:spPr/>
        <p:txBody>
          <a:bodyPr/>
          <a:lstStyle/>
          <a:p>
            <a:fld id="{A5BC3523-C363-4BFA-8941-CE9ECEEECBA2}" type="slidenum">
              <a:rPr lang="en-GB" smtClean="0"/>
              <a:t>43</a:t>
            </a:fld>
            <a:endParaRPr lang="en-GB" dirty="0"/>
          </a:p>
        </p:txBody>
      </p:sp>
      <p:grpSp>
        <p:nvGrpSpPr>
          <p:cNvPr id="5" name="Group 4">
            <a:extLst>
              <a:ext uri="{FF2B5EF4-FFF2-40B4-BE49-F238E27FC236}">
                <a16:creationId xmlns:a16="http://schemas.microsoft.com/office/drawing/2014/main" id="{25C36EBC-6CBA-984D-8787-2D3F89684F9B}"/>
              </a:ext>
            </a:extLst>
          </p:cNvPr>
          <p:cNvGrpSpPr/>
          <p:nvPr/>
        </p:nvGrpSpPr>
        <p:grpSpPr>
          <a:xfrm>
            <a:off x="3396000" y="2647352"/>
            <a:ext cx="5400000" cy="4210648"/>
            <a:chOff x="6534356" y="1085645"/>
            <a:chExt cx="5400000" cy="4210648"/>
          </a:xfrm>
        </p:grpSpPr>
        <p:pic>
          <p:nvPicPr>
            <p:cNvPr id="6" name="Picture 5">
              <a:extLst>
                <a:ext uri="{FF2B5EF4-FFF2-40B4-BE49-F238E27FC236}">
                  <a16:creationId xmlns:a16="http://schemas.microsoft.com/office/drawing/2014/main" id="{E0CFEDF4-8908-3A3D-555D-F9162B361B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4356" y="1085645"/>
              <a:ext cx="5400000" cy="3575171"/>
            </a:xfrm>
            <a:prstGeom prst="rect">
              <a:avLst/>
            </a:prstGeom>
          </p:spPr>
        </p:pic>
        <p:sp>
          <p:nvSpPr>
            <p:cNvPr id="7" name="Title 1">
              <a:extLst>
                <a:ext uri="{FF2B5EF4-FFF2-40B4-BE49-F238E27FC236}">
                  <a16:creationId xmlns:a16="http://schemas.microsoft.com/office/drawing/2014/main" id="{FCD8B668-3A7A-DB25-1090-5FA1BBCB9027}"/>
                </a:ext>
              </a:extLst>
            </p:cNvPr>
            <p:cNvSpPr txBox="1">
              <a:spLocks/>
            </p:cNvSpPr>
            <p:nvPr/>
          </p:nvSpPr>
          <p:spPr>
            <a:xfrm>
              <a:off x="6534356" y="4634129"/>
              <a:ext cx="5400000" cy="662164"/>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i="1" dirty="0">
                  <a:solidFill>
                    <a:schemeClr val="bg1">
                      <a:lumMod val="50000"/>
                    </a:schemeClr>
                  </a:solidFill>
                  <a:latin typeface="Aptos" panose="020B0004020202020204" pitchFamily="34" charset="0"/>
                </a:rPr>
                <a:t>The Preallocated Clone Reentrant (PCR) option.</a:t>
              </a:r>
            </a:p>
          </p:txBody>
        </p:sp>
      </p:grpSp>
    </p:spTree>
    <p:extLst>
      <p:ext uri="{BB962C8B-B14F-4D97-AF65-F5344CB8AC3E}">
        <p14:creationId xmlns:p14="http://schemas.microsoft.com/office/powerpoint/2010/main" val="1359892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E7B57-54D5-ED9F-162F-B26873EA5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E9009E-F5A1-9BE6-086E-74BACA033B44}"/>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Common objections</a:t>
            </a:r>
          </a:p>
        </p:txBody>
      </p:sp>
      <p:sp>
        <p:nvSpPr>
          <p:cNvPr id="3" name="Content Placeholder 2">
            <a:extLst>
              <a:ext uri="{FF2B5EF4-FFF2-40B4-BE49-F238E27FC236}">
                <a16:creationId xmlns:a16="http://schemas.microsoft.com/office/drawing/2014/main" id="{33294D72-BDC2-AAB0-EFB4-EC0BBE3110C5}"/>
              </a:ext>
            </a:extLst>
          </p:cNvPr>
          <p:cNvSpPr>
            <a:spLocks noGrp="1"/>
          </p:cNvSpPr>
          <p:nvPr>
            <p:ph idx="1"/>
          </p:nvPr>
        </p:nvSpPr>
        <p:spPr>
          <a:xfrm>
            <a:off x="838200" y="1027290"/>
            <a:ext cx="10838512" cy="5062613"/>
          </a:xfrm>
        </p:spPr>
        <p:txBody>
          <a:bodyPr>
            <a:normAutofit/>
          </a:bodyPr>
          <a:lstStyle/>
          <a:p>
            <a:r>
              <a:rPr lang="en-GB" sz="2000" b="1" dirty="0">
                <a:solidFill>
                  <a:srgbClr val="003B66"/>
                </a:solidFill>
                <a:latin typeface="Aptos" panose="020B0004020202020204" pitchFamily="34" charset="0"/>
              </a:rPr>
              <a:t>Objection 1</a:t>
            </a:r>
            <a:r>
              <a:rPr lang="en-GB" sz="2000" dirty="0">
                <a:solidFill>
                  <a:srgbClr val="003B66"/>
                </a:solidFill>
                <a:latin typeface="Aptos" panose="020B0004020202020204" pitchFamily="34" charset="0"/>
              </a:rPr>
              <a:t>: My codebase will use too much memory if I use many PCR VIs</a:t>
            </a:r>
          </a:p>
          <a:p>
            <a:pPr lvl="1"/>
            <a:r>
              <a:rPr lang="en-GB" sz="2000" dirty="0">
                <a:solidFill>
                  <a:srgbClr val="003B66"/>
                </a:solidFill>
                <a:latin typeface="Aptos" panose="020B0004020202020204" pitchFamily="34" charset="0"/>
              </a:rPr>
              <a:t>Example 1 (personal experience):</a:t>
            </a:r>
          </a:p>
          <a:p>
            <a:pPr lvl="2"/>
            <a:r>
              <a:rPr lang="en-GB" sz="1600" dirty="0">
                <a:solidFill>
                  <a:srgbClr val="003B66"/>
                </a:solidFill>
                <a:latin typeface="Aptos" panose="020B0004020202020204" pitchFamily="34" charset="0"/>
              </a:rPr>
              <a:t>Large Windows app. Contains around 10,000 VIs. Organised in dozens of DQMH modules, many other classes and libraries.</a:t>
            </a:r>
          </a:p>
          <a:p>
            <a:pPr lvl="2"/>
            <a:r>
              <a:rPr lang="en-GB" sz="1600" dirty="0">
                <a:solidFill>
                  <a:srgbClr val="003B66"/>
                </a:solidFill>
                <a:latin typeface="Aptos" panose="020B0004020202020204" pitchFamily="34" charset="0"/>
              </a:rPr>
              <a:t>Many of the DQMH modules contain complex user-facing GUIs (front panels)</a:t>
            </a:r>
          </a:p>
          <a:p>
            <a:pPr lvl="2"/>
            <a:r>
              <a:rPr lang="en-GB" sz="1600" dirty="0">
                <a:solidFill>
                  <a:srgbClr val="003B66"/>
                </a:solidFill>
                <a:latin typeface="Aptos" panose="020B0004020202020204" pitchFamily="34" charset="0"/>
              </a:rPr>
              <a:t>The app acts as a hub at the centre of a networked system. App can form and send more than 2,000 heterogenous TCP messages per second. It can receive and parse more than 2,000 heterogenous TCP messages per second.</a:t>
            </a:r>
          </a:p>
          <a:p>
            <a:pPr lvl="2"/>
            <a:r>
              <a:rPr lang="en-GB" sz="1600" dirty="0">
                <a:solidFill>
                  <a:srgbClr val="003B66"/>
                </a:solidFill>
                <a:latin typeface="Aptos" panose="020B0004020202020204" pitchFamily="34" charset="0"/>
              </a:rPr>
              <a:t>Uses around </a:t>
            </a:r>
            <a:r>
              <a:rPr lang="en-GB" sz="1600" b="1" dirty="0">
                <a:solidFill>
                  <a:srgbClr val="003B66"/>
                </a:solidFill>
                <a:latin typeface="Aptos" panose="020B0004020202020204" pitchFamily="34" charset="0"/>
              </a:rPr>
              <a:t>820 MB</a:t>
            </a:r>
            <a:r>
              <a:rPr lang="en-GB" sz="1600" dirty="0">
                <a:solidFill>
                  <a:srgbClr val="003B66"/>
                </a:solidFill>
                <a:latin typeface="Aptos" panose="020B0004020202020204" pitchFamily="34" charset="0"/>
              </a:rPr>
              <a:t> of memory (Private Bytes)</a:t>
            </a:r>
          </a:p>
          <a:p>
            <a:pPr lvl="2"/>
            <a:r>
              <a:rPr lang="en-GB" sz="1600" dirty="0">
                <a:solidFill>
                  <a:srgbClr val="003B66"/>
                </a:solidFill>
                <a:latin typeface="Aptos" panose="020B0004020202020204" pitchFamily="34" charset="0"/>
              </a:rPr>
              <a:t>The app runs on a dedicated Windows 11 workstation with </a:t>
            </a:r>
            <a:r>
              <a:rPr lang="en-GB" sz="1600" b="1" dirty="0">
                <a:solidFill>
                  <a:srgbClr val="003B66"/>
                </a:solidFill>
                <a:latin typeface="Aptos" panose="020B0004020202020204" pitchFamily="34" charset="0"/>
              </a:rPr>
              <a:t>16 GB of memory</a:t>
            </a:r>
            <a:r>
              <a:rPr lang="en-GB" sz="1600" dirty="0">
                <a:solidFill>
                  <a:srgbClr val="003B66"/>
                </a:solidFill>
                <a:latin typeface="Aptos" panose="020B0004020202020204" pitchFamily="34" charset="0"/>
              </a:rPr>
              <a:t>.</a:t>
            </a:r>
          </a:p>
          <a:p>
            <a:pPr lvl="3"/>
            <a:r>
              <a:rPr lang="en-GB" sz="1400" dirty="0">
                <a:solidFill>
                  <a:srgbClr val="003B66"/>
                </a:solidFill>
                <a:latin typeface="Aptos" panose="020B0004020202020204" pitchFamily="34" charset="0"/>
              </a:rPr>
              <a:t>820 MB is small compared to the available 16 GB.</a:t>
            </a:r>
            <a:endParaRPr lang="en-GB" sz="1600" dirty="0">
              <a:solidFill>
                <a:srgbClr val="003B66"/>
              </a:solidFill>
              <a:latin typeface="Aptos" panose="020B0004020202020204" pitchFamily="34" charset="0"/>
            </a:endParaRPr>
          </a:p>
          <a:p>
            <a:pPr lvl="1"/>
            <a:r>
              <a:rPr lang="en-GB" sz="2000" dirty="0">
                <a:solidFill>
                  <a:srgbClr val="003B66"/>
                </a:solidFill>
                <a:latin typeface="Aptos" panose="020B0004020202020204" pitchFamily="34" charset="0"/>
              </a:rPr>
              <a:t>Example 2 (personal experience):</a:t>
            </a:r>
          </a:p>
          <a:p>
            <a:pPr lvl="2"/>
            <a:r>
              <a:rPr lang="en-GB" sz="1600" dirty="0">
                <a:solidFill>
                  <a:srgbClr val="003B66"/>
                </a:solidFill>
                <a:latin typeface="Aptos" panose="020B0004020202020204" pitchFamily="34" charset="0"/>
              </a:rPr>
              <a:t>Set of seven different cRIO apps. Each containing around 1,000 VIs organised in several DQMH modules, as well as several classes and libraries.</a:t>
            </a:r>
          </a:p>
          <a:p>
            <a:pPr lvl="2"/>
            <a:r>
              <a:rPr lang="en-GB" sz="1600" dirty="0">
                <a:solidFill>
                  <a:srgbClr val="003B66"/>
                </a:solidFill>
                <a:latin typeface="Aptos" panose="020B0004020202020204" pitchFamily="34" charset="0"/>
              </a:rPr>
              <a:t>Each of them acquires analogue and digital channels using DAQmx and control outputs via FPGA I/O nodes.</a:t>
            </a:r>
          </a:p>
          <a:p>
            <a:pPr lvl="2"/>
            <a:r>
              <a:rPr lang="en-GB" sz="1600" dirty="0">
                <a:solidFill>
                  <a:srgbClr val="003B66"/>
                </a:solidFill>
                <a:latin typeface="Aptos" panose="020B0004020202020204" pitchFamily="34" charset="0"/>
              </a:rPr>
              <a:t>Each of them can send up to 200 TCP messages per second to the Windows app.</a:t>
            </a:r>
          </a:p>
          <a:p>
            <a:pPr lvl="2"/>
            <a:r>
              <a:rPr lang="en-GB" sz="1600" dirty="0">
                <a:solidFill>
                  <a:srgbClr val="003B66"/>
                </a:solidFill>
                <a:latin typeface="Aptos" panose="020B0004020202020204" pitchFamily="34" charset="0"/>
              </a:rPr>
              <a:t>Each of them uses around 30% of the memory available in cRIO-9045.</a:t>
            </a:r>
          </a:p>
          <a:p>
            <a:pPr lvl="2"/>
            <a:endParaRPr lang="en-GB" sz="1200" dirty="0">
              <a:solidFill>
                <a:srgbClr val="003B66"/>
              </a:solidFill>
              <a:latin typeface="Aptos" panose="020B0004020202020204" pitchFamily="34" charset="0"/>
            </a:endParaRPr>
          </a:p>
        </p:txBody>
      </p:sp>
      <p:sp>
        <p:nvSpPr>
          <p:cNvPr id="4" name="Slide Number Placeholder 3">
            <a:extLst>
              <a:ext uri="{FF2B5EF4-FFF2-40B4-BE49-F238E27FC236}">
                <a16:creationId xmlns:a16="http://schemas.microsoft.com/office/drawing/2014/main" id="{87469AF3-4E76-0CDB-5199-CDD580142589}"/>
              </a:ext>
            </a:extLst>
          </p:cNvPr>
          <p:cNvSpPr>
            <a:spLocks noGrp="1"/>
          </p:cNvSpPr>
          <p:nvPr>
            <p:ph type="sldNum" sz="quarter" idx="12"/>
          </p:nvPr>
        </p:nvSpPr>
        <p:spPr/>
        <p:txBody>
          <a:bodyPr/>
          <a:lstStyle/>
          <a:p>
            <a:fld id="{A5BC3523-C363-4BFA-8941-CE9ECEEECBA2}" type="slidenum">
              <a:rPr lang="en-GB" smtClean="0"/>
              <a:t>44</a:t>
            </a:fld>
            <a:endParaRPr lang="en-GB" dirty="0"/>
          </a:p>
        </p:txBody>
      </p:sp>
    </p:spTree>
    <p:extLst>
      <p:ext uri="{BB962C8B-B14F-4D97-AF65-F5344CB8AC3E}">
        <p14:creationId xmlns:p14="http://schemas.microsoft.com/office/powerpoint/2010/main" val="3144991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ECBDF-5FAA-136B-7EF0-F5533A90B8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D03656-C790-DA9C-3CBE-5A6732838F58}"/>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Common objections</a:t>
            </a:r>
          </a:p>
        </p:txBody>
      </p:sp>
      <p:sp>
        <p:nvSpPr>
          <p:cNvPr id="3" name="Content Placeholder 2">
            <a:extLst>
              <a:ext uri="{FF2B5EF4-FFF2-40B4-BE49-F238E27FC236}">
                <a16:creationId xmlns:a16="http://schemas.microsoft.com/office/drawing/2014/main" id="{F0C3F828-ECF4-4CAE-FA90-6D9B5DCC3950}"/>
              </a:ext>
            </a:extLst>
          </p:cNvPr>
          <p:cNvSpPr>
            <a:spLocks noGrp="1"/>
          </p:cNvSpPr>
          <p:nvPr>
            <p:ph idx="1"/>
          </p:nvPr>
        </p:nvSpPr>
        <p:spPr>
          <a:xfrm>
            <a:off x="838200" y="1027290"/>
            <a:ext cx="10838512" cy="5620398"/>
          </a:xfrm>
        </p:spPr>
        <p:txBody>
          <a:bodyPr>
            <a:normAutofit/>
          </a:bodyPr>
          <a:lstStyle/>
          <a:p>
            <a:r>
              <a:rPr lang="en-GB" sz="2000" b="1" dirty="0">
                <a:solidFill>
                  <a:srgbClr val="003B66"/>
                </a:solidFill>
                <a:latin typeface="Aptos" panose="020B0004020202020204" pitchFamily="34" charset="0"/>
              </a:rPr>
              <a:t>Objection 2</a:t>
            </a:r>
            <a:r>
              <a:rPr lang="en-GB" sz="2000" dirty="0">
                <a:solidFill>
                  <a:srgbClr val="003B66"/>
                </a:solidFill>
                <a:latin typeface="Aptos" panose="020B0004020202020204" pitchFamily="34" charset="0"/>
              </a:rPr>
              <a:t>: PCR VIs are hard to debug</a:t>
            </a:r>
          </a:p>
          <a:p>
            <a:pPr lvl="1"/>
            <a:r>
              <a:rPr lang="en-GB" sz="2000" dirty="0">
                <a:solidFill>
                  <a:srgbClr val="003B66"/>
                </a:solidFill>
                <a:latin typeface="Aptos" panose="020B0004020202020204" pitchFamily="34" charset="0"/>
              </a:rPr>
              <a:t>Probes and breakpoints are fully supported in PCR VIs. Placing probes and breakpoints is not harder at all.</a:t>
            </a:r>
          </a:p>
          <a:p>
            <a:pPr lvl="1"/>
            <a:r>
              <a:rPr lang="en-GB" sz="2000" dirty="0">
                <a:solidFill>
                  <a:srgbClr val="003B66"/>
                </a:solidFill>
                <a:latin typeface="Aptos" panose="020B0004020202020204" pitchFamily="34" charset="0"/>
              </a:rPr>
              <a:t>PCR VIs are the simplest to reason about. The call site being debugged is independent of all other call sites. You can rest assured that no other call sites affect the instance you are debugging.</a:t>
            </a:r>
          </a:p>
          <a:p>
            <a:r>
              <a:rPr lang="en-GB" sz="2000" b="1" dirty="0">
                <a:solidFill>
                  <a:srgbClr val="003B66"/>
                </a:solidFill>
                <a:latin typeface="Aptos" panose="020B0004020202020204" pitchFamily="34" charset="0"/>
              </a:rPr>
              <a:t>Objection 3</a:t>
            </a:r>
            <a:r>
              <a:rPr lang="en-GB" sz="2000" dirty="0">
                <a:solidFill>
                  <a:srgbClr val="003B66"/>
                </a:solidFill>
                <a:latin typeface="Aptos" panose="020B0004020202020204" pitchFamily="34" charset="0"/>
              </a:rPr>
              <a:t>: PCR VIs sometimes look “weird”</a:t>
            </a:r>
          </a:p>
          <a:p>
            <a:pPr lvl="1"/>
            <a:r>
              <a:rPr lang="en-GB" sz="2000" dirty="0">
                <a:solidFill>
                  <a:srgbClr val="003B66"/>
                </a:solidFill>
                <a:latin typeface="Aptos" panose="020B0004020202020204" pitchFamily="34" charset="0"/>
              </a:rPr>
              <a:t>When opening a clone VI from the diagram of a caller VI, the clone VI sometimes opens in Run mode.</a:t>
            </a:r>
          </a:p>
          <a:p>
            <a:pPr lvl="1"/>
            <a:r>
              <a:rPr lang="en-GB" sz="2000" dirty="0">
                <a:solidFill>
                  <a:srgbClr val="003B66"/>
                </a:solidFill>
                <a:latin typeface="Aptos" panose="020B0004020202020204" pitchFamily="34" charset="0"/>
              </a:rPr>
              <a:t>Press </a:t>
            </a:r>
            <a:r>
              <a:rPr lang="en-GB" sz="2000" b="1" dirty="0">
                <a:solidFill>
                  <a:srgbClr val="003B66"/>
                </a:solidFill>
                <a:latin typeface="Aptos" panose="020B0004020202020204" pitchFamily="34" charset="0"/>
              </a:rPr>
              <a:t>Ctrl + M</a:t>
            </a:r>
            <a:r>
              <a:rPr lang="en-GB" sz="2000" dirty="0">
                <a:solidFill>
                  <a:srgbClr val="003B66"/>
                </a:solidFill>
                <a:latin typeface="Aptos" panose="020B0004020202020204" pitchFamily="34" charset="0"/>
              </a:rPr>
              <a:t> to bring it back to edit mode (to edit the master blueprint for all call sites)</a:t>
            </a:r>
          </a:p>
          <a:p>
            <a:r>
              <a:rPr lang="en-GB" sz="2000" b="1" dirty="0">
                <a:solidFill>
                  <a:srgbClr val="003B66"/>
                </a:solidFill>
                <a:latin typeface="Aptos" panose="020B0004020202020204" pitchFamily="34" charset="0"/>
              </a:rPr>
              <a:t>Objection 4: </a:t>
            </a:r>
            <a:r>
              <a:rPr lang="en-GB" sz="2000" dirty="0">
                <a:solidFill>
                  <a:srgbClr val="003B66"/>
                </a:solidFill>
                <a:latin typeface="Aptos" panose="020B0004020202020204" pitchFamily="34" charset="0"/>
              </a:rPr>
              <a:t>But I don’t need all this performance anyway</a:t>
            </a:r>
          </a:p>
          <a:p>
            <a:pPr lvl="1"/>
            <a:r>
              <a:rPr lang="en-GB" sz="1600" dirty="0">
                <a:solidFill>
                  <a:srgbClr val="003B66"/>
                </a:solidFill>
                <a:latin typeface="Aptos" panose="020B0004020202020204" pitchFamily="34" charset="0"/>
              </a:rPr>
              <a:t>I agree that many LabVIEW applications are not actively limited by the computational overhead that NR and SCR VIs add. Proof of this are the many LabVIEW applications in which NR VIs dominate. These apps do not suffer bugs and do not experience human-noticeable delays due to NR VIs.</a:t>
            </a:r>
          </a:p>
          <a:p>
            <a:pPr lvl="1"/>
            <a:r>
              <a:rPr lang="en-GB" sz="1600" dirty="0">
                <a:solidFill>
                  <a:srgbClr val="003B66"/>
                </a:solidFill>
                <a:latin typeface="Aptos" panose="020B0004020202020204" pitchFamily="34" charset="0"/>
              </a:rPr>
              <a:t>Use PCR because it’s better from a Software Engineering (clean code) point of view, even if performance is not your priority.</a:t>
            </a:r>
          </a:p>
          <a:p>
            <a:pPr lvl="1"/>
            <a:r>
              <a:rPr lang="en-GB" sz="1600" dirty="0">
                <a:solidFill>
                  <a:srgbClr val="003B66"/>
                </a:solidFill>
                <a:latin typeface="Aptos" panose="020B0004020202020204" pitchFamily="34" charset="0"/>
              </a:rPr>
              <a:t>Use PCR because </a:t>
            </a:r>
            <a:r>
              <a:rPr lang="en-GB" sz="1600" b="1" dirty="0">
                <a:solidFill>
                  <a:srgbClr val="003B66"/>
                </a:solidFill>
                <a:latin typeface="Aptos" panose="020B0004020202020204" pitchFamily="34" charset="0"/>
              </a:rPr>
              <a:t>it’s the setting that works with (not against) LabVIEW’s parallel nature</a:t>
            </a:r>
          </a:p>
        </p:txBody>
      </p:sp>
      <p:sp>
        <p:nvSpPr>
          <p:cNvPr id="4" name="Slide Number Placeholder 3">
            <a:extLst>
              <a:ext uri="{FF2B5EF4-FFF2-40B4-BE49-F238E27FC236}">
                <a16:creationId xmlns:a16="http://schemas.microsoft.com/office/drawing/2014/main" id="{1AC7E70C-B56B-EC5B-FA76-12B0A02D75EE}"/>
              </a:ext>
            </a:extLst>
          </p:cNvPr>
          <p:cNvSpPr>
            <a:spLocks noGrp="1"/>
          </p:cNvSpPr>
          <p:nvPr>
            <p:ph type="sldNum" sz="quarter" idx="12"/>
          </p:nvPr>
        </p:nvSpPr>
        <p:spPr/>
        <p:txBody>
          <a:bodyPr/>
          <a:lstStyle/>
          <a:p>
            <a:fld id="{A5BC3523-C363-4BFA-8941-CE9ECEEECBA2}" type="slidenum">
              <a:rPr lang="en-GB" smtClean="0"/>
              <a:t>45</a:t>
            </a:fld>
            <a:endParaRPr lang="en-GB" dirty="0"/>
          </a:p>
        </p:txBody>
      </p:sp>
    </p:spTree>
    <p:extLst>
      <p:ext uri="{BB962C8B-B14F-4D97-AF65-F5344CB8AC3E}">
        <p14:creationId xmlns:p14="http://schemas.microsoft.com/office/powerpoint/2010/main" val="448405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7FFAC-E369-8B86-4E42-1CD0B42FF2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50D3F8-0E62-BFD6-36F2-C1095ECEE7C1}"/>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PCR Usage In Well-Known VIs</a:t>
            </a:r>
          </a:p>
        </p:txBody>
      </p:sp>
      <p:sp>
        <p:nvSpPr>
          <p:cNvPr id="3" name="Content Placeholder 2">
            <a:extLst>
              <a:ext uri="{FF2B5EF4-FFF2-40B4-BE49-F238E27FC236}">
                <a16:creationId xmlns:a16="http://schemas.microsoft.com/office/drawing/2014/main" id="{63CD0D03-613A-2C6F-63F7-9608AC92E74B}"/>
              </a:ext>
            </a:extLst>
          </p:cNvPr>
          <p:cNvSpPr>
            <a:spLocks noGrp="1"/>
          </p:cNvSpPr>
          <p:nvPr>
            <p:ph idx="1"/>
          </p:nvPr>
        </p:nvSpPr>
        <p:spPr>
          <a:xfrm>
            <a:off x="838200" y="1027291"/>
            <a:ext cx="10838512" cy="4228104"/>
          </a:xfrm>
        </p:spPr>
        <p:txBody>
          <a:bodyPr>
            <a:normAutofit/>
          </a:bodyPr>
          <a:lstStyle/>
          <a:p>
            <a:r>
              <a:rPr lang="en-GB" sz="2000" dirty="0">
                <a:solidFill>
                  <a:srgbClr val="003B66"/>
                </a:solidFill>
                <a:latin typeface="Aptos" panose="020B0004020202020204" pitchFamily="34" charset="0"/>
              </a:rPr>
              <a:t>Ok, if PCR is so great, do any VIs I know use it?</a:t>
            </a:r>
          </a:p>
          <a:p>
            <a:pPr lvl="1"/>
            <a:r>
              <a:rPr lang="en-GB" sz="1600" dirty="0">
                <a:solidFill>
                  <a:srgbClr val="003B66"/>
                </a:solidFill>
                <a:latin typeface="Aptos" panose="020B0004020202020204" pitchFamily="34" charset="0"/>
              </a:rPr>
              <a:t>Yes, lots of native VIs are correctly set to PCR. Native VIs = VIs that ship with LabVIEW. Most are located in vi.lib.</a:t>
            </a:r>
          </a:p>
        </p:txBody>
      </p:sp>
      <p:sp>
        <p:nvSpPr>
          <p:cNvPr id="4" name="Slide Number Placeholder 3">
            <a:extLst>
              <a:ext uri="{FF2B5EF4-FFF2-40B4-BE49-F238E27FC236}">
                <a16:creationId xmlns:a16="http://schemas.microsoft.com/office/drawing/2014/main" id="{16A942A1-CA7C-711F-CB99-286B83567237}"/>
              </a:ext>
            </a:extLst>
          </p:cNvPr>
          <p:cNvSpPr>
            <a:spLocks noGrp="1"/>
          </p:cNvSpPr>
          <p:nvPr>
            <p:ph type="sldNum" sz="quarter" idx="12"/>
          </p:nvPr>
        </p:nvSpPr>
        <p:spPr/>
        <p:txBody>
          <a:bodyPr/>
          <a:lstStyle/>
          <a:p>
            <a:fld id="{A5BC3523-C363-4BFA-8941-CE9ECEEECBA2}" type="slidenum">
              <a:rPr lang="en-GB" smtClean="0"/>
              <a:t>46</a:t>
            </a:fld>
            <a:endParaRPr lang="en-GB" dirty="0"/>
          </a:p>
        </p:txBody>
      </p:sp>
      <p:pic>
        <p:nvPicPr>
          <p:cNvPr id="6" name="Picture 5">
            <a:extLst>
              <a:ext uri="{FF2B5EF4-FFF2-40B4-BE49-F238E27FC236}">
                <a16:creationId xmlns:a16="http://schemas.microsoft.com/office/drawing/2014/main" id="{D39C69D1-A245-CF3A-2DC8-68BC2DF0B7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666091"/>
            <a:ext cx="6660000" cy="5055281"/>
          </a:xfrm>
          <a:prstGeom prst="rect">
            <a:avLst/>
          </a:prstGeom>
        </p:spPr>
      </p:pic>
    </p:spTree>
    <p:extLst>
      <p:ext uri="{BB962C8B-B14F-4D97-AF65-F5344CB8AC3E}">
        <p14:creationId xmlns:p14="http://schemas.microsoft.com/office/powerpoint/2010/main" val="37106056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0C1DA-7C71-DB6B-1B2D-6D53262280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CA5430-AF04-1863-2415-DDBD5455CBBD}"/>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PCR Usage In Well-Known VIs</a:t>
            </a:r>
          </a:p>
        </p:txBody>
      </p:sp>
      <p:sp>
        <p:nvSpPr>
          <p:cNvPr id="3" name="Content Placeholder 2">
            <a:extLst>
              <a:ext uri="{FF2B5EF4-FFF2-40B4-BE49-F238E27FC236}">
                <a16:creationId xmlns:a16="http://schemas.microsoft.com/office/drawing/2014/main" id="{745ADE17-070B-AF5E-116D-6AFFC326B413}"/>
              </a:ext>
            </a:extLst>
          </p:cNvPr>
          <p:cNvSpPr>
            <a:spLocks noGrp="1"/>
          </p:cNvSpPr>
          <p:nvPr>
            <p:ph idx="1"/>
          </p:nvPr>
        </p:nvSpPr>
        <p:spPr>
          <a:xfrm>
            <a:off x="838200" y="1027291"/>
            <a:ext cx="10838512" cy="4228104"/>
          </a:xfrm>
        </p:spPr>
        <p:txBody>
          <a:bodyPr>
            <a:normAutofit/>
          </a:bodyPr>
          <a:lstStyle/>
          <a:p>
            <a:r>
              <a:rPr lang="en-GB" sz="2000" dirty="0">
                <a:solidFill>
                  <a:srgbClr val="003B66"/>
                </a:solidFill>
                <a:latin typeface="Aptos" panose="020B0004020202020204" pitchFamily="34" charset="0"/>
              </a:rPr>
              <a:t>Lots of popular OpenG VIs correctly </a:t>
            </a:r>
            <a:r>
              <a:rPr lang="en-GB" sz="2000">
                <a:solidFill>
                  <a:srgbClr val="003B66"/>
                </a:solidFill>
                <a:latin typeface="Aptos" panose="020B0004020202020204" pitchFamily="34" charset="0"/>
              </a:rPr>
              <a:t>use PCR</a:t>
            </a:r>
            <a:endParaRPr lang="en-GB" sz="2000" dirty="0">
              <a:solidFill>
                <a:srgbClr val="003B66"/>
              </a:solidFill>
              <a:latin typeface="Aptos" panose="020B0004020202020204" pitchFamily="34" charset="0"/>
            </a:endParaRPr>
          </a:p>
        </p:txBody>
      </p:sp>
      <p:sp>
        <p:nvSpPr>
          <p:cNvPr id="4" name="Slide Number Placeholder 3">
            <a:extLst>
              <a:ext uri="{FF2B5EF4-FFF2-40B4-BE49-F238E27FC236}">
                <a16:creationId xmlns:a16="http://schemas.microsoft.com/office/drawing/2014/main" id="{BBA7834C-1652-7D58-8B4C-8572F1921874}"/>
              </a:ext>
            </a:extLst>
          </p:cNvPr>
          <p:cNvSpPr>
            <a:spLocks noGrp="1"/>
          </p:cNvSpPr>
          <p:nvPr>
            <p:ph type="sldNum" sz="quarter" idx="12"/>
          </p:nvPr>
        </p:nvSpPr>
        <p:spPr/>
        <p:txBody>
          <a:bodyPr/>
          <a:lstStyle/>
          <a:p>
            <a:fld id="{A5BC3523-C363-4BFA-8941-CE9ECEEECBA2}" type="slidenum">
              <a:rPr lang="en-GB" smtClean="0"/>
              <a:t>47</a:t>
            </a:fld>
            <a:endParaRPr lang="en-GB" dirty="0"/>
          </a:p>
        </p:txBody>
      </p:sp>
      <p:pic>
        <p:nvPicPr>
          <p:cNvPr id="8" name="Picture 7">
            <a:extLst>
              <a:ext uri="{FF2B5EF4-FFF2-40B4-BE49-F238E27FC236}">
                <a16:creationId xmlns:a16="http://schemas.microsoft.com/office/drawing/2014/main" id="{A21D3857-F227-C3FC-D595-C6516427F7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483211"/>
            <a:ext cx="6763694" cy="3296110"/>
          </a:xfrm>
          <a:prstGeom prst="rect">
            <a:avLst/>
          </a:prstGeom>
        </p:spPr>
      </p:pic>
    </p:spTree>
    <p:extLst>
      <p:ext uri="{BB962C8B-B14F-4D97-AF65-F5344CB8AC3E}">
        <p14:creationId xmlns:p14="http://schemas.microsoft.com/office/powerpoint/2010/main" val="34748767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6F542-0ED5-7225-5575-E6B15E69AF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C6C0E-0C5A-AEC6-65F0-EA9F6DFF5972}"/>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LabVIEW Ideas</a:t>
            </a:r>
          </a:p>
        </p:txBody>
      </p:sp>
      <p:sp>
        <p:nvSpPr>
          <p:cNvPr id="3" name="Content Placeholder 2">
            <a:extLst>
              <a:ext uri="{FF2B5EF4-FFF2-40B4-BE49-F238E27FC236}">
                <a16:creationId xmlns:a16="http://schemas.microsoft.com/office/drawing/2014/main" id="{06A851AB-B0A4-1133-5FD6-10CA49EC5D85}"/>
              </a:ext>
            </a:extLst>
          </p:cNvPr>
          <p:cNvSpPr>
            <a:spLocks noGrp="1"/>
          </p:cNvSpPr>
          <p:nvPr>
            <p:ph idx="1"/>
          </p:nvPr>
        </p:nvSpPr>
        <p:spPr>
          <a:xfrm>
            <a:off x="838200" y="1027291"/>
            <a:ext cx="10838512" cy="4228104"/>
          </a:xfrm>
        </p:spPr>
        <p:txBody>
          <a:bodyPr>
            <a:normAutofit/>
          </a:bodyPr>
          <a:lstStyle/>
          <a:p>
            <a:r>
              <a:rPr lang="en-GB" sz="2000" dirty="0">
                <a:solidFill>
                  <a:srgbClr val="003B66"/>
                </a:solidFill>
                <a:latin typeface="Aptos" panose="020B0004020202020204" pitchFamily="34" charset="0"/>
              </a:rPr>
              <a:t>Unfortunately, there are lots of native VIs that are set to Non-</a:t>
            </a:r>
            <a:r>
              <a:rPr lang="en-GB" sz="2000" dirty="0" err="1">
                <a:solidFill>
                  <a:srgbClr val="003B66"/>
                </a:solidFill>
                <a:latin typeface="Aptos" panose="020B0004020202020204" pitchFamily="34" charset="0"/>
              </a:rPr>
              <a:t>Reentrant</a:t>
            </a:r>
            <a:r>
              <a:rPr lang="en-GB" sz="2000" dirty="0">
                <a:solidFill>
                  <a:srgbClr val="003B66"/>
                </a:solidFill>
                <a:latin typeface="Aptos" panose="020B0004020202020204" pitchFamily="34" charset="0"/>
              </a:rPr>
              <a:t>. These should be set to PCR (or SCR where PCR is not available).</a:t>
            </a:r>
            <a:endParaRPr lang="en-GB" sz="1600" dirty="0">
              <a:solidFill>
                <a:srgbClr val="003B66"/>
              </a:solidFill>
              <a:latin typeface="Aptos" panose="020B0004020202020204" pitchFamily="34" charset="0"/>
            </a:endParaRPr>
          </a:p>
        </p:txBody>
      </p:sp>
      <p:sp>
        <p:nvSpPr>
          <p:cNvPr id="4" name="Slide Number Placeholder 3">
            <a:extLst>
              <a:ext uri="{FF2B5EF4-FFF2-40B4-BE49-F238E27FC236}">
                <a16:creationId xmlns:a16="http://schemas.microsoft.com/office/drawing/2014/main" id="{2F1D6456-08F1-DF75-6063-A2B3353B2C4F}"/>
              </a:ext>
            </a:extLst>
          </p:cNvPr>
          <p:cNvSpPr>
            <a:spLocks noGrp="1"/>
          </p:cNvSpPr>
          <p:nvPr>
            <p:ph type="sldNum" sz="quarter" idx="12"/>
          </p:nvPr>
        </p:nvSpPr>
        <p:spPr/>
        <p:txBody>
          <a:bodyPr/>
          <a:lstStyle/>
          <a:p>
            <a:fld id="{A5BC3523-C363-4BFA-8941-CE9ECEEECBA2}" type="slidenum">
              <a:rPr lang="en-GB" smtClean="0"/>
              <a:t>48</a:t>
            </a:fld>
            <a:endParaRPr lang="en-GB" dirty="0"/>
          </a:p>
        </p:txBody>
      </p:sp>
      <p:pic>
        <p:nvPicPr>
          <p:cNvPr id="6" name="Picture 5">
            <a:extLst>
              <a:ext uri="{FF2B5EF4-FFF2-40B4-BE49-F238E27FC236}">
                <a16:creationId xmlns:a16="http://schemas.microsoft.com/office/drawing/2014/main" id="{F9BBC8ED-C80E-658A-3FC0-F2D68E32C6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7456" y="1740370"/>
            <a:ext cx="9000000" cy="3792383"/>
          </a:xfrm>
          <a:prstGeom prst="rect">
            <a:avLst/>
          </a:prstGeom>
        </p:spPr>
      </p:pic>
    </p:spTree>
    <p:extLst>
      <p:ext uri="{BB962C8B-B14F-4D97-AF65-F5344CB8AC3E}">
        <p14:creationId xmlns:p14="http://schemas.microsoft.com/office/powerpoint/2010/main" val="23255589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E82DD-E145-9324-A2E5-0DEB591FC0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39CC20-6866-02FB-930E-ABAFCB3E33FB}"/>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LabVIEW Ideas</a:t>
            </a:r>
          </a:p>
        </p:txBody>
      </p:sp>
      <p:sp>
        <p:nvSpPr>
          <p:cNvPr id="3" name="Content Placeholder 2">
            <a:extLst>
              <a:ext uri="{FF2B5EF4-FFF2-40B4-BE49-F238E27FC236}">
                <a16:creationId xmlns:a16="http://schemas.microsoft.com/office/drawing/2014/main" id="{C0D0D89C-541C-C262-FBDA-1A5FF15A2641}"/>
              </a:ext>
            </a:extLst>
          </p:cNvPr>
          <p:cNvSpPr>
            <a:spLocks noGrp="1"/>
          </p:cNvSpPr>
          <p:nvPr>
            <p:ph idx="1"/>
          </p:nvPr>
        </p:nvSpPr>
        <p:spPr>
          <a:xfrm>
            <a:off x="838200" y="1027291"/>
            <a:ext cx="10838512" cy="4228104"/>
          </a:xfrm>
        </p:spPr>
        <p:txBody>
          <a:bodyPr>
            <a:normAutofit/>
          </a:bodyPr>
          <a:lstStyle/>
          <a:p>
            <a:r>
              <a:rPr lang="en-GB" sz="2000" dirty="0">
                <a:solidFill>
                  <a:srgbClr val="003B66"/>
                </a:solidFill>
                <a:latin typeface="Aptos" panose="020B0004020202020204" pitchFamily="34" charset="0"/>
              </a:rPr>
              <a:t>Unfortunately, there are lots of native VIs that are set to Non-</a:t>
            </a:r>
            <a:r>
              <a:rPr lang="en-GB" sz="2000" dirty="0" err="1">
                <a:solidFill>
                  <a:srgbClr val="003B66"/>
                </a:solidFill>
                <a:latin typeface="Aptos" panose="020B0004020202020204" pitchFamily="34" charset="0"/>
              </a:rPr>
              <a:t>Reentrant</a:t>
            </a:r>
            <a:r>
              <a:rPr lang="en-GB" sz="2000" dirty="0">
                <a:solidFill>
                  <a:srgbClr val="003B66"/>
                </a:solidFill>
                <a:latin typeface="Aptos" panose="020B0004020202020204" pitchFamily="34" charset="0"/>
              </a:rPr>
              <a:t>. These should be set to PCR (or SCR where PCR is not available).</a:t>
            </a:r>
            <a:endParaRPr lang="en-GB" sz="1600" dirty="0">
              <a:solidFill>
                <a:srgbClr val="003B66"/>
              </a:solidFill>
              <a:latin typeface="Aptos" panose="020B0004020202020204" pitchFamily="34" charset="0"/>
            </a:endParaRPr>
          </a:p>
        </p:txBody>
      </p:sp>
      <p:sp>
        <p:nvSpPr>
          <p:cNvPr id="4" name="Slide Number Placeholder 3">
            <a:extLst>
              <a:ext uri="{FF2B5EF4-FFF2-40B4-BE49-F238E27FC236}">
                <a16:creationId xmlns:a16="http://schemas.microsoft.com/office/drawing/2014/main" id="{316EBB93-87E6-53EA-11F7-7B4951D56ED2}"/>
              </a:ext>
            </a:extLst>
          </p:cNvPr>
          <p:cNvSpPr>
            <a:spLocks noGrp="1"/>
          </p:cNvSpPr>
          <p:nvPr>
            <p:ph type="sldNum" sz="quarter" idx="12"/>
          </p:nvPr>
        </p:nvSpPr>
        <p:spPr/>
        <p:txBody>
          <a:bodyPr/>
          <a:lstStyle/>
          <a:p>
            <a:fld id="{A5BC3523-C363-4BFA-8941-CE9ECEEECBA2}" type="slidenum">
              <a:rPr lang="en-GB" smtClean="0"/>
              <a:t>49</a:t>
            </a:fld>
            <a:endParaRPr lang="en-GB" dirty="0"/>
          </a:p>
        </p:txBody>
      </p:sp>
      <p:pic>
        <p:nvPicPr>
          <p:cNvPr id="7" name="Picture 6">
            <a:extLst>
              <a:ext uri="{FF2B5EF4-FFF2-40B4-BE49-F238E27FC236}">
                <a16:creationId xmlns:a16="http://schemas.microsoft.com/office/drawing/2014/main" id="{19A0F0BF-F744-318A-8EDE-032460166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7456" y="1691640"/>
            <a:ext cx="7200000" cy="4464380"/>
          </a:xfrm>
          <a:prstGeom prst="rect">
            <a:avLst/>
          </a:prstGeom>
        </p:spPr>
      </p:pic>
    </p:spTree>
    <p:extLst>
      <p:ext uri="{BB962C8B-B14F-4D97-AF65-F5344CB8AC3E}">
        <p14:creationId xmlns:p14="http://schemas.microsoft.com/office/powerpoint/2010/main" val="15960137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33344-B8B0-DE4C-677F-8387C4C64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14FE5-1461-5963-A5A5-7E97AD888BE0}"/>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LabVIEW Ideas</a:t>
            </a:r>
          </a:p>
        </p:txBody>
      </p:sp>
      <p:sp>
        <p:nvSpPr>
          <p:cNvPr id="3" name="Content Placeholder 2">
            <a:extLst>
              <a:ext uri="{FF2B5EF4-FFF2-40B4-BE49-F238E27FC236}">
                <a16:creationId xmlns:a16="http://schemas.microsoft.com/office/drawing/2014/main" id="{1D9D3D3D-353F-0C76-2FF7-E833FD5BEE47}"/>
              </a:ext>
            </a:extLst>
          </p:cNvPr>
          <p:cNvSpPr>
            <a:spLocks noGrp="1"/>
          </p:cNvSpPr>
          <p:nvPr>
            <p:ph idx="1"/>
          </p:nvPr>
        </p:nvSpPr>
        <p:spPr>
          <a:xfrm>
            <a:off x="838200" y="1027290"/>
            <a:ext cx="10838512" cy="5565534"/>
          </a:xfrm>
        </p:spPr>
        <p:txBody>
          <a:bodyPr>
            <a:normAutofit/>
          </a:bodyPr>
          <a:lstStyle/>
          <a:p>
            <a:r>
              <a:rPr lang="en-GB" sz="2000" dirty="0">
                <a:solidFill>
                  <a:srgbClr val="003B66"/>
                </a:solidFill>
                <a:latin typeface="Aptos" panose="020B0004020202020204" pitchFamily="34" charset="0"/>
              </a:rPr>
              <a:t>This idea asks for more native VIs to be set to PCR: </a:t>
            </a:r>
            <a:r>
              <a:rPr lang="en-GB" sz="2000" dirty="0">
                <a:solidFill>
                  <a:srgbClr val="003B66"/>
                </a:solidFill>
                <a:latin typeface="Aptos" panose="020B0004020202020204" pitchFamily="34" charset="0"/>
                <a:hlinkClick r:id="rId3"/>
              </a:rPr>
              <a:t>https://forums.ni.com/t5/LabVIEW-Idea-Exchange/Many-native-VIs-that-are-currently-Non-reentrant-should-be/idi-p/4429431</a:t>
            </a:r>
            <a:r>
              <a:rPr lang="en-GB" sz="2000" dirty="0">
                <a:solidFill>
                  <a:srgbClr val="003B66"/>
                </a:solidFill>
                <a:latin typeface="Aptos" panose="020B0004020202020204" pitchFamily="34" charset="0"/>
              </a:rPr>
              <a:t> </a:t>
            </a:r>
          </a:p>
          <a:p>
            <a:endParaRPr lang="en-GB" sz="2000" dirty="0">
              <a:solidFill>
                <a:srgbClr val="003B66"/>
              </a:solidFill>
              <a:latin typeface="Aptos" panose="020B0004020202020204" pitchFamily="34" charset="0"/>
            </a:endParaRPr>
          </a:p>
          <a:p>
            <a:endParaRPr lang="en-GB" sz="2000" dirty="0">
              <a:solidFill>
                <a:srgbClr val="003B66"/>
              </a:solidFill>
              <a:latin typeface="Aptos" panose="020B0004020202020204" pitchFamily="34" charset="0"/>
            </a:endParaRPr>
          </a:p>
          <a:p>
            <a:endParaRPr lang="en-GB" sz="2000" dirty="0">
              <a:solidFill>
                <a:srgbClr val="003B66"/>
              </a:solidFill>
              <a:latin typeface="Aptos" panose="020B0004020202020204" pitchFamily="34" charset="0"/>
            </a:endParaRPr>
          </a:p>
          <a:p>
            <a:endParaRPr lang="en-GB" sz="2000" dirty="0">
              <a:solidFill>
                <a:srgbClr val="003B66"/>
              </a:solidFill>
              <a:latin typeface="Aptos" panose="020B0004020202020204" pitchFamily="34" charset="0"/>
            </a:endParaRPr>
          </a:p>
          <a:p>
            <a:endParaRPr lang="en-GB" sz="2000" dirty="0">
              <a:solidFill>
                <a:srgbClr val="003B66"/>
              </a:solidFill>
              <a:latin typeface="Aptos" panose="020B0004020202020204" pitchFamily="34" charset="0"/>
            </a:endParaRPr>
          </a:p>
          <a:p>
            <a:endParaRPr lang="en-GB" sz="2000" dirty="0">
              <a:solidFill>
                <a:srgbClr val="003B66"/>
              </a:solidFill>
              <a:latin typeface="Aptos" panose="020B0004020202020204" pitchFamily="34" charset="0"/>
            </a:endParaRPr>
          </a:p>
          <a:p>
            <a:endParaRPr lang="en-GB" sz="2000" dirty="0">
              <a:solidFill>
                <a:srgbClr val="003B66"/>
              </a:solidFill>
              <a:latin typeface="Aptos" panose="020B0004020202020204" pitchFamily="34" charset="0"/>
            </a:endParaRPr>
          </a:p>
          <a:p>
            <a:pPr marL="0" indent="0">
              <a:buNone/>
            </a:pPr>
            <a:endParaRPr lang="en-GB" sz="2000" dirty="0">
              <a:solidFill>
                <a:srgbClr val="003B66"/>
              </a:solidFill>
              <a:latin typeface="Aptos" panose="020B0004020202020204" pitchFamily="34" charset="0"/>
            </a:endParaRPr>
          </a:p>
          <a:p>
            <a:r>
              <a:rPr lang="en-GB" sz="2000" dirty="0">
                <a:solidFill>
                  <a:srgbClr val="003B66"/>
                </a:solidFill>
                <a:latin typeface="Aptos" panose="020B0004020202020204" pitchFamily="34" charset="0"/>
              </a:rPr>
              <a:t>This idea requests that, by default, new VIs should come already set to PCR  (not to NR): </a:t>
            </a:r>
            <a:r>
              <a:rPr lang="en-GB" sz="2000" dirty="0">
                <a:solidFill>
                  <a:srgbClr val="003B66"/>
                </a:solidFill>
                <a:latin typeface="Aptos" panose="020B0004020202020204" pitchFamily="34" charset="0"/>
                <a:hlinkClick r:id="rId4"/>
              </a:rPr>
              <a:t>https://forums.ni.com/t5/LabVIEW-Idea-Exchange/The-reentrancy-of-new-VIs-should-be-quot-Preallocated-clone-quot/idi-p/4429369</a:t>
            </a:r>
            <a:endParaRPr lang="en-GB" sz="2000" dirty="0">
              <a:solidFill>
                <a:srgbClr val="003B66"/>
              </a:solidFill>
              <a:latin typeface="Aptos" panose="020B0004020202020204" pitchFamily="34" charset="0"/>
            </a:endParaRPr>
          </a:p>
          <a:p>
            <a:pPr lvl="1"/>
            <a:r>
              <a:rPr lang="en-GB" sz="1600" dirty="0">
                <a:solidFill>
                  <a:srgbClr val="003B66"/>
                </a:solidFill>
                <a:latin typeface="Aptos" panose="020B0004020202020204" pitchFamily="34" charset="0"/>
              </a:rPr>
              <a:t>Currently the default new VI type (NR) fights against LabVIEW’s parallel nature. PCR works in service of it. </a:t>
            </a:r>
            <a:endParaRPr lang="en-GB" sz="1200" dirty="0">
              <a:solidFill>
                <a:srgbClr val="003B66"/>
              </a:solidFill>
              <a:latin typeface="Aptos" panose="020B0004020202020204" pitchFamily="34" charset="0"/>
            </a:endParaRPr>
          </a:p>
        </p:txBody>
      </p:sp>
      <p:sp>
        <p:nvSpPr>
          <p:cNvPr id="4" name="Slide Number Placeholder 3">
            <a:extLst>
              <a:ext uri="{FF2B5EF4-FFF2-40B4-BE49-F238E27FC236}">
                <a16:creationId xmlns:a16="http://schemas.microsoft.com/office/drawing/2014/main" id="{CFCAECCE-2F70-5CC6-8BD9-AE04875683CB}"/>
              </a:ext>
            </a:extLst>
          </p:cNvPr>
          <p:cNvSpPr>
            <a:spLocks noGrp="1"/>
          </p:cNvSpPr>
          <p:nvPr>
            <p:ph type="sldNum" sz="quarter" idx="12"/>
          </p:nvPr>
        </p:nvSpPr>
        <p:spPr/>
        <p:txBody>
          <a:bodyPr/>
          <a:lstStyle/>
          <a:p>
            <a:fld id="{A5BC3523-C363-4BFA-8941-CE9ECEEECBA2}" type="slidenum">
              <a:rPr lang="en-GB" smtClean="0"/>
              <a:t>50</a:t>
            </a:fld>
            <a:endParaRPr lang="en-GB" dirty="0"/>
          </a:p>
        </p:txBody>
      </p:sp>
      <p:pic>
        <p:nvPicPr>
          <p:cNvPr id="6" name="Picture 5">
            <a:extLst>
              <a:ext uri="{FF2B5EF4-FFF2-40B4-BE49-F238E27FC236}">
                <a16:creationId xmlns:a16="http://schemas.microsoft.com/office/drawing/2014/main" id="{A5406C7C-B299-9FFC-8CE6-61B0EF5225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03844" y="1794119"/>
            <a:ext cx="9307224" cy="2867425"/>
          </a:xfrm>
          <a:prstGeom prst="rect">
            <a:avLst/>
          </a:prstGeom>
        </p:spPr>
      </p:pic>
    </p:spTree>
    <p:extLst>
      <p:ext uri="{BB962C8B-B14F-4D97-AF65-F5344CB8AC3E}">
        <p14:creationId xmlns:p14="http://schemas.microsoft.com/office/powerpoint/2010/main" val="2993994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5D574-C8C7-E14D-A5D0-A4D9BB289F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5B0DDE-BA65-0CCE-BDE0-070062F78E1C}"/>
              </a:ext>
            </a:extLst>
          </p:cNvPr>
          <p:cNvSpPr>
            <a:spLocks noGrp="1"/>
          </p:cNvSpPr>
          <p:nvPr>
            <p:ph type="title"/>
          </p:nvPr>
        </p:nvSpPr>
        <p:spPr>
          <a:xfrm>
            <a:off x="1" y="365126"/>
            <a:ext cx="11904954" cy="662164"/>
          </a:xfrm>
        </p:spPr>
        <p:txBody>
          <a:bodyPr>
            <a:normAutofit fontScale="90000"/>
          </a:bodyPr>
          <a:lstStyle/>
          <a:p>
            <a:pPr algn="ctr"/>
            <a:r>
              <a:rPr lang="en-GB" dirty="0">
                <a:solidFill>
                  <a:srgbClr val="003B66"/>
                </a:solidFill>
                <a:latin typeface="Aptos Display" panose="020B0004020202020204" pitchFamily="34" charset="0"/>
              </a:rPr>
              <a:t>Multicore Programming Fundamentals Whitepaper Series</a:t>
            </a:r>
          </a:p>
        </p:txBody>
      </p:sp>
      <p:sp>
        <p:nvSpPr>
          <p:cNvPr id="3" name="Content Placeholder 2">
            <a:extLst>
              <a:ext uri="{FF2B5EF4-FFF2-40B4-BE49-F238E27FC236}">
                <a16:creationId xmlns:a16="http://schemas.microsoft.com/office/drawing/2014/main" id="{3F347114-46AC-E6E3-F392-77A8D3E383EF}"/>
              </a:ext>
            </a:extLst>
          </p:cNvPr>
          <p:cNvSpPr>
            <a:spLocks noGrp="1"/>
          </p:cNvSpPr>
          <p:nvPr>
            <p:ph idx="1"/>
          </p:nvPr>
        </p:nvSpPr>
        <p:spPr>
          <a:xfrm>
            <a:off x="838200" y="1027290"/>
            <a:ext cx="10838512" cy="5565533"/>
          </a:xfrm>
        </p:spPr>
        <p:txBody>
          <a:bodyPr>
            <a:normAutofit/>
          </a:bodyPr>
          <a:lstStyle/>
          <a:p>
            <a:r>
              <a:rPr lang="en-GB" sz="2000" dirty="0">
                <a:solidFill>
                  <a:srgbClr val="003B66"/>
                </a:solidFill>
                <a:latin typeface="Aptos" panose="020B0004020202020204" pitchFamily="34" charset="0"/>
              </a:rPr>
              <a:t>There is a useful whitepaper series named “Multicore Programming Fundamentals”: </a:t>
            </a:r>
            <a:r>
              <a:rPr lang="en-GB" sz="2000" dirty="0">
                <a:solidFill>
                  <a:srgbClr val="003B66"/>
                </a:solidFill>
                <a:latin typeface="Aptos" panose="020B0004020202020204" pitchFamily="34" charset="0"/>
                <a:hlinkClick r:id="rId3"/>
              </a:rPr>
              <a:t>https://www.ni.com/en/support/documentation/supplemental/07/multicore-programming-fundamentals.html</a:t>
            </a:r>
            <a:r>
              <a:rPr lang="en-GB" sz="2000" dirty="0">
                <a:solidFill>
                  <a:srgbClr val="003B66"/>
                </a:solidFill>
                <a:latin typeface="Aptos" panose="020B0004020202020204" pitchFamily="34" charset="0"/>
              </a:rPr>
              <a:t> </a:t>
            </a:r>
          </a:p>
        </p:txBody>
      </p:sp>
      <p:sp>
        <p:nvSpPr>
          <p:cNvPr id="4" name="Slide Number Placeholder 3">
            <a:extLst>
              <a:ext uri="{FF2B5EF4-FFF2-40B4-BE49-F238E27FC236}">
                <a16:creationId xmlns:a16="http://schemas.microsoft.com/office/drawing/2014/main" id="{C655FC30-6E7A-D150-5EF2-15D5B6DB845D}"/>
              </a:ext>
            </a:extLst>
          </p:cNvPr>
          <p:cNvSpPr>
            <a:spLocks noGrp="1"/>
          </p:cNvSpPr>
          <p:nvPr>
            <p:ph type="sldNum" sz="quarter" idx="12"/>
          </p:nvPr>
        </p:nvSpPr>
        <p:spPr/>
        <p:txBody>
          <a:bodyPr/>
          <a:lstStyle/>
          <a:p>
            <a:fld id="{A5BC3523-C363-4BFA-8941-CE9ECEEECBA2}" type="slidenum">
              <a:rPr lang="en-GB" smtClean="0"/>
              <a:t>51</a:t>
            </a:fld>
            <a:endParaRPr lang="en-GB" dirty="0"/>
          </a:p>
        </p:txBody>
      </p:sp>
      <p:pic>
        <p:nvPicPr>
          <p:cNvPr id="6" name="Picture 5">
            <a:extLst>
              <a:ext uri="{FF2B5EF4-FFF2-40B4-BE49-F238E27FC236}">
                <a16:creationId xmlns:a16="http://schemas.microsoft.com/office/drawing/2014/main" id="{67F9088C-F6F8-B015-07DE-91DAD393B70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34356" y="1970010"/>
            <a:ext cx="7200000" cy="4522864"/>
          </a:xfrm>
          <a:prstGeom prst="rect">
            <a:avLst/>
          </a:prstGeom>
        </p:spPr>
      </p:pic>
    </p:spTree>
    <p:extLst>
      <p:ext uri="{BB962C8B-B14F-4D97-AF65-F5344CB8AC3E}">
        <p14:creationId xmlns:p14="http://schemas.microsoft.com/office/powerpoint/2010/main" val="35679365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2E9B7-24C4-AA99-CF44-1558F3249D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F485F7-669B-A69C-52A9-B704A0ACDC8A}"/>
              </a:ext>
            </a:extLst>
          </p:cNvPr>
          <p:cNvSpPr>
            <a:spLocks noGrp="1"/>
          </p:cNvSpPr>
          <p:nvPr>
            <p:ph type="title"/>
          </p:nvPr>
        </p:nvSpPr>
        <p:spPr>
          <a:xfrm>
            <a:off x="1" y="365126"/>
            <a:ext cx="11904954" cy="662164"/>
          </a:xfrm>
        </p:spPr>
        <p:txBody>
          <a:bodyPr>
            <a:normAutofit fontScale="90000"/>
          </a:bodyPr>
          <a:lstStyle/>
          <a:p>
            <a:pPr algn="ctr"/>
            <a:r>
              <a:rPr lang="en-GB" dirty="0">
                <a:solidFill>
                  <a:srgbClr val="003B66"/>
                </a:solidFill>
                <a:latin typeface="Aptos Display" panose="020B0004020202020204" pitchFamily="34" charset="0"/>
              </a:rPr>
              <a:t>Multicore Programming Fundamentals Whitepaper Series</a:t>
            </a:r>
          </a:p>
        </p:txBody>
      </p:sp>
      <p:sp>
        <p:nvSpPr>
          <p:cNvPr id="3" name="Content Placeholder 2">
            <a:extLst>
              <a:ext uri="{FF2B5EF4-FFF2-40B4-BE49-F238E27FC236}">
                <a16:creationId xmlns:a16="http://schemas.microsoft.com/office/drawing/2014/main" id="{E62FE728-082D-7758-2654-FA42641C2FC2}"/>
              </a:ext>
            </a:extLst>
          </p:cNvPr>
          <p:cNvSpPr>
            <a:spLocks noGrp="1"/>
          </p:cNvSpPr>
          <p:nvPr>
            <p:ph idx="1"/>
          </p:nvPr>
        </p:nvSpPr>
        <p:spPr>
          <a:xfrm>
            <a:off x="838200" y="1027290"/>
            <a:ext cx="10838512" cy="5565533"/>
          </a:xfrm>
        </p:spPr>
        <p:txBody>
          <a:bodyPr>
            <a:normAutofit/>
          </a:bodyPr>
          <a:lstStyle/>
          <a:p>
            <a:r>
              <a:rPr lang="en-GB" sz="2000" dirty="0">
                <a:solidFill>
                  <a:srgbClr val="003B66"/>
                </a:solidFill>
                <a:latin typeface="Aptos" panose="020B0004020202020204" pitchFamily="34" charset="0"/>
              </a:rPr>
              <a:t>The </a:t>
            </a:r>
            <a:r>
              <a:rPr lang="en-GB" sz="2000" dirty="0">
                <a:solidFill>
                  <a:srgbClr val="003B66"/>
                </a:solidFill>
                <a:latin typeface="Aptos" panose="020B0004020202020204" pitchFamily="34" charset="0"/>
                <a:hlinkClick r:id="rId3"/>
              </a:rPr>
              <a:t>Will My LabVIEW Programs Run Faster When I Upgrade to a Multicore Computer?</a:t>
            </a:r>
            <a:r>
              <a:rPr lang="en-GB" sz="2000" dirty="0">
                <a:solidFill>
                  <a:srgbClr val="003B66"/>
                </a:solidFill>
                <a:latin typeface="Aptos" panose="020B0004020202020204" pitchFamily="34" charset="0"/>
              </a:rPr>
              <a:t> whitepaper mentions that one of the reasons LabVIEW is multicore-ready is that it has re-entrant libraries, and </a:t>
            </a:r>
            <a:r>
              <a:rPr lang="en-GB" sz="2000" b="1" dirty="0">
                <a:solidFill>
                  <a:srgbClr val="003B66"/>
                </a:solidFill>
                <a:latin typeface="Aptos" panose="020B0004020202020204" pitchFamily="34" charset="0"/>
              </a:rPr>
              <a:t>correctly gives mathematical analysis libraries as an example of libraries that contain </a:t>
            </a:r>
            <a:r>
              <a:rPr lang="en-GB" sz="2000" b="1" dirty="0" err="1">
                <a:solidFill>
                  <a:srgbClr val="003B66"/>
                </a:solidFill>
                <a:latin typeface="Aptos" panose="020B0004020202020204" pitchFamily="34" charset="0"/>
              </a:rPr>
              <a:t>reentrant</a:t>
            </a:r>
            <a:r>
              <a:rPr lang="en-GB" sz="2000" b="1" dirty="0">
                <a:solidFill>
                  <a:srgbClr val="003B66"/>
                </a:solidFill>
                <a:latin typeface="Aptos" panose="020B0004020202020204" pitchFamily="34" charset="0"/>
              </a:rPr>
              <a:t> VIs</a:t>
            </a:r>
            <a:r>
              <a:rPr lang="en-GB" sz="2000" dirty="0">
                <a:solidFill>
                  <a:srgbClr val="003B66"/>
                </a:solidFill>
                <a:latin typeface="Aptos" panose="020B0004020202020204" pitchFamily="34" charset="0"/>
              </a:rPr>
              <a:t>.</a:t>
            </a:r>
          </a:p>
          <a:p>
            <a:r>
              <a:rPr lang="en-GB" sz="2000" dirty="0">
                <a:solidFill>
                  <a:srgbClr val="003B66"/>
                </a:solidFill>
                <a:latin typeface="Aptos" panose="020B0004020202020204" pitchFamily="34" charset="0"/>
              </a:rPr>
              <a:t>This is NI correctly priding itself with the native re-entrant VIs that exist in LabVIEW. The logical follow-up is to make more native VIs </a:t>
            </a:r>
            <a:r>
              <a:rPr lang="en-GB" sz="2000" dirty="0" err="1">
                <a:solidFill>
                  <a:srgbClr val="003B66"/>
                </a:solidFill>
                <a:latin typeface="Aptos" panose="020B0004020202020204" pitchFamily="34" charset="0"/>
              </a:rPr>
              <a:t>reentrant</a:t>
            </a:r>
            <a:r>
              <a:rPr lang="en-GB" sz="2000" dirty="0">
                <a:solidFill>
                  <a:srgbClr val="003B66"/>
                </a:solidFill>
                <a:latin typeface="Aptos" panose="020B0004020202020204" pitchFamily="34" charset="0"/>
              </a:rPr>
              <a:t> and to make the default new VI </a:t>
            </a:r>
            <a:r>
              <a:rPr lang="en-GB" sz="2000" dirty="0" err="1">
                <a:solidFill>
                  <a:srgbClr val="003B66"/>
                </a:solidFill>
                <a:latin typeface="Aptos" panose="020B0004020202020204" pitchFamily="34" charset="0"/>
              </a:rPr>
              <a:t>reentrant</a:t>
            </a:r>
            <a:r>
              <a:rPr lang="en-GB" sz="2000" dirty="0">
                <a:solidFill>
                  <a:srgbClr val="003B66"/>
                </a:solidFill>
                <a:latin typeface="Aptos" panose="020B0004020202020204" pitchFamily="34" charset="0"/>
              </a:rPr>
              <a:t>.</a:t>
            </a:r>
          </a:p>
        </p:txBody>
      </p:sp>
      <p:sp>
        <p:nvSpPr>
          <p:cNvPr id="4" name="Slide Number Placeholder 3">
            <a:extLst>
              <a:ext uri="{FF2B5EF4-FFF2-40B4-BE49-F238E27FC236}">
                <a16:creationId xmlns:a16="http://schemas.microsoft.com/office/drawing/2014/main" id="{05282E5A-D7C5-206B-91E8-68D8A38B228B}"/>
              </a:ext>
            </a:extLst>
          </p:cNvPr>
          <p:cNvSpPr>
            <a:spLocks noGrp="1"/>
          </p:cNvSpPr>
          <p:nvPr>
            <p:ph type="sldNum" sz="quarter" idx="12"/>
          </p:nvPr>
        </p:nvSpPr>
        <p:spPr/>
        <p:txBody>
          <a:bodyPr/>
          <a:lstStyle/>
          <a:p>
            <a:fld id="{A5BC3523-C363-4BFA-8941-CE9ECEEECBA2}" type="slidenum">
              <a:rPr lang="en-GB" smtClean="0"/>
              <a:t>52</a:t>
            </a:fld>
            <a:endParaRPr lang="en-GB" dirty="0"/>
          </a:p>
        </p:txBody>
      </p:sp>
      <p:pic>
        <p:nvPicPr>
          <p:cNvPr id="7" name="Picture 6">
            <a:extLst>
              <a:ext uri="{FF2B5EF4-FFF2-40B4-BE49-F238E27FC236}">
                <a16:creationId xmlns:a16="http://schemas.microsoft.com/office/drawing/2014/main" id="{BECA27E1-AF4D-615A-FCA0-62D8B5CAE4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2957670"/>
            <a:ext cx="9519323" cy="3535204"/>
          </a:xfrm>
          <a:prstGeom prst="rect">
            <a:avLst/>
          </a:prstGeom>
        </p:spPr>
      </p:pic>
    </p:spTree>
    <p:extLst>
      <p:ext uri="{BB962C8B-B14F-4D97-AF65-F5344CB8AC3E}">
        <p14:creationId xmlns:p14="http://schemas.microsoft.com/office/powerpoint/2010/main" val="30940057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AE84E-C71B-72F8-88D5-7553154FEB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992D94-35A1-A67F-A279-61C88D203182}"/>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OpenG VIs set to Non-</a:t>
            </a:r>
            <a:r>
              <a:rPr lang="en-GB" dirty="0" err="1">
                <a:solidFill>
                  <a:srgbClr val="003B66"/>
                </a:solidFill>
                <a:latin typeface="Aptos Display" panose="020B0004020202020204" pitchFamily="34" charset="0"/>
              </a:rPr>
              <a:t>Reentrant</a:t>
            </a:r>
            <a:endParaRPr lang="en-GB" dirty="0">
              <a:solidFill>
                <a:srgbClr val="003B66"/>
              </a:solidFill>
              <a:latin typeface="Aptos Display" panose="020B0004020202020204" pitchFamily="34" charset="0"/>
            </a:endParaRPr>
          </a:p>
        </p:txBody>
      </p:sp>
      <p:sp>
        <p:nvSpPr>
          <p:cNvPr id="3" name="Content Placeholder 2">
            <a:extLst>
              <a:ext uri="{FF2B5EF4-FFF2-40B4-BE49-F238E27FC236}">
                <a16:creationId xmlns:a16="http://schemas.microsoft.com/office/drawing/2014/main" id="{E72411FE-9F72-9B3D-8961-FEADB7E63656}"/>
              </a:ext>
            </a:extLst>
          </p:cNvPr>
          <p:cNvSpPr>
            <a:spLocks noGrp="1"/>
          </p:cNvSpPr>
          <p:nvPr>
            <p:ph idx="1"/>
          </p:nvPr>
        </p:nvSpPr>
        <p:spPr>
          <a:xfrm>
            <a:off x="838200" y="1027291"/>
            <a:ext cx="10838512" cy="4228104"/>
          </a:xfrm>
        </p:spPr>
        <p:txBody>
          <a:bodyPr>
            <a:normAutofit/>
          </a:bodyPr>
          <a:lstStyle/>
          <a:p>
            <a:r>
              <a:rPr lang="en-GB" sz="2000" dirty="0">
                <a:solidFill>
                  <a:srgbClr val="003B66"/>
                </a:solidFill>
                <a:latin typeface="Aptos" panose="020B0004020202020204" pitchFamily="34" charset="0"/>
              </a:rPr>
              <a:t>Some of the popular OpenG VIs are also set to </a:t>
            </a:r>
            <a:r>
              <a:rPr lang="en-GB" sz="2000" dirty="0">
                <a:solidFill>
                  <a:srgbClr val="C00000"/>
                </a:solidFill>
                <a:latin typeface="Aptos" panose="020B0004020202020204" pitchFamily="34" charset="0"/>
              </a:rPr>
              <a:t>Non-</a:t>
            </a:r>
            <a:r>
              <a:rPr lang="en-GB" sz="2000" dirty="0" err="1">
                <a:solidFill>
                  <a:srgbClr val="C00000"/>
                </a:solidFill>
                <a:latin typeface="Aptos" panose="020B0004020202020204" pitchFamily="34" charset="0"/>
              </a:rPr>
              <a:t>Reentrant</a:t>
            </a:r>
            <a:r>
              <a:rPr lang="en-GB" sz="2000" dirty="0">
                <a:solidFill>
                  <a:srgbClr val="003B66"/>
                </a:solidFill>
                <a:latin typeface="Aptos" panose="020B0004020202020204" pitchFamily="34" charset="0"/>
              </a:rPr>
              <a:t>.</a:t>
            </a:r>
          </a:p>
          <a:p>
            <a:pPr lvl="1"/>
            <a:r>
              <a:rPr lang="en-GB" sz="1600" dirty="0">
                <a:solidFill>
                  <a:srgbClr val="003B66"/>
                </a:solidFill>
                <a:latin typeface="Aptos" panose="020B0004020202020204" pitchFamily="34" charset="0"/>
              </a:rPr>
              <a:t>This is not a criticism. I have tremendous respect and admiration for the OpenG VIs and the people that created them. These VIs have been extremely useful to so many developers for so many years.</a:t>
            </a:r>
          </a:p>
          <a:p>
            <a:pPr lvl="1"/>
            <a:endParaRPr lang="en-GB" sz="1600" dirty="0">
              <a:solidFill>
                <a:srgbClr val="003B66"/>
              </a:solidFill>
              <a:latin typeface="Aptos" panose="020B0004020202020204" pitchFamily="34" charset="0"/>
            </a:endParaRPr>
          </a:p>
          <a:p>
            <a:endParaRPr lang="en-GB" sz="1600" dirty="0">
              <a:solidFill>
                <a:srgbClr val="003B66"/>
              </a:solidFill>
              <a:latin typeface="Aptos" panose="020B0004020202020204" pitchFamily="34" charset="0"/>
            </a:endParaRPr>
          </a:p>
        </p:txBody>
      </p:sp>
      <p:sp>
        <p:nvSpPr>
          <p:cNvPr id="4" name="Slide Number Placeholder 3">
            <a:extLst>
              <a:ext uri="{FF2B5EF4-FFF2-40B4-BE49-F238E27FC236}">
                <a16:creationId xmlns:a16="http://schemas.microsoft.com/office/drawing/2014/main" id="{7DEF482C-5986-1B15-853E-2A4F939EB259}"/>
              </a:ext>
            </a:extLst>
          </p:cNvPr>
          <p:cNvSpPr>
            <a:spLocks noGrp="1"/>
          </p:cNvSpPr>
          <p:nvPr>
            <p:ph type="sldNum" sz="quarter" idx="12"/>
          </p:nvPr>
        </p:nvSpPr>
        <p:spPr/>
        <p:txBody>
          <a:bodyPr/>
          <a:lstStyle/>
          <a:p>
            <a:fld id="{A5BC3523-C363-4BFA-8941-CE9ECEEECBA2}" type="slidenum">
              <a:rPr lang="en-GB" smtClean="0"/>
              <a:t>53</a:t>
            </a:fld>
            <a:endParaRPr lang="en-GB" dirty="0"/>
          </a:p>
        </p:txBody>
      </p:sp>
      <p:pic>
        <p:nvPicPr>
          <p:cNvPr id="7" name="Picture 6">
            <a:extLst>
              <a:ext uri="{FF2B5EF4-FFF2-40B4-BE49-F238E27FC236}">
                <a16:creationId xmlns:a16="http://schemas.microsoft.com/office/drawing/2014/main" id="{8EBF25B0-1550-B79F-B051-B4DCA77B7B5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38200" y="1925441"/>
            <a:ext cx="4680000" cy="4796034"/>
          </a:xfrm>
          <a:prstGeom prst="rect">
            <a:avLst/>
          </a:prstGeom>
        </p:spPr>
      </p:pic>
    </p:spTree>
    <p:extLst>
      <p:ext uri="{BB962C8B-B14F-4D97-AF65-F5344CB8AC3E}">
        <p14:creationId xmlns:p14="http://schemas.microsoft.com/office/powerpoint/2010/main" val="5359523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02C84-0476-6ADB-3E50-4F18527C9A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840C3A-4CBA-30EC-0D0F-A3BEF3A1E02C}"/>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Mea Culpa – Robusto Systems VIPM packages</a:t>
            </a:r>
          </a:p>
        </p:txBody>
      </p:sp>
      <p:sp>
        <p:nvSpPr>
          <p:cNvPr id="3" name="Content Placeholder 2">
            <a:extLst>
              <a:ext uri="{FF2B5EF4-FFF2-40B4-BE49-F238E27FC236}">
                <a16:creationId xmlns:a16="http://schemas.microsoft.com/office/drawing/2014/main" id="{4C2C24A9-65DD-46AF-D743-F77B211020A6}"/>
              </a:ext>
            </a:extLst>
          </p:cNvPr>
          <p:cNvSpPr>
            <a:spLocks noGrp="1"/>
          </p:cNvSpPr>
          <p:nvPr>
            <p:ph idx="1"/>
          </p:nvPr>
        </p:nvSpPr>
        <p:spPr>
          <a:xfrm>
            <a:off x="838200" y="1027291"/>
            <a:ext cx="10838512" cy="4228104"/>
          </a:xfrm>
        </p:spPr>
        <p:txBody>
          <a:bodyPr>
            <a:normAutofit/>
          </a:bodyPr>
          <a:lstStyle/>
          <a:p>
            <a:r>
              <a:rPr lang="en-GB" sz="2000" dirty="0">
                <a:solidFill>
                  <a:srgbClr val="003B66"/>
                </a:solidFill>
                <a:latin typeface="Aptos" panose="020B0004020202020204" pitchFamily="34" charset="0"/>
              </a:rPr>
              <a:t>I published these free, open-source packages around 3 years ago, which is before I became fully aware of everything that was discussed so far. These packages use lots of NR VIs. I aim to release new versions soon that will use the PCR setting more and will be more performant.</a:t>
            </a:r>
            <a:endParaRPr lang="en-GB" sz="1600" dirty="0">
              <a:solidFill>
                <a:srgbClr val="003B66"/>
              </a:solidFill>
              <a:latin typeface="Aptos" panose="020B0004020202020204" pitchFamily="34" charset="0"/>
            </a:endParaRPr>
          </a:p>
        </p:txBody>
      </p:sp>
      <p:sp>
        <p:nvSpPr>
          <p:cNvPr id="4" name="Slide Number Placeholder 3">
            <a:extLst>
              <a:ext uri="{FF2B5EF4-FFF2-40B4-BE49-F238E27FC236}">
                <a16:creationId xmlns:a16="http://schemas.microsoft.com/office/drawing/2014/main" id="{38CB5AC2-2C70-5E13-3B54-DC9B937AB281}"/>
              </a:ext>
            </a:extLst>
          </p:cNvPr>
          <p:cNvSpPr>
            <a:spLocks noGrp="1"/>
          </p:cNvSpPr>
          <p:nvPr>
            <p:ph type="sldNum" sz="quarter" idx="12"/>
          </p:nvPr>
        </p:nvSpPr>
        <p:spPr/>
        <p:txBody>
          <a:bodyPr/>
          <a:lstStyle/>
          <a:p>
            <a:fld id="{A5BC3523-C363-4BFA-8941-CE9ECEEECBA2}" type="slidenum">
              <a:rPr lang="en-GB" smtClean="0"/>
              <a:t>54</a:t>
            </a:fld>
            <a:endParaRPr lang="en-GB" dirty="0"/>
          </a:p>
        </p:txBody>
      </p:sp>
      <p:pic>
        <p:nvPicPr>
          <p:cNvPr id="6" name="Picture 5">
            <a:extLst>
              <a:ext uri="{FF2B5EF4-FFF2-40B4-BE49-F238E27FC236}">
                <a16:creationId xmlns:a16="http://schemas.microsoft.com/office/drawing/2014/main" id="{16574018-07E0-2EAA-B4CF-2065F5E598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413" y="1959285"/>
            <a:ext cx="11279174" cy="3296110"/>
          </a:xfrm>
          <a:prstGeom prst="rect">
            <a:avLst/>
          </a:prstGeom>
        </p:spPr>
      </p:pic>
    </p:spTree>
    <p:extLst>
      <p:ext uri="{BB962C8B-B14F-4D97-AF65-F5344CB8AC3E}">
        <p14:creationId xmlns:p14="http://schemas.microsoft.com/office/powerpoint/2010/main" val="7340824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47E1B-F64A-E279-EF48-2CAE2189D1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B38E59-AEF1-6FEF-4930-CE14F5FC6560}"/>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Constructive Feedback</a:t>
            </a:r>
          </a:p>
        </p:txBody>
      </p:sp>
      <p:sp>
        <p:nvSpPr>
          <p:cNvPr id="3" name="Content Placeholder 2">
            <a:extLst>
              <a:ext uri="{FF2B5EF4-FFF2-40B4-BE49-F238E27FC236}">
                <a16:creationId xmlns:a16="http://schemas.microsoft.com/office/drawing/2014/main" id="{7D7F367C-C544-DA3C-9E5A-92C9D883F38E}"/>
              </a:ext>
            </a:extLst>
          </p:cNvPr>
          <p:cNvSpPr>
            <a:spLocks noGrp="1"/>
          </p:cNvSpPr>
          <p:nvPr>
            <p:ph idx="1"/>
          </p:nvPr>
        </p:nvSpPr>
        <p:spPr>
          <a:xfrm>
            <a:off x="838200" y="1027291"/>
            <a:ext cx="10838512" cy="4228104"/>
          </a:xfrm>
        </p:spPr>
        <p:txBody>
          <a:bodyPr>
            <a:normAutofit/>
          </a:bodyPr>
          <a:lstStyle/>
          <a:p>
            <a:r>
              <a:rPr lang="en-GB" sz="2000" dirty="0">
                <a:solidFill>
                  <a:srgbClr val="003B66"/>
                </a:solidFill>
                <a:latin typeface="Aptos" panose="020B0004020202020204" pitchFamily="34" charset="0"/>
              </a:rPr>
              <a:t>None of these ideas are criticisms. They are all constructive feedback.</a:t>
            </a:r>
          </a:p>
          <a:p>
            <a:r>
              <a:rPr lang="en-GB" sz="2000" dirty="0">
                <a:solidFill>
                  <a:srgbClr val="003B66"/>
                </a:solidFill>
                <a:latin typeface="Aptos" panose="020B0004020202020204" pitchFamily="34" charset="0"/>
              </a:rPr>
              <a:t>We learned from Tony Vento’s excellent presentation yesterday that we need to be like Alice in Wonderland and call out nonsense if we see it. These ideas do that.</a:t>
            </a:r>
          </a:p>
          <a:p>
            <a:r>
              <a:rPr lang="en-GB" sz="2000" dirty="0">
                <a:solidFill>
                  <a:srgbClr val="003B66"/>
                </a:solidFill>
                <a:latin typeface="Aptos" panose="020B0004020202020204" pitchFamily="34" charset="0"/>
              </a:rPr>
              <a:t>I love LabVIEW, I use it virtually every day, I built a career on it. I want LabVIEW to be better so I can be better.</a:t>
            </a:r>
          </a:p>
        </p:txBody>
      </p:sp>
      <p:sp>
        <p:nvSpPr>
          <p:cNvPr id="4" name="Slide Number Placeholder 3">
            <a:extLst>
              <a:ext uri="{FF2B5EF4-FFF2-40B4-BE49-F238E27FC236}">
                <a16:creationId xmlns:a16="http://schemas.microsoft.com/office/drawing/2014/main" id="{ADCB5A9C-2C4B-C1DF-E682-8E931F354C10}"/>
              </a:ext>
            </a:extLst>
          </p:cNvPr>
          <p:cNvSpPr>
            <a:spLocks noGrp="1"/>
          </p:cNvSpPr>
          <p:nvPr>
            <p:ph type="sldNum" sz="quarter" idx="12"/>
          </p:nvPr>
        </p:nvSpPr>
        <p:spPr/>
        <p:txBody>
          <a:bodyPr/>
          <a:lstStyle/>
          <a:p>
            <a:fld id="{A5BC3523-C363-4BFA-8941-CE9ECEEECBA2}" type="slidenum">
              <a:rPr lang="en-GB" smtClean="0"/>
              <a:t>55</a:t>
            </a:fld>
            <a:endParaRPr lang="en-GB" dirty="0"/>
          </a:p>
        </p:txBody>
      </p:sp>
    </p:spTree>
    <p:extLst>
      <p:ext uri="{BB962C8B-B14F-4D97-AF65-F5344CB8AC3E}">
        <p14:creationId xmlns:p14="http://schemas.microsoft.com/office/powerpoint/2010/main" val="3887696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92B3F-DDCB-1702-8DB2-07DC6AFB79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50D05-204B-607D-066D-920BA2FEC966}"/>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Subroutine and Inline</a:t>
            </a:r>
          </a:p>
        </p:txBody>
      </p:sp>
      <p:pic>
        <p:nvPicPr>
          <p:cNvPr id="6" name="Content Placeholder 5">
            <a:extLst>
              <a:ext uri="{FF2B5EF4-FFF2-40B4-BE49-F238E27FC236}">
                <a16:creationId xmlns:a16="http://schemas.microsoft.com/office/drawing/2014/main" id="{EF173887-5902-1417-4F14-D4F7673E84F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96000" y="1027290"/>
            <a:ext cx="7200000" cy="4302167"/>
          </a:xfrm>
          <a:prstGeom prst="rect">
            <a:avLst/>
          </a:prstGeom>
        </p:spPr>
      </p:pic>
      <p:sp>
        <p:nvSpPr>
          <p:cNvPr id="4" name="Slide Number Placeholder 3">
            <a:extLst>
              <a:ext uri="{FF2B5EF4-FFF2-40B4-BE49-F238E27FC236}">
                <a16:creationId xmlns:a16="http://schemas.microsoft.com/office/drawing/2014/main" id="{FF663A47-14D8-0DEB-1AEF-6D0E0FD506F3}"/>
              </a:ext>
            </a:extLst>
          </p:cNvPr>
          <p:cNvSpPr>
            <a:spLocks noGrp="1"/>
          </p:cNvSpPr>
          <p:nvPr>
            <p:ph type="sldNum" sz="quarter" idx="12"/>
          </p:nvPr>
        </p:nvSpPr>
        <p:spPr/>
        <p:txBody>
          <a:bodyPr/>
          <a:lstStyle/>
          <a:p>
            <a:fld id="{A5BC3523-C363-4BFA-8941-CE9ECEEECBA2}" type="slidenum">
              <a:rPr lang="en-GB" smtClean="0"/>
              <a:t>56</a:t>
            </a:fld>
            <a:endParaRPr lang="en-GB" dirty="0"/>
          </a:p>
        </p:txBody>
      </p:sp>
    </p:spTree>
    <p:extLst>
      <p:ext uri="{BB962C8B-B14F-4D97-AF65-F5344CB8AC3E}">
        <p14:creationId xmlns:p14="http://schemas.microsoft.com/office/powerpoint/2010/main" val="42910477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12D9A-D8A3-B82B-8003-DA425D5A6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55D695-20EC-513F-C3CE-5F0CAD5CD366}"/>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Subroutine and Inline</a:t>
            </a:r>
          </a:p>
        </p:txBody>
      </p:sp>
      <p:sp>
        <p:nvSpPr>
          <p:cNvPr id="4" name="Slide Number Placeholder 3">
            <a:extLst>
              <a:ext uri="{FF2B5EF4-FFF2-40B4-BE49-F238E27FC236}">
                <a16:creationId xmlns:a16="http://schemas.microsoft.com/office/drawing/2014/main" id="{F85CF885-1361-BCBE-EEA5-D59581EF20E7}"/>
              </a:ext>
            </a:extLst>
          </p:cNvPr>
          <p:cNvSpPr>
            <a:spLocks noGrp="1"/>
          </p:cNvSpPr>
          <p:nvPr>
            <p:ph type="sldNum" sz="quarter" idx="12"/>
          </p:nvPr>
        </p:nvSpPr>
        <p:spPr/>
        <p:txBody>
          <a:bodyPr/>
          <a:lstStyle/>
          <a:p>
            <a:fld id="{A5BC3523-C363-4BFA-8941-CE9ECEEECBA2}" type="slidenum">
              <a:rPr lang="en-GB" smtClean="0"/>
              <a:t>57</a:t>
            </a:fld>
            <a:endParaRPr lang="en-GB" dirty="0"/>
          </a:p>
        </p:txBody>
      </p:sp>
      <p:pic>
        <p:nvPicPr>
          <p:cNvPr id="8" name="Content Placeholder 7">
            <a:extLst>
              <a:ext uri="{FF2B5EF4-FFF2-40B4-BE49-F238E27FC236}">
                <a16:creationId xmlns:a16="http://schemas.microsoft.com/office/drawing/2014/main" id="{16A43D6A-25AB-0097-18DA-BB0ED786979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36000" y="1717844"/>
            <a:ext cx="11520000" cy="2538830"/>
          </a:xfrm>
          <a:prstGeom prst="rect">
            <a:avLst/>
          </a:prstGeom>
        </p:spPr>
      </p:pic>
    </p:spTree>
    <p:extLst>
      <p:ext uri="{BB962C8B-B14F-4D97-AF65-F5344CB8AC3E}">
        <p14:creationId xmlns:p14="http://schemas.microsoft.com/office/powerpoint/2010/main" val="35260391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ECFEE-7279-6321-0601-FAF07DCEDA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060E0-CC41-5DCE-427C-C9A7C4424E3D}"/>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Subroutine and Inline</a:t>
            </a:r>
          </a:p>
        </p:txBody>
      </p:sp>
      <p:sp>
        <p:nvSpPr>
          <p:cNvPr id="4" name="Slide Number Placeholder 3">
            <a:extLst>
              <a:ext uri="{FF2B5EF4-FFF2-40B4-BE49-F238E27FC236}">
                <a16:creationId xmlns:a16="http://schemas.microsoft.com/office/drawing/2014/main" id="{CC45E9C6-6C3C-4AF9-1F63-9BCDD1DA74B8}"/>
              </a:ext>
            </a:extLst>
          </p:cNvPr>
          <p:cNvSpPr>
            <a:spLocks noGrp="1"/>
          </p:cNvSpPr>
          <p:nvPr>
            <p:ph type="sldNum" sz="quarter" idx="12"/>
          </p:nvPr>
        </p:nvSpPr>
        <p:spPr/>
        <p:txBody>
          <a:bodyPr/>
          <a:lstStyle/>
          <a:p>
            <a:fld id="{A5BC3523-C363-4BFA-8941-CE9ECEEECBA2}" type="slidenum">
              <a:rPr lang="en-GB" smtClean="0"/>
              <a:t>58</a:t>
            </a:fld>
            <a:endParaRPr lang="en-GB" dirty="0"/>
          </a:p>
        </p:txBody>
      </p:sp>
      <p:sp>
        <p:nvSpPr>
          <p:cNvPr id="6" name="Content Placeholder 2">
            <a:extLst>
              <a:ext uri="{FF2B5EF4-FFF2-40B4-BE49-F238E27FC236}">
                <a16:creationId xmlns:a16="http://schemas.microsoft.com/office/drawing/2014/main" id="{BA3AEA64-1BB6-2357-1B83-5D91032483AF}"/>
              </a:ext>
            </a:extLst>
          </p:cNvPr>
          <p:cNvSpPr txBox="1">
            <a:spLocks/>
          </p:cNvSpPr>
          <p:nvPr/>
        </p:nvSpPr>
        <p:spPr>
          <a:xfrm>
            <a:off x="838200" y="1027291"/>
            <a:ext cx="8287512" cy="42281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dirty="0">
                <a:solidFill>
                  <a:srgbClr val="003B66"/>
                </a:solidFill>
                <a:latin typeface="Aptos" panose="020B0004020202020204" pitchFamily="34" charset="0"/>
              </a:rPr>
              <a:t>Many PCR VIs can and should be set to subroutine</a:t>
            </a:r>
          </a:p>
          <a:p>
            <a:r>
              <a:rPr lang="en-GB" sz="2000" dirty="0">
                <a:solidFill>
                  <a:srgbClr val="003B66"/>
                </a:solidFill>
                <a:latin typeface="Aptos" panose="020B0004020202020204" pitchFamily="34" charset="0"/>
              </a:rPr>
              <a:t>The subroutine priority is conceptually very different than the other five priorities</a:t>
            </a:r>
          </a:p>
          <a:p>
            <a:r>
              <a:rPr lang="en-GB" sz="2000" dirty="0">
                <a:solidFill>
                  <a:srgbClr val="00B0F0"/>
                </a:solidFill>
                <a:latin typeface="Aptos" panose="020B0004020202020204" pitchFamily="34" charset="0"/>
              </a:rPr>
              <a:t>“</a:t>
            </a:r>
            <a:r>
              <a:rPr lang="en-GB" sz="2000" i="1" dirty="0">
                <a:solidFill>
                  <a:srgbClr val="00B0F0"/>
                </a:solidFill>
                <a:latin typeface="Aptos" panose="020B0004020202020204" pitchFamily="34" charset="0"/>
              </a:rPr>
              <a:t>Select subroutine  priority to make the LabVIEW execution system run the VI </a:t>
            </a:r>
            <a:r>
              <a:rPr lang="en-GB" sz="2000" b="1" i="1" dirty="0">
                <a:solidFill>
                  <a:srgbClr val="00B0F0"/>
                </a:solidFill>
                <a:latin typeface="Aptos" panose="020B0004020202020204" pitchFamily="34" charset="0"/>
              </a:rPr>
              <a:t>as efficiently as possible</a:t>
            </a:r>
            <a:r>
              <a:rPr lang="en-GB" sz="2000" i="1" dirty="0">
                <a:solidFill>
                  <a:srgbClr val="00B0F0"/>
                </a:solidFill>
                <a:latin typeface="Aptos" panose="020B0004020202020204" pitchFamily="34" charset="0"/>
              </a:rPr>
              <a:t>.“ </a:t>
            </a:r>
            <a:r>
              <a:rPr lang="en-GB" sz="2000" dirty="0">
                <a:solidFill>
                  <a:srgbClr val="003B66"/>
                </a:solidFill>
                <a:latin typeface="Aptos" panose="020B0004020202020204" pitchFamily="34" charset="0"/>
              </a:rPr>
              <a:t>(source : </a:t>
            </a:r>
            <a:r>
              <a:rPr lang="en-GB" sz="2000" dirty="0">
                <a:solidFill>
                  <a:srgbClr val="003B66"/>
                </a:solidFill>
                <a:latin typeface="Aptos" panose="020B0004020202020204" pitchFamily="34" charset="0"/>
                <a:hlinkClick r:id="rId3"/>
              </a:rPr>
              <a:t>this LabVIEW help page</a:t>
            </a:r>
            <a:r>
              <a:rPr lang="en-GB" sz="2000" dirty="0">
                <a:solidFill>
                  <a:srgbClr val="003B66"/>
                </a:solidFill>
                <a:latin typeface="Aptos" panose="020B0004020202020204" pitchFamily="34" charset="0"/>
              </a:rPr>
              <a:t>)</a:t>
            </a:r>
          </a:p>
          <a:p>
            <a:r>
              <a:rPr lang="en-GB" sz="2000" dirty="0">
                <a:solidFill>
                  <a:srgbClr val="003B66"/>
                </a:solidFill>
                <a:latin typeface="Aptos" panose="020B0004020202020204" pitchFamily="34" charset="0"/>
              </a:rPr>
              <a:t>The subroutine priority reduces VI call overhead further</a:t>
            </a:r>
          </a:p>
          <a:p>
            <a:r>
              <a:rPr lang="en-GB" sz="2000" dirty="0">
                <a:solidFill>
                  <a:srgbClr val="003B66"/>
                </a:solidFill>
                <a:latin typeface="Aptos" panose="020B0004020202020204" pitchFamily="34" charset="0"/>
              </a:rPr>
              <a:t>Code inside a subroutine executes in the same thread as its caller VI.</a:t>
            </a:r>
          </a:p>
          <a:p>
            <a:r>
              <a:rPr lang="en-GB" sz="2000" dirty="0">
                <a:solidFill>
                  <a:srgbClr val="003B66"/>
                </a:solidFill>
                <a:latin typeface="Aptos" panose="020B0004020202020204" pitchFamily="34" charset="0"/>
              </a:rPr>
              <a:t>The LabVIEW scheduler has less work to do (fewer decision points)</a:t>
            </a:r>
          </a:p>
          <a:p>
            <a:r>
              <a:rPr lang="en-GB" sz="2000" dirty="0">
                <a:solidFill>
                  <a:srgbClr val="003B66"/>
                </a:solidFill>
                <a:latin typeface="Aptos" panose="020B0004020202020204" pitchFamily="34" charset="0"/>
              </a:rPr>
              <a:t>Best for small, “pure” VIs</a:t>
            </a:r>
            <a:endParaRPr lang="en-GB" sz="1600" dirty="0">
              <a:solidFill>
                <a:srgbClr val="003B66"/>
              </a:solidFill>
              <a:latin typeface="Aptos" panose="020B0004020202020204" pitchFamily="34" charset="0"/>
            </a:endParaRPr>
          </a:p>
        </p:txBody>
      </p:sp>
      <p:pic>
        <p:nvPicPr>
          <p:cNvPr id="9" name="Picture 8">
            <a:extLst>
              <a:ext uri="{FF2B5EF4-FFF2-40B4-BE49-F238E27FC236}">
                <a16:creationId xmlns:a16="http://schemas.microsoft.com/office/drawing/2014/main" id="{037C76F8-6EC4-3A9A-36E2-36ED145F0F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7236" y="513328"/>
            <a:ext cx="2880000" cy="2188800"/>
          </a:xfrm>
          <a:prstGeom prst="rect">
            <a:avLst/>
          </a:prstGeom>
        </p:spPr>
      </p:pic>
    </p:spTree>
    <p:extLst>
      <p:ext uri="{BB962C8B-B14F-4D97-AF65-F5344CB8AC3E}">
        <p14:creationId xmlns:p14="http://schemas.microsoft.com/office/powerpoint/2010/main" val="26046638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E7B70-32C0-E276-627A-CD6050B673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18E478-0B32-7DDB-833C-1CF9B9204A6A}"/>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Subroutine and Inline</a:t>
            </a:r>
          </a:p>
        </p:txBody>
      </p:sp>
      <p:sp>
        <p:nvSpPr>
          <p:cNvPr id="4" name="Slide Number Placeholder 3">
            <a:extLst>
              <a:ext uri="{FF2B5EF4-FFF2-40B4-BE49-F238E27FC236}">
                <a16:creationId xmlns:a16="http://schemas.microsoft.com/office/drawing/2014/main" id="{94256286-69A0-D044-2081-8709E7B2C6B4}"/>
              </a:ext>
            </a:extLst>
          </p:cNvPr>
          <p:cNvSpPr>
            <a:spLocks noGrp="1"/>
          </p:cNvSpPr>
          <p:nvPr>
            <p:ph type="sldNum" sz="quarter" idx="12"/>
          </p:nvPr>
        </p:nvSpPr>
        <p:spPr/>
        <p:txBody>
          <a:bodyPr/>
          <a:lstStyle/>
          <a:p>
            <a:fld id="{A5BC3523-C363-4BFA-8941-CE9ECEEECBA2}" type="slidenum">
              <a:rPr lang="en-GB" smtClean="0"/>
              <a:t>59</a:t>
            </a:fld>
            <a:endParaRPr lang="en-GB" dirty="0"/>
          </a:p>
        </p:txBody>
      </p:sp>
      <p:sp>
        <p:nvSpPr>
          <p:cNvPr id="6" name="Content Placeholder 2">
            <a:extLst>
              <a:ext uri="{FF2B5EF4-FFF2-40B4-BE49-F238E27FC236}">
                <a16:creationId xmlns:a16="http://schemas.microsoft.com/office/drawing/2014/main" id="{19DBFF96-29EE-C5F9-3825-A264EA4B2D3A}"/>
              </a:ext>
            </a:extLst>
          </p:cNvPr>
          <p:cNvSpPr txBox="1">
            <a:spLocks/>
          </p:cNvSpPr>
          <p:nvPr/>
        </p:nvSpPr>
        <p:spPr>
          <a:xfrm>
            <a:off x="838200" y="1027290"/>
            <a:ext cx="8287512" cy="532906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dirty="0">
                <a:solidFill>
                  <a:srgbClr val="003B66"/>
                </a:solidFill>
                <a:latin typeface="Aptos" panose="020B0004020202020204" pitchFamily="34" charset="0"/>
              </a:rPr>
              <a:t>Many native VIs correctly use subroutine</a:t>
            </a:r>
          </a:p>
          <a:p>
            <a:r>
              <a:rPr lang="en-GB" sz="2000" dirty="0">
                <a:solidFill>
                  <a:srgbClr val="003B66"/>
                </a:solidFill>
                <a:latin typeface="Aptos" panose="020B0004020202020204" pitchFamily="34" charset="0"/>
              </a:rPr>
              <a:t>The following is a small subset</a:t>
            </a:r>
          </a:p>
          <a:p>
            <a:endParaRPr lang="en-GB" sz="2000" dirty="0">
              <a:solidFill>
                <a:srgbClr val="003B66"/>
              </a:solidFill>
              <a:latin typeface="Aptos" panose="020B0004020202020204" pitchFamily="34" charset="0"/>
            </a:endParaRPr>
          </a:p>
          <a:p>
            <a:endParaRPr lang="en-GB" sz="2000" dirty="0">
              <a:solidFill>
                <a:srgbClr val="003B66"/>
              </a:solidFill>
              <a:latin typeface="Aptos" panose="020B0004020202020204" pitchFamily="34" charset="0"/>
            </a:endParaRPr>
          </a:p>
          <a:p>
            <a:endParaRPr lang="en-GB" sz="2000" dirty="0">
              <a:solidFill>
                <a:srgbClr val="003B66"/>
              </a:solidFill>
              <a:latin typeface="Aptos" panose="020B0004020202020204" pitchFamily="34" charset="0"/>
            </a:endParaRPr>
          </a:p>
          <a:p>
            <a:endParaRPr lang="en-GB" sz="2000" dirty="0">
              <a:solidFill>
                <a:srgbClr val="003B66"/>
              </a:solidFill>
              <a:latin typeface="Aptos" panose="020B0004020202020204" pitchFamily="34" charset="0"/>
            </a:endParaRPr>
          </a:p>
          <a:p>
            <a:endParaRPr lang="en-GB" sz="2000" dirty="0">
              <a:solidFill>
                <a:srgbClr val="003B66"/>
              </a:solidFill>
              <a:latin typeface="Aptos" panose="020B0004020202020204" pitchFamily="34" charset="0"/>
            </a:endParaRPr>
          </a:p>
          <a:p>
            <a:endParaRPr lang="en-GB" sz="2000" dirty="0">
              <a:solidFill>
                <a:srgbClr val="003B66"/>
              </a:solidFill>
              <a:latin typeface="Aptos" panose="020B0004020202020204" pitchFamily="34" charset="0"/>
            </a:endParaRPr>
          </a:p>
          <a:p>
            <a:endParaRPr lang="en-GB" sz="2000" dirty="0">
              <a:solidFill>
                <a:srgbClr val="003B66"/>
              </a:solidFill>
              <a:latin typeface="Aptos" panose="020B0004020202020204" pitchFamily="34" charset="0"/>
            </a:endParaRPr>
          </a:p>
          <a:p>
            <a:endParaRPr lang="en-GB" sz="2000" dirty="0">
              <a:solidFill>
                <a:srgbClr val="003B66"/>
              </a:solidFill>
              <a:latin typeface="Aptos" panose="020B0004020202020204" pitchFamily="34" charset="0"/>
            </a:endParaRPr>
          </a:p>
          <a:p>
            <a:endParaRPr lang="en-GB" sz="2000" dirty="0">
              <a:solidFill>
                <a:srgbClr val="003B66"/>
              </a:solidFill>
              <a:latin typeface="Aptos" panose="020B0004020202020204" pitchFamily="34" charset="0"/>
            </a:endParaRPr>
          </a:p>
          <a:p>
            <a:endParaRPr lang="en-GB" sz="2000" dirty="0">
              <a:solidFill>
                <a:srgbClr val="003B66"/>
              </a:solidFill>
              <a:latin typeface="Aptos" panose="020B0004020202020204" pitchFamily="34" charset="0"/>
            </a:endParaRPr>
          </a:p>
          <a:p>
            <a:endParaRPr lang="en-GB" sz="2000" dirty="0">
              <a:solidFill>
                <a:srgbClr val="003B66"/>
              </a:solidFill>
              <a:latin typeface="Aptos" panose="020B0004020202020204" pitchFamily="34" charset="0"/>
            </a:endParaRPr>
          </a:p>
          <a:p>
            <a:endParaRPr lang="en-GB" sz="2000" dirty="0">
              <a:solidFill>
                <a:srgbClr val="003B66"/>
              </a:solidFill>
              <a:latin typeface="Aptos" panose="020B0004020202020204" pitchFamily="34" charset="0"/>
            </a:endParaRPr>
          </a:p>
          <a:p>
            <a:r>
              <a:rPr lang="en-GB" sz="2000" dirty="0">
                <a:solidFill>
                  <a:srgbClr val="003B66"/>
                </a:solidFill>
                <a:latin typeface="Aptos" panose="020B0004020202020204" pitchFamily="34" charset="0"/>
              </a:rPr>
              <a:t>This idea requests that even more native VIs are set to subroutine: </a:t>
            </a:r>
            <a:r>
              <a:rPr lang="en-GB" sz="2000" dirty="0">
                <a:solidFill>
                  <a:srgbClr val="003B66"/>
                </a:solidFill>
                <a:latin typeface="Aptos" panose="020B0004020202020204" pitchFamily="34" charset="0"/>
                <a:hlinkClick r:id="rId3"/>
              </a:rPr>
              <a:t>https://forums.ni.com/t5/LabVIEW-Idea-Exchange/Performance-improvement-More-native-VIs-should-be-set-to/idi-p/4485882</a:t>
            </a:r>
            <a:r>
              <a:rPr lang="en-GB" sz="2000" dirty="0">
                <a:solidFill>
                  <a:srgbClr val="003B66"/>
                </a:solidFill>
                <a:latin typeface="Aptos" panose="020B0004020202020204" pitchFamily="34" charset="0"/>
              </a:rPr>
              <a:t>    </a:t>
            </a:r>
          </a:p>
        </p:txBody>
      </p:sp>
      <p:pic>
        <p:nvPicPr>
          <p:cNvPr id="9" name="Picture 8">
            <a:extLst>
              <a:ext uri="{FF2B5EF4-FFF2-40B4-BE49-F238E27FC236}">
                <a16:creationId xmlns:a16="http://schemas.microsoft.com/office/drawing/2014/main" id="{45ABB63A-F320-6E29-CC56-D1BC16A758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7236" y="513328"/>
            <a:ext cx="2880000" cy="2188800"/>
          </a:xfrm>
          <a:prstGeom prst="rect">
            <a:avLst/>
          </a:prstGeom>
        </p:spPr>
      </p:pic>
      <p:pic>
        <p:nvPicPr>
          <p:cNvPr id="5" name="Picture 4">
            <a:extLst>
              <a:ext uri="{FF2B5EF4-FFF2-40B4-BE49-F238E27FC236}">
                <a16:creationId xmlns:a16="http://schemas.microsoft.com/office/drawing/2014/main" id="{13F3DAFD-5DC9-AF8A-B024-2B2D882D4F4A}"/>
              </a:ext>
            </a:extLst>
          </p:cNvPr>
          <p:cNvPicPr>
            <a:picLocks noChangeAspect="1"/>
          </p:cNvPicPr>
          <p:nvPr/>
        </p:nvPicPr>
        <p:blipFill>
          <a:blip r:embed="rId5">
            <a:extLst>
              <a:ext uri="{28A0092B-C50C-407E-A947-70E740481C1C}">
                <a14:useLocalDpi xmlns:a14="http://schemas.microsoft.com/office/drawing/2010/main" val="0"/>
              </a:ext>
            </a:extLst>
          </a:blip>
          <a:srcRect b="65441"/>
          <a:stretch>
            <a:fillRect/>
          </a:stretch>
        </p:blipFill>
        <p:spPr>
          <a:xfrm>
            <a:off x="1924188" y="1795328"/>
            <a:ext cx="7200000" cy="3267343"/>
          </a:xfrm>
          <a:prstGeom prst="rect">
            <a:avLst/>
          </a:prstGeom>
        </p:spPr>
      </p:pic>
    </p:spTree>
    <p:extLst>
      <p:ext uri="{BB962C8B-B14F-4D97-AF65-F5344CB8AC3E}">
        <p14:creationId xmlns:p14="http://schemas.microsoft.com/office/powerpoint/2010/main" val="3149994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12596-A91A-5567-A206-B5F2E651B8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487002-01B2-81EE-C2F3-2AD7B7A4D951}"/>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Subroutine and Inline</a:t>
            </a:r>
          </a:p>
        </p:txBody>
      </p:sp>
      <p:sp>
        <p:nvSpPr>
          <p:cNvPr id="4" name="Slide Number Placeholder 3">
            <a:extLst>
              <a:ext uri="{FF2B5EF4-FFF2-40B4-BE49-F238E27FC236}">
                <a16:creationId xmlns:a16="http://schemas.microsoft.com/office/drawing/2014/main" id="{7BB07AD0-4945-5543-0933-48CC47BC735D}"/>
              </a:ext>
            </a:extLst>
          </p:cNvPr>
          <p:cNvSpPr>
            <a:spLocks noGrp="1"/>
          </p:cNvSpPr>
          <p:nvPr>
            <p:ph type="sldNum" sz="quarter" idx="12"/>
          </p:nvPr>
        </p:nvSpPr>
        <p:spPr/>
        <p:txBody>
          <a:bodyPr/>
          <a:lstStyle/>
          <a:p>
            <a:fld id="{A5BC3523-C363-4BFA-8941-CE9ECEEECBA2}" type="slidenum">
              <a:rPr lang="en-GB" smtClean="0"/>
              <a:t>60</a:t>
            </a:fld>
            <a:endParaRPr lang="en-GB" dirty="0"/>
          </a:p>
        </p:txBody>
      </p:sp>
      <p:sp>
        <p:nvSpPr>
          <p:cNvPr id="6" name="Content Placeholder 2">
            <a:extLst>
              <a:ext uri="{FF2B5EF4-FFF2-40B4-BE49-F238E27FC236}">
                <a16:creationId xmlns:a16="http://schemas.microsoft.com/office/drawing/2014/main" id="{3622C184-C7D0-74E1-28B0-F816C4FB320D}"/>
              </a:ext>
            </a:extLst>
          </p:cNvPr>
          <p:cNvSpPr txBox="1">
            <a:spLocks/>
          </p:cNvSpPr>
          <p:nvPr/>
        </p:nvSpPr>
        <p:spPr>
          <a:xfrm>
            <a:off x="838200" y="1027291"/>
            <a:ext cx="8287512" cy="42281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600" dirty="0">
              <a:solidFill>
                <a:srgbClr val="003B66"/>
              </a:solidFill>
              <a:latin typeface="Aptos" panose="020B0004020202020204" pitchFamily="34" charset="0"/>
            </a:endParaRPr>
          </a:p>
        </p:txBody>
      </p:sp>
      <p:grpSp>
        <p:nvGrpSpPr>
          <p:cNvPr id="3" name="Group 2">
            <a:extLst>
              <a:ext uri="{FF2B5EF4-FFF2-40B4-BE49-F238E27FC236}">
                <a16:creationId xmlns:a16="http://schemas.microsoft.com/office/drawing/2014/main" id="{ADD3A990-2F59-9C9A-0EF6-6CF633A71C4C}"/>
              </a:ext>
            </a:extLst>
          </p:cNvPr>
          <p:cNvGrpSpPr/>
          <p:nvPr/>
        </p:nvGrpSpPr>
        <p:grpSpPr>
          <a:xfrm>
            <a:off x="2496000" y="1027290"/>
            <a:ext cx="7200000" cy="5157785"/>
            <a:chOff x="2319975" y="867631"/>
            <a:chExt cx="7200000" cy="5157785"/>
          </a:xfrm>
        </p:grpSpPr>
        <p:pic>
          <p:nvPicPr>
            <p:cNvPr id="5" name="Picture 4">
              <a:extLst>
                <a:ext uri="{FF2B5EF4-FFF2-40B4-BE49-F238E27FC236}">
                  <a16:creationId xmlns:a16="http://schemas.microsoft.com/office/drawing/2014/main" id="{3A104829-10EB-FCB3-6D4B-D337BF555B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9975" y="867631"/>
              <a:ext cx="7200000" cy="4302167"/>
            </a:xfrm>
            <a:prstGeom prst="rect">
              <a:avLst/>
            </a:prstGeom>
          </p:spPr>
        </p:pic>
        <p:sp>
          <p:nvSpPr>
            <p:cNvPr id="7" name="Title 1">
              <a:extLst>
                <a:ext uri="{FF2B5EF4-FFF2-40B4-BE49-F238E27FC236}">
                  <a16:creationId xmlns:a16="http://schemas.microsoft.com/office/drawing/2014/main" id="{2BBE6935-5BDE-04C8-01A8-726E950EBA3D}"/>
                </a:ext>
              </a:extLst>
            </p:cNvPr>
            <p:cNvSpPr txBox="1">
              <a:spLocks/>
            </p:cNvSpPr>
            <p:nvPr/>
          </p:nvSpPr>
          <p:spPr>
            <a:xfrm>
              <a:off x="2319975" y="5169798"/>
              <a:ext cx="7200000" cy="855618"/>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800" dirty="0">
                  <a:solidFill>
                    <a:schemeClr val="bg1">
                      <a:lumMod val="50000"/>
                    </a:schemeClr>
                  </a:solidFill>
                  <a:latin typeface="Aptos" panose="020B0004020202020204" pitchFamily="34" charset="0"/>
                </a:rPr>
                <a:t>The recommended execution settings to achieve maximum performance while avoiding IDE slowdown. Recommended for most small, “pure” VIs, including low-level reusable VIs.</a:t>
              </a:r>
            </a:p>
          </p:txBody>
        </p:sp>
      </p:grpSp>
    </p:spTree>
    <p:extLst>
      <p:ext uri="{BB962C8B-B14F-4D97-AF65-F5344CB8AC3E}">
        <p14:creationId xmlns:p14="http://schemas.microsoft.com/office/powerpoint/2010/main" val="7407118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31C71-5B10-AB49-ED6E-D672595921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0CD27F-3339-6B20-0298-FAD4B0B1D753}"/>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Subroutine and Inline</a:t>
            </a:r>
          </a:p>
        </p:txBody>
      </p:sp>
      <p:sp>
        <p:nvSpPr>
          <p:cNvPr id="4" name="Slide Number Placeholder 3">
            <a:extLst>
              <a:ext uri="{FF2B5EF4-FFF2-40B4-BE49-F238E27FC236}">
                <a16:creationId xmlns:a16="http://schemas.microsoft.com/office/drawing/2014/main" id="{03A51296-918E-39E1-4D4E-3B30AD911313}"/>
              </a:ext>
            </a:extLst>
          </p:cNvPr>
          <p:cNvSpPr>
            <a:spLocks noGrp="1"/>
          </p:cNvSpPr>
          <p:nvPr>
            <p:ph type="sldNum" sz="quarter" idx="12"/>
          </p:nvPr>
        </p:nvSpPr>
        <p:spPr/>
        <p:txBody>
          <a:bodyPr/>
          <a:lstStyle/>
          <a:p>
            <a:fld id="{A5BC3523-C363-4BFA-8941-CE9ECEEECBA2}" type="slidenum">
              <a:rPr lang="en-GB" smtClean="0"/>
              <a:t>61</a:t>
            </a:fld>
            <a:endParaRPr lang="en-GB" dirty="0"/>
          </a:p>
        </p:txBody>
      </p:sp>
      <p:sp>
        <p:nvSpPr>
          <p:cNvPr id="6" name="Content Placeholder 2">
            <a:extLst>
              <a:ext uri="{FF2B5EF4-FFF2-40B4-BE49-F238E27FC236}">
                <a16:creationId xmlns:a16="http://schemas.microsoft.com/office/drawing/2014/main" id="{181F8076-42F5-0A0B-2755-46D2BDDA9627}"/>
              </a:ext>
            </a:extLst>
          </p:cNvPr>
          <p:cNvSpPr txBox="1">
            <a:spLocks/>
          </p:cNvSpPr>
          <p:nvPr/>
        </p:nvSpPr>
        <p:spPr>
          <a:xfrm>
            <a:off x="838200" y="1027291"/>
            <a:ext cx="8287512" cy="42281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600" dirty="0">
              <a:solidFill>
                <a:srgbClr val="003B66"/>
              </a:solidFill>
              <a:latin typeface="Aptos" panose="020B0004020202020204" pitchFamily="34" charset="0"/>
            </a:endParaRPr>
          </a:p>
        </p:txBody>
      </p:sp>
      <p:grpSp>
        <p:nvGrpSpPr>
          <p:cNvPr id="3" name="Group 2">
            <a:extLst>
              <a:ext uri="{FF2B5EF4-FFF2-40B4-BE49-F238E27FC236}">
                <a16:creationId xmlns:a16="http://schemas.microsoft.com/office/drawing/2014/main" id="{A9EE7799-22B2-EFE9-BCAF-9C4C015E6885}"/>
              </a:ext>
            </a:extLst>
          </p:cNvPr>
          <p:cNvGrpSpPr/>
          <p:nvPr/>
        </p:nvGrpSpPr>
        <p:grpSpPr>
          <a:xfrm>
            <a:off x="2496000" y="1027290"/>
            <a:ext cx="7200000" cy="5157785"/>
            <a:chOff x="2319975" y="867631"/>
            <a:chExt cx="7200000" cy="5157785"/>
          </a:xfrm>
        </p:grpSpPr>
        <p:pic>
          <p:nvPicPr>
            <p:cNvPr id="5" name="Picture 4">
              <a:extLst>
                <a:ext uri="{FF2B5EF4-FFF2-40B4-BE49-F238E27FC236}">
                  <a16:creationId xmlns:a16="http://schemas.microsoft.com/office/drawing/2014/main" id="{80F699CB-AACD-9863-5DEA-CEA9E337694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19975" y="867631"/>
              <a:ext cx="7200000" cy="4302166"/>
            </a:xfrm>
            <a:prstGeom prst="rect">
              <a:avLst/>
            </a:prstGeom>
          </p:spPr>
        </p:pic>
        <p:sp>
          <p:nvSpPr>
            <p:cNvPr id="7" name="Title 1">
              <a:extLst>
                <a:ext uri="{FF2B5EF4-FFF2-40B4-BE49-F238E27FC236}">
                  <a16:creationId xmlns:a16="http://schemas.microsoft.com/office/drawing/2014/main" id="{803B237B-AB31-FF73-6551-7AFD4BA0DBCF}"/>
                </a:ext>
              </a:extLst>
            </p:cNvPr>
            <p:cNvSpPr txBox="1">
              <a:spLocks/>
            </p:cNvSpPr>
            <p:nvPr/>
          </p:nvSpPr>
          <p:spPr>
            <a:xfrm>
              <a:off x="2319975" y="5169798"/>
              <a:ext cx="7200000" cy="855618"/>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800" dirty="0">
                  <a:solidFill>
                    <a:schemeClr val="bg1">
                      <a:lumMod val="50000"/>
                    </a:schemeClr>
                  </a:solidFill>
                  <a:latin typeface="Aptos" panose="020B0004020202020204" pitchFamily="34" charset="0"/>
                </a:rPr>
                <a:t>The execution settings to achieve maximum performance. When lots of VIs are </a:t>
              </a:r>
              <a:r>
                <a:rPr lang="en-US" sz="1800" dirty="0" err="1">
                  <a:solidFill>
                    <a:schemeClr val="bg1">
                      <a:lumMod val="50000"/>
                    </a:schemeClr>
                  </a:solidFill>
                  <a:latin typeface="Aptos" panose="020B0004020202020204" pitchFamily="34" charset="0"/>
                </a:rPr>
                <a:t>inlined</a:t>
              </a:r>
              <a:r>
                <a:rPr lang="en-US" sz="1800" dirty="0">
                  <a:solidFill>
                    <a:schemeClr val="bg1">
                      <a:lumMod val="50000"/>
                    </a:schemeClr>
                  </a:solidFill>
                  <a:latin typeface="Aptos" panose="020B0004020202020204" pitchFamily="34" charset="0"/>
                </a:rPr>
                <a:t> you may experience IDE slowdown, sluggish behaviour when creating new wires, deleting wires, etc.</a:t>
              </a:r>
            </a:p>
          </p:txBody>
        </p:sp>
      </p:grpSp>
    </p:spTree>
    <p:extLst>
      <p:ext uri="{BB962C8B-B14F-4D97-AF65-F5344CB8AC3E}">
        <p14:creationId xmlns:p14="http://schemas.microsoft.com/office/powerpoint/2010/main" val="21262347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AC215-6CC5-6DC8-9B07-BF81679E92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11FEB2-EE7A-5561-6508-D4D42CC90209}"/>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Resources (part 1)</a:t>
            </a:r>
          </a:p>
        </p:txBody>
      </p:sp>
      <p:sp>
        <p:nvSpPr>
          <p:cNvPr id="4" name="Slide Number Placeholder 3">
            <a:extLst>
              <a:ext uri="{FF2B5EF4-FFF2-40B4-BE49-F238E27FC236}">
                <a16:creationId xmlns:a16="http://schemas.microsoft.com/office/drawing/2014/main" id="{DA93CA8E-946B-9A6F-6ABE-AF395E0809E6}"/>
              </a:ext>
            </a:extLst>
          </p:cNvPr>
          <p:cNvSpPr>
            <a:spLocks noGrp="1"/>
          </p:cNvSpPr>
          <p:nvPr>
            <p:ph type="sldNum" sz="quarter" idx="12"/>
          </p:nvPr>
        </p:nvSpPr>
        <p:spPr/>
        <p:txBody>
          <a:bodyPr/>
          <a:lstStyle/>
          <a:p>
            <a:fld id="{A5BC3523-C363-4BFA-8941-CE9ECEEECBA2}" type="slidenum">
              <a:rPr lang="en-GB" smtClean="0"/>
              <a:t>62</a:t>
            </a:fld>
            <a:endParaRPr lang="en-GB" dirty="0"/>
          </a:p>
        </p:txBody>
      </p:sp>
      <p:graphicFrame>
        <p:nvGraphicFramePr>
          <p:cNvPr id="5" name="Content Placeholder 5">
            <a:extLst>
              <a:ext uri="{FF2B5EF4-FFF2-40B4-BE49-F238E27FC236}">
                <a16:creationId xmlns:a16="http://schemas.microsoft.com/office/drawing/2014/main" id="{0304AD81-0193-9E65-B157-8AF3BDB11336}"/>
              </a:ext>
            </a:extLst>
          </p:cNvPr>
          <p:cNvGraphicFramePr>
            <a:graphicFrameLocks/>
          </p:cNvGraphicFramePr>
          <p:nvPr>
            <p:extLst>
              <p:ext uri="{D42A27DB-BD31-4B8C-83A1-F6EECF244321}">
                <p14:modId xmlns:p14="http://schemas.microsoft.com/office/powerpoint/2010/main" val="407706889"/>
              </p:ext>
            </p:extLst>
          </p:nvPr>
        </p:nvGraphicFramePr>
        <p:xfrm>
          <a:off x="76353" y="1027290"/>
          <a:ext cx="12060000" cy="4886960"/>
        </p:xfrm>
        <a:graphic>
          <a:graphicData uri="http://schemas.openxmlformats.org/drawingml/2006/table">
            <a:tbl>
              <a:tblPr firstRow="1" bandRow="1">
                <a:tableStyleId>{7DF18680-E054-41AD-8BC1-D1AEF772440D}</a:tableStyleId>
              </a:tblPr>
              <a:tblGrid>
                <a:gridCol w="540000">
                  <a:extLst>
                    <a:ext uri="{9D8B030D-6E8A-4147-A177-3AD203B41FA5}">
                      <a16:colId xmlns:a16="http://schemas.microsoft.com/office/drawing/2014/main" val="3342448778"/>
                    </a:ext>
                  </a:extLst>
                </a:gridCol>
                <a:gridCol w="5040000">
                  <a:extLst>
                    <a:ext uri="{9D8B030D-6E8A-4147-A177-3AD203B41FA5}">
                      <a16:colId xmlns:a16="http://schemas.microsoft.com/office/drawing/2014/main" val="762947387"/>
                    </a:ext>
                  </a:extLst>
                </a:gridCol>
                <a:gridCol w="6480000">
                  <a:extLst>
                    <a:ext uri="{9D8B030D-6E8A-4147-A177-3AD203B41FA5}">
                      <a16:colId xmlns:a16="http://schemas.microsoft.com/office/drawing/2014/main" val="2828692460"/>
                    </a:ext>
                  </a:extLst>
                </a:gridCol>
              </a:tblGrid>
              <a:tr h="370840">
                <a:tc>
                  <a:txBody>
                    <a:bodyPr/>
                    <a:lstStyle/>
                    <a:p>
                      <a:pPr algn="ctr"/>
                      <a:r>
                        <a:rPr lang="en-GB" dirty="0">
                          <a:latin typeface="Aptos Display" panose="020B0004020202020204" pitchFamily="34" charset="0"/>
                        </a:rPr>
                        <a:t>No.</a:t>
                      </a:r>
                    </a:p>
                  </a:txBody>
                  <a:tcPr/>
                </a:tc>
                <a:tc>
                  <a:txBody>
                    <a:bodyPr/>
                    <a:lstStyle/>
                    <a:p>
                      <a:pPr algn="ctr"/>
                      <a:r>
                        <a:rPr lang="en-GB" dirty="0">
                          <a:latin typeface="Aptos Display" panose="020B0004020202020204" pitchFamily="34" charset="0"/>
                        </a:rPr>
                        <a:t>Resource Name</a:t>
                      </a:r>
                    </a:p>
                  </a:txBody>
                  <a:tcPr/>
                </a:tc>
                <a:tc>
                  <a:txBody>
                    <a:bodyPr/>
                    <a:lstStyle/>
                    <a:p>
                      <a:pPr algn="ctr"/>
                      <a:r>
                        <a:rPr lang="en-GB" dirty="0">
                          <a:latin typeface="Aptos Display" panose="020B0004020202020204" pitchFamily="34" charset="0"/>
                        </a:rPr>
                        <a:t>URL</a:t>
                      </a:r>
                    </a:p>
                  </a:txBody>
                  <a:tcPr/>
                </a:tc>
                <a:extLst>
                  <a:ext uri="{0D108BD9-81ED-4DB2-BD59-A6C34878D82A}">
                    <a16:rowId xmlns:a16="http://schemas.microsoft.com/office/drawing/2014/main" val="3076839595"/>
                  </a:ext>
                </a:extLst>
              </a:tr>
              <a:tr h="370840">
                <a:tc>
                  <a:txBody>
                    <a:bodyPr/>
                    <a:lstStyle/>
                    <a:p>
                      <a:pPr algn="ctr"/>
                      <a:r>
                        <a:rPr lang="en-GB" sz="1400" dirty="0">
                          <a:solidFill>
                            <a:srgbClr val="003B66"/>
                          </a:solidFill>
                          <a:latin typeface="Aptos" panose="020B0004020202020204" pitchFamily="34" charset="0"/>
                        </a:rPr>
                        <a:t>1</a:t>
                      </a:r>
                    </a:p>
                  </a:txBody>
                  <a:tcPr anchor="ctr"/>
                </a:tc>
                <a:tc>
                  <a:txBody>
                    <a:bodyPr/>
                    <a:lstStyle/>
                    <a:p>
                      <a:r>
                        <a:rPr lang="en-GB" sz="1400" dirty="0">
                          <a:solidFill>
                            <a:srgbClr val="003B66"/>
                          </a:solidFill>
                          <a:latin typeface="Aptos" panose="020B0004020202020204" pitchFamily="34" charset="0"/>
                        </a:rPr>
                        <a:t>This presentation and associated files</a:t>
                      </a:r>
                    </a:p>
                  </a:txBody>
                  <a:tcPr anchor="ctr"/>
                </a:tc>
                <a:tc>
                  <a:txBody>
                    <a:bodyPr/>
                    <a:lstStyle/>
                    <a:p>
                      <a:r>
                        <a:rPr lang="en-GB" sz="1400" dirty="0">
                          <a:solidFill>
                            <a:srgbClr val="003B66"/>
                          </a:solidFill>
                          <a:latin typeface="Aptos" panose="020B0004020202020204" pitchFamily="34" charset="0"/>
                          <a:hlinkClick r:id="rId3"/>
                        </a:rPr>
                        <a:t>https://github.com/RobustoSystems/LabVIEWMultithreading</a:t>
                      </a:r>
                      <a:r>
                        <a:rPr lang="en-GB" sz="1400" dirty="0">
                          <a:solidFill>
                            <a:srgbClr val="003B66"/>
                          </a:solidFill>
                          <a:latin typeface="Aptos" panose="020B0004020202020204" pitchFamily="34" charset="0"/>
                        </a:rPr>
                        <a:t> </a:t>
                      </a:r>
                    </a:p>
                  </a:txBody>
                  <a:tcPr anchor="ctr"/>
                </a:tc>
                <a:extLst>
                  <a:ext uri="{0D108BD9-81ED-4DB2-BD59-A6C34878D82A}">
                    <a16:rowId xmlns:a16="http://schemas.microsoft.com/office/drawing/2014/main" val="2848429078"/>
                  </a:ext>
                </a:extLst>
              </a:tr>
              <a:tr h="370840">
                <a:tc>
                  <a:txBody>
                    <a:bodyPr/>
                    <a:lstStyle/>
                    <a:p>
                      <a:pPr algn="ctr"/>
                      <a:r>
                        <a:rPr lang="en-GB" sz="1400" dirty="0">
                          <a:solidFill>
                            <a:srgbClr val="003B66"/>
                          </a:solidFill>
                          <a:latin typeface="Aptos" panose="020B0004020202020204" pitchFamily="34" charset="0"/>
                        </a:rPr>
                        <a:t>2</a:t>
                      </a:r>
                    </a:p>
                  </a:txBody>
                  <a:tcPr anchor="ctr"/>
                </a:tc>
                <a:tc>
                  <a:txBody>
                    <a:bodyPr/>
                    <a:lstStyle/>
                    <a:p>
                      <a:r>
                        <a:rPr lang="en-GB" sz="1400" dirty="0">
                          <a:solidFill>
                            <a:srgbClr val="003B66"/>
                          </a:solidFill>
                          <a:latin typeface="Aptos" panose="020B0004020202020204" pitchFamily="34" charset="0"/>
                        </a:rPr>
                        <a:t>Multicore Programming Fundamentals (NI Whitepaper Series)</a:t>
                      </a:r>
                    </a:p>
                  </a:txBody>
                  <a:tcPr anchor="ctr"/>
                </a:tc>
                <a:tc>
                  <a:txBody>
                    <a:bodyPr/>
                    <a:lstStyle/>
                    <a:p>
                      <a:r>
                        <a:rPr lang="en-GB" sz="1400" dirty="0">
                          <a:solidFill>
                            <a:srgbClr val="003B66"/>
                          </a:solidFill>
                          <a:latin typeface="Aptos" panose="020B0004020202020204" pitchFamily="34" charset="0"/>
                          <a:hlinkClick r:id="rId4"/>
                        </a:rPr>
                        <a:t>https://www.ni.com/en/support/documentation/supplemental/07/multicore-programming-fundamentals.html</a:t>
                      </a:r>
                      <a:r>
                        <a:rPr lang="en-GB" sz="1400" dirty="0">
                          <a:solidFill>
                            <a:srgbClr val="003B66"/>
                          </a:solidFill>
                          <a:latin typeface="Aptos" panose="020B0004020202020204" pitchFamily="34" charset="0"/>
                        </a:rPr>
                        <a:t> </a:t>
                      </a:r>
                    </a:p>
                  </a:txBody>
                  <a:tcPr anchor="ctr"/>
                </a:tc>
                <a:extLst>
                  <a:ext uri="{0D108BD9-81ED-4DB2-BD59-A6C34878D82A}">
                    <a16:rowId xmlns:a16="http://schemas.microsoft.com/office/drawing/2014/main" val="3354099830"/>
                  </a:ext>
                </a:extLst>
              </a:tr>
              <a:tr h="370840">
                <a:tc>
                  <a:txBody>
                    <a:bodyPr/>
                    <a:lstStyle/>
                    <a:p>
                      <a:pPr algn="ctr"/>
                      <a:r>
                        <a:rPr lang="en-GB" sz="1400" dirty="0">
                          <a:solidFill>
                            <a:srgbClr val="003B66"/>
                          </a:solidFill>
                          <a:latin typeface="Aptos" panose="020B0004020202020204" pitchFamily="34" charset="0"/>
                        </a:rPr>
                        <a:t>3</a:t>
                      </a:r>
                    </a:p>
                  </a:txBody>
                  <a:tcPr anchor="ctr"/>
                </a:tc>
                <a:tc>
                  <a:txBody>
                    <a:bodyPr/>
                    <a:lstStyle/>
                    <a:p>
                      <a:r>
                        <a:rPr lang="en-GB" sz="1400" dirty="0">
                          <a:solidFill>
                            <a:srgbClr val="003B66"/>
                          </a:solidFill>
                          <a:latin typeface="Aptos" panose="020B0004020202020204" pitchFamily="34" charset="0"/>
                        </a:rPr>
                        <a:t>Will My LabVIEW Programs Run Faster When I Upgrade to a Multicore Computer? (NI Whitepaper)</a:t>
                      </a:r>
                    </a:p>
                  </a:txBody>
                  <a:tcPr anchor="ctr"/>
                </a:tc>
                <a:tc>
                  <a:txBody>
                    <a:bodyPr/>
                    <a:lstStyle/>
                    <a:p>
                      <a:r>
                        <a:rPr lang="en-GB" sz="1400" dirty="0">
                          <a:solidFill>
                            <a:srgbClr val="003B66"/>
                          </a:solidFill>
                          <a:latin typeface="Aptos" panose="020B0004020202020204" pitchFamily="34" charset="0"/>
                          <a:hlinkClick r:id="rId5"/>
                        </a:rPr>
                        <a:t>https://www.ni.com/en/support/documentation/supplemental/07/will-my-labview-programs-run-faster-when-i-upgrade-to-a-multicor.html</a:t>
                      </a:r>
                      <a:r>
                        <a:rPr lang="en-GB" sz="1400" dirty="0">
                          <a:solidFill>
                            <a:srgbClr val="003B66"/>
                          </a:solidFill>
                          <a:latin typeface="Aptos" panose="020B0004020202020204" pitchFamily="34" charset="0"/>
                        </a:rPr>
                        <a:t> </a:t>
                      </a:r>
                    </a:p>
                  </a:txBody>
                  <a:tcPr anchor="ctr"/>
                </a:tc>
                <a:extLst>
                  <a:ext uri="{0D108BD9-81ED-4DB2-BD59-A6C34878D82A}">
                    <a16:rowId xmlns:a16="http://schemas.microsoft.com/office/drawing/2014/main" val="3889144522"/>
                  </a:ext>
                </a:extLst>
              </a:tr>
              <a:tr h="370840">
                <a:tc>
                  <a:txBody>
                    <a:bodyPr/>
                    <a:lstStyle/>
                    <a:p>
                      <a:pPr algn="ctr"/>
                      <a:r>
                        <a:rPr lang="en-GB" sz="1400" dirty="0">
                          <a:solidFill>
                            <a:srgbClr val="003B66"/>
                          </a:solidFill>
                          <a:latin typeface="Aptos" panose="020B0004020202020204" pitchFamily="34" charset="0"/>
                        </a:rPr>
                        <a:t>4</a:t>
                      </a:r>
                    </a:p>
                  </a:txBody>
                  <a:tcPr anchor="ctr"/>
                </a:tc>
                <a:tc>
                  <a:txBody>
                    <a:bodyPr/>
                    <a:lstStyle/>
                    <a:p>
                      <a:r>
                        <a:rPr lang="en-GB" sz="1400" dirty="0">
                          <a:solidFill>
                            <a:srgbClr val="003B66"/>
                          </a:solidFill>
                          <a:latin typeface="Aptos" panose="020B0004020202020204" pitchFamily="34" charset="0"/>
                        </a:rPr>
                        <a:t>LabVIEW Programming Reference Manual – Execution Settings</a:t>
                      </a:r>
                    </a:p>
                  </a:txBody>
                  <a:tcPr anchor="ctr"/>
                </a:tc>
                <a:tc>
                  <a:txBody>
                    <a:bodyPr/>
                    <a:lstStyle/>
                    <a:p>
                      <a:r>
                        <a:rPr lang="en-GB" sz="1400" dirty="0">
                          <a:solidFill>
                            <a:srgbClr val="003B66"/>
                          </a:solidFill>
                          <a:latin typeface="Aptos" panose="020B0004020202020204" pitchFamily="34" charset="0"/>
                          <a:hlinkClick r:id="rId6"/>
                        </a:rPr>
                        <a:t>https://www.ni.com/docs/en-US/bundle/labview-api-ref/page/dialog-boxes/execution-page-vi-properties-dialog-box.html</a:t>
                      </a:r>
                      <a:r>
                        <a:rPr lang="en-GB" sz="1400" dirty="0">
                          <a:solidFill>
                            <a:srgbClr val="003B66"/>
                          </a:solidFill>
                          <a:latin typeface="Aptos" panose="020B0004020202020204" pitchFamily="34" charset="0"/>
                        </a:rPr>
                        <a:t> </a:t>
                      </a:r>
                    </a:p>
                  </a:txBody>
                  <a:tcPr anchor="ctr"/>
                </a:tc>
                <a:extLst>
                  <a:ext uri="{0D108BD9-81ED-4DB2-BD59-A6C34878D82A}">
                    <a16:rowId xmlns:a16="http://schemas.microsoft.com/office/drawing/2014/main" val="852625848"/>
                  </a:ext>
                </a:extLst>
              </a:tr>
              <a:tr h="370840">
                <a:tc>
                  <a:txBody>
                    <a:bodyPr/>
                    <a:lstStyle/>
                    <a:p>
                      <a:pPr algn="ctr"/>
                      <a:r>
                        <a:rPr lang="en-GB" sz="1400" dirty="0">
                          <a:solidFill>
                            <a:srgbClr val="003B66"/>
                          </a:solidFill>
                          <a:latin typeface="Aptos" panose="020B0004020202020204" pitchFamily="34" charset="0"/>
                        </a:rPr>
                        <a:t>5</a:t>
                      </a:r>
                    </a:p>
                  </a:txBody>
                  <a:tcPr anchor="ctr"/>
                </a:tc>
                <a:tc>
                  <a:txBody>
                    <a:bodyPr/>
                    <a:lstStyle/>
                    <a:p>
                      <a:r>
                        <a:rPr lang="en-GB" sz="1400" dirty="0">
                          <a:solidFill>
                            <a:srgbClr val="003B66"/>
                          </a:solidFill>
                          <a:latin typeface="Aptos" panose="020B0004020202020204" pitchFamily="34" charset="0"/>
                        </a:rPr>
                        <a:t>LabVIEW Programming Reference Manual – Prioritizing Parallel Tasks</a:t>
                      </a:r>
                    </a:p>
                  </a:txBody>
                  <a:tcPr anchor="ctr"/>
                </a:tc>
                <a:tc>
                  <a:txBody>
                    <a:bodyPr/>
                    <a:lstStyle/>
                    <a:p>
                      <a:r>
                        <a:rPr lang="en-GB" sz="1400" dirty="0">
                          <a:solidFill>
                            <a:srgbClr val="003B66"/>
                          </a:solidFill>
                          <a:latin typeface="Aptos" panose="020B0004020202020204" pitchFamily="34" charset="0"/>
                          <a:hlinkClick r:id="rId7"/>
                        </a:rPr>
                        <a:t>https://www.ni.com/docs/en-US/bundle/labview/page/prioritizing-parallel-tasks.html</a:t>
                      </a:r>
                      <a:r>
                        <a:rPr lang="en-GB" sz="1400" dirty="0">
                          <a:solidFill>
                            <a:srgbClr val="003B66"/>
                          </a:solidFill>
                          <a:latin typeface="Aptos" panose="020B0004020202020204" pitchFamily="34" charset="0"/>
                        </a:rPr>
                        <a:t> </a:t>
                      </a:r>
                    </a:p>
                  </a:txBody>
                  <a:tcPr anchor="ctr"/>
                </a:tc>
                <a:extLst>
                  <a:ext uri="{0D108BD9-81ED-4DB2-BD59-A6C34878D82A}">
                    <a16:rowId xmlns:a16="http://schemas.microsoft.com/office/drawing/2014/main" val="2465444622"/>
                  </a:ext>
                </a:extLst>
              </a:tr>
              <a:tr h="370840">
                <a:tc>
                  <a:txBody>
                    <a:bodyPr/>
                    <a:lstStyle/>
                    <a:p>
                      <a:pPr algn="ctr"/>
                      <a:r>
                        <a:rPr lang="en-GB" sz="1400" dirty="0">
                          <a:solidFill>
                            <a:srgbClr val="003B66"/>
                          </a:solidFill>
                          <a:latin typeface="Aptos" panose="020B0004020202020204" pitchFamily="34" charset="0"/>
                        </a:rPr>
                        <a:t>6</a:t>
                      </a:r>
                    </a:p>
                  </a:txBody>
                  <a:tcPr anchor="ctr"/>
                </a:tc>
                <a:tc>
                  <a:txBody>
                    <a:bodyPr/>
                    <a:lstStyle/>
                    <a:p>
                      <a:r>
                        <a:rPr lang="en-GB" sz="1400" dirty="0">
                          <a:solidFill>
                            <a:srgbClr val="003B66"/>
                          </a:solidFill>
                          <a:latin typeface="Aptos" panose="020B0004020202020204" pitchFamily="34" charset="0"/>
                        </a:rPr>
                        <a:t>LabVIEW Programming Reference Manual – Multitasking, Multithreading, and Multiprocessing</a:t>
                      </a:r>
                    </a:p>
                  </a:txBody>
                  <a:tcPr anchor="ctr"/>
                </a:tc>
                <a:tc>
                  <a:txBody>
                    <a:bodyPr/>
                    <a:lstStyle/>
                    <a:p>
                      <a:r>
                        <a:rPr lang="en-GB" sz="1400" dirty="0">
                          <a:solidFill>
                            <a:srgbClr val="003B66"/>
                          </a:solidFill>
                          <a:latin typeface="Aptos" panose="020B0004020202020204" pitchFamily="34" charset="0"/>
                          <a:hlinkClick r:id="rId8"/>
                        </a:rPr>
                        <a:t>https://www.ni.com/docs/en-US/bundle/labview/page/multitasking-multithreading-and-multiprocessing.html</a:t>
                      </a:r>
                      <a:r>
                        <a:rPr lang="en-GB" sz="1400" dirty="0">
                          <a:solidFill>
                            <a:srgbClr val="003B66"/>
                          </a:solidFill>
                          <a:latin typeface="Aptos" panose="020B0004020202020204" pitchFamily="34" charset="0"/>
                        </a:rPr>
                        <a:t> </a:t>
                      </a:r>
                    </a:p>
                  </a:txBody>
                  <a:tcPr anchor="ctr"/>
                </a:tc>
                <a:extLst>
                  <a:ext uri="{0D108BD9-81ED-4DB2-BD59-A6C34878D82A}">
                    <a16:rowId xmlns:a16="http://schemas.microsoft.com/office/drawing/2014/main" val="2257704130"/>
                  </a:ext>
                </a:extLst>
              </a:tr>
              <a:tr h="370840">
                <a:tc>
                  <a:txBody>
                    <a:bodyPr/>
                    <a:lstStyle/>
                    <a:p>
                      <a:pPr algn="ctr"/>
                      <a:r>
                        <a:rPr lang="en-GB" sz="1400" dirty="0">
                          <a:solidFill>
                            <a:srgbClr val="003B66"/>
                          </a:solidFill>
                          <a:latin typeface="Aptos" panose="020B0004020202020204" pitchFamily="34" charset="0"/>
                        </a:rPr>
                        <a:t>7</a:t>
                      </a:r>
                    </a:p>
                  </a:txBody>
                  <a:tcPr anchor="ctr"/>
                </a:tc>
                <a:tc>
                  <a:txBody>
                    <a:bodyPr/>
                    <a:lstStyle/>
                    <a:p>
                      <a:r>
                        <a:rPr lang="en-GB" sz="1400" dirty="0">
                          <a:solidFill>
                            <a:srgbClr val="003B66"/>
                          </a:solidFill>
                          <a:latin typeface="Aptos" panose="020B0004020202020204" pitchFamily="34" charset="0"/>
                        </a:rPr>
                        <a:t>NI LabVIEW Compiler: Under the Hood</a:t>
                      </a:r>
                    </a:p>
                  </a:txBody>
                  <a:tcPr anchor="ctr"/>
                </a:tc>
                <a:tc>
                  <a:txBody>
                    <a:bodyPr/>
                    <a:lstStyle/>
                    <a:p>
                      <a:r>
                        <a:rPr lang="en-GB" sz="1400" dirty="0">
                          <a:solidFill>
                            <a:srgbClr val="003B66"/>
                          </a:solidFill>
                          <a:latin typeface="Aptos" panose="020B0004020202020204" pitchFamily="34" charset="0"/>
                          <a:hlinkClick r:id="rId9"/>
                        </a:rPr>
                        <a:t>https://www.ni.com/en/support/documentation/supplemental/10/ni-labview-compiler--under-the-hood.html</a:t>
                      </a:r>
                      <a:r>
                        <a:rPr lang="en-GB" sz="1400" dirty="0">
                          <a:solidFill>
                            <a:srgbClr val="003B66"/>
                          </a:solidFill>
                          <a:latin typeface="Aptos" panose="020B0004020202020204" pitchFamily="34" charset="0"/>
                        </a:rPr>
                        <a:t> </a:t>
                      </a:r>
                    </a:p>
                  </a:txBody>
                  <a:tcPr anchor="ctr"/>
                </a:tc>
                <a:extLst>
                  <a:ext uri="{0D108BD9-81ED-4DB2-BD59-A6C34878D82A}">
                    <a16:rowId xmlns:a16="http://schemas.microsoft.com/office/drawing/2014/main" val="1774084818"/>
                  </a:ext>
                </a:extLst>
              </a:tr>
              <a:tr h="370840">
                <a:tc>
                  <a:txBody>
                    <a:bodyPr/>
                    <a:lstStyle/>
                    <a:p>
                      <a:pPr algn="ctr"/>
                      <a:r>
                        <a:rPr lang="en-GB" sz="1400" dirty="0">
                          <a:solidFill>
                            <a:srgbClr val="003B66"/>
                          </a:solidFill>
                          <a:latin typeface="Aptos" panose="020B0004020202020204" pitchFamily="34" charset="0"/>
                        </a:rPr>
                        <a:t>8</a:t>
                      </a:r>
                    </a:p>
                  </a:txBody>
                  <a:tcPr anchor="ctr"/>
                </a:tc>
                <a:tc>
                  <a:txBody>
                    <a:bodyPr/>
                    <a:lstStyle/>
                    <a:p>
                      <a:r>
                        <a:rPr lang="en-GB" sz="1400" dirty="0">
                          <a:solidFill>
                            <a:srgbClr val="003B66"/>
                          </a:solidFill>
                          <a:latin typeface="Aptos" panose="020B0004020202020204" pitchFamily="34" charset="0"/>
                        </a:rPr>
                        <a:t>LabVIEW Compiler Under the Hood.pptx (2011)</a:t>
                      </a:r>
                    </a:p>
                  </a:txBody>
                  <a:tcPr anchor="ctr"/>
                </a:tc>
                <a:tc>
                  <a:txBody>
                    <a:bodyPr/>
                    <a:lstStyle/>
                    <a:p>
                      <a:r>
                        <a:rPr lang="en-GB" sz="1400" dirty="0">
                          <a:solidFill>
                            <a:srgbClr val="003B66"/>
                          </a:solidFill>
                          <a:latin typeface="Aptos" panose="020B0004020202020204" pitchFamily="34" charset="0"/>
                          <a:hlinkClick r:id="rId10"/>
                        </a:rPr>
                        <a:t>https://forums.ni.com/t5/LabVIEW-Development-Best/LabVIEW-Under-the-Hood-The-Evolution-of-the-Compiler/ta-p/3515651</a:t>
                      </a:r>
                      <a:r>
                        <a:rPr lang="en-GB" sz="1400" dirty="0">
                          <a:solidFill>
                            <a:srgbClr val="003B66"/>
                          </a:solidFill>
                          <a:latin typeface="Aptos" panose="020B0004020202020204" pitchFamily="34" charset="0"/>
                        </a:rPr>
                        <a:t> </a:t>
                      </a:r>
                    </a:p>
                  </a:txBody>
                  <a:tcPr anchor="ctr"/>
                </a:tc>
                <a:extLst>
                  <a:ext uri="{0D108BD9-81ED-4DB2-BD59-A6C34878D82A}">
                    <a16:rowId xmlns:a16="http://schemas.microsoft.com/office/drawing/2014/main" val="44698088"/>
                  </a:ext>
                </a:extLst>
              </a:tr>
              <a:tr h="370840">
                <a:tc>
                  <a:txBody>
                    <a:bodyPr/>
                    <a:lstStyle/>
                    <a:p>
                      <a:pPr algn="ctr"/>
                      <a:r>
                        <a:rPr lang="en-GB" sz="1400" dirty="0">
                          <a:solidFill>
                            <a:srgbClr val="003B66"/>
                          </a:solidFill>
                          <a:latin typeface="Aptos" panose="020B0004020202020204" pitchFamily="34" charset="0"/>
                        </a:rPr>
                        <a:t>9</a:t>
                      </a:r>
                    </a:p>
                  </a:txBody>
                  <a:tcPr anchor="ctr"/>
                </a:tc>
                <a:tc>
                  <a:txBody>
                    <a:bodyPr/>
                    <a:lstStyle/>
                    <a:p>
                      <a:r>
                        <a:rPr lang="en-GB" sz="1400" dirty="0">
                          <a:solidFill>
                            <a:srgbClr val="003B66"/>
                          </a:solidFill>
                          <a:latin typeface="Aptos" panose="020B0004020202020204" pitchFamily="34" charset="0"/>
                        </a:rPr>
                        <a:t>Optimising the LabVIEW Execution System (Midlands LabVIEW User Group Presentation, 2026)</a:t>
                      </a:r>
                    </a:p>
                  </a:txBody>
                  <a:tcPr anchor="ctr"/>
                </a:tc>
                <a:tc>
                  <a:txBody>
                    <a:bodyPr/>
                    <a:lstStyle/>
                    <a:p>
                      <a:r>
                        <a:rPr lang="en-GB" sz="1400" dirty="0">
                          <a:solidFill>
                            <a:srgbClr val="003B66"/>
                          </a:solidFill>
                          <a:latin typeface="Aptos" panose="020B0004020202020204" pitchFamily="34" charset="0"/>
                          <a:hlinkClick r:id="rId11"/>
                        </a:rPr>
                        <a:t>https://www.youtube.com/watch?v=86mKpFlREPo</a:t>
                      </a:r>
                      <a:r>
                        <a:rPr lang="en-GB" sz="1400" dirty="0">
                          <a:solidFill>
                            <a:srgbClr val="003B66"/>
                          </a:solidFill>
                          <a:latin typeface="Aptos" panose="020B0004020202020204" pitchFamily="34" charset="0"/>
                        </a:rPr>
                        <a:t>   </a:t>
                      </a:r>
                    </a:p>
                  </a:txBody>
                  <a:tcPr anchor="ctr"/>
                </a:tc>
                <a:extLst>
                  <a:ext uri="{0D108BD9-81ED-4DB2-BD59-A6C34878D82A}">
                    <a16:rowId xmlns:a16="http://schemas.microsoft.com/office/drawing/2014/main" val="2657376778"/>
                  </a:ext>
                </a:extLst>
              </a:tr>
            </a:tbl>
          </a:graphicData>
        </a:graphic>
      </p:graphicFrame>
    </p:spTree>
    <p:extLst>
      <p:ext uri="{BB962C8B-B14F-4D97-AF65-F5344CB8AC3E}">
        <p14:creationId xmlns:p14="http://schemas.microsoft.com/office/powerpoint/2010/main" val="28022809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280B5-1DE8-6F2A-54E7-65559F34B2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413C65-F02C-C69A-1160-81F88DB10951}"/>
              </a:ext>
            </a:extLst>
          </p:cNvPr>
          <p:cNvSpPr>
            <a:spLocks noGrp="1"/>
          </p:cNvSpPr>
          <p:nvPr>
            <p:ph type="title"/>
          </p:nvPr>
        </p:nvSpPr>
        <p:spPr>
          <a:xfrm>
            <a:off x="838200" y="365126"/>
            <a:ext cx="10515600" cy="662164"/>
          </a:xfrm>
        </p:spPr>
        <p:txBody>
          <a:bodyPr>
            <a:normAutofit fontScale="90000"/>
          </a:bodyPr>
          <a:lstStyle/>
          <a:p>
            <a:r>
              <a:rPr lang="en-GB" dirty="0">
                <a:solidFill>
                  <a:srgbClr val="003B66"/>
                </a:solidFill>
                <a:latin typeface="Aptos Display" panose="020B0004020202020204" pitchFamily="34" charset="0"/>
              </a:rPr>
              <a:t>Resources (part 2)</a:t>
            </a:r>
          </a:p>
        </p:txBody>
      </p:sp>
      <p:sp>
        <p:nvSpPr>
          <p:cNvPr id="4" name="Slide Number Placeholder 3">
            <a:extLst>
              <a:ext uri="{FF2B5EF4-FFF2-40B4-BE49-F238E27FC236}">
                <a16:creationId xmlns:a16="http://schemas.microsoft.com/office/drawing/2014/main" id="{86AAD9D9-1420-82E2-ADA0-328B49FD076D}"/>
              </a:ext>
            </a:extLst>
          </p:cNvPr>
          <p:cNvSpPr>
            <a:spLocks noGrp="1"/>
          </p:cNvSpPr>
          <p:nvPr>
            <p:ph type="sldNum" sz="quarter" idx="12"/>
          </p:nvPr>
        </p:nvSpPr>
        <p:spPr/>
        <p:txBody>
          <a:bodyPr/>
          <a:lstStyle/>
          <a:p>
            <a:fld id="{A5BC3523-C363-4BFA-8941-CE9ECEEECBA2}" type="slidenum">
              <a:rPr lang="en-GB" smtClean="0"/>
              <a:t>63</a:t>
            </a:fld>
            <a:endParaRPr lang="en-GB" dirty="0"/>
          </a:p>
        </p:txBody>
      </p:sp>
      <p:graphicFrame>
        <p:nvGraphicFramePr>
          <p:cNvPr id="5" name="Content Placeholder 5">
            <a:extLst>
              <a:ext uri="{FF2B5EF4-FFF2-40B4-BE49-F238E27FC236}">
                <a16:creationId xmlns:a16="http://schemas.microsoft.com/office/drawing/2014/main" id="{92652934-ECF4-CCF3-9CDC-AAA3885B13D3}"/>
              </a:ext>
            </a:extLst>
          </p:cNvPr>
          <p:cNvGraphicFramePr>
            <a:graphicFrameLocks/>
          </p:cNvGraphicFramePr>
          <p:nvPr>
            <p:extLst>
              <p:ext uri="{D42A27DB-BD31-4B8C-83A1-F6EECF244321}">
                <p14:modId xmlns:p14="http://schemas.microsoft.com/office/powerpoint/2010/main" val="2298761120"/>
              </p:ext>
            </p:extLst>
          </p:nvPr>
        </p:nvGraphicFramePr>
        <p:xfrm>
          <a:off x="76353" y="1027290"/>
          <a:ext cx="12060000" cy="2961640"/>
        </p:xfrm>
        <a:graphic>
          <a:graphicData uri="http://schemas.openxmlformats.org/drawingml/2006/table">
            <a:tbl>
              <a:tblPr firstRow="1" bandRow="1">
                <a:tableStyleId>{7DF18680-E054-41AD-8BC1-D1AEF772440D}</a:tableStyleId>
              </a:tblPr>
              <a:tblGrid>
                <a:gridCol w="540000">
                  <a:extLst>
                    <a:ext uri="{9D8B030D-6E8A-4147-A177-3AD203B41FA5}">
                      <a16:colId xmlns:a16="http://schemas.microsoft.com/office/drawing/2014/main" val="3342448778"/>
                    </a:ext>
                  </a:extLst>
                </a:gridCol>
                <a:gridCol w="5040000">
                  <a:extLst>
                    <a:ext uri="{9D8B030D-6E8A-4147-A177-3AD203B41FA5}">
                      <a16:colId xmlns:a16="http://schemas.microsoft.com/office/drawing/2014/main" val="762947387"/>
                    </a:ext>
                  </a:extLst>
                </a:gridCol>
                <a:gridCol w="6480000">
                  <a:extLst>
                    <a:ext uri="{9D8B030D-6E8A-4147-A177-3AD203B41FA5}">
                      <a16:colId xmlns:a16="http://schemas.microsoft.com/office/drawing/2014/main" val="2828692460"/>
                    </a:ext>
                  </a:extLst>
                </a:gridCol>
              </a:tblGrid>
              <a:tr h="370840">
                <a:tc>
                  <a:txBody>
                    <a:bodyPr/>
                    <a:lstStyle/>
                    <a:p>
                      <a:pPr algn="ctr"/>
                      <a:r>
                        <a:rPr lang="en-GB" dirty="0">
                          <a:latin typeface="Aptos Display" panose="020B0004020202020204" pitchFamily="34" charset="0"/>
                        </a:rPr>
                        <a:t>No.</a:t>
                      </a:r>
                    </a:p>
                  </a:txBody>
                  <a:tcPr/>
                </a:tc>
                <a:tc>
                  <a:txBody>
                    <a:bodyPr/>
                    <a:lstStyle/>
                    <a:p>
                      <a:pPr algn="ctr"/>
                      <a:r>
                        <a:rPr lang="en-GB" dirty="0">
                          <a:latin typeface="Aptos Display" panose="020B0004020202020204" pitchFamily="34" charset="0"/>
                        </a:rPr>
                        <a:t>Resource Name</a:t>
                      </a:r>
                    </a:p>
                  </a:txBody>
                  <a:tcPr/>
                </a:tc>
                <a:tc>
                  <a:txBody>
                    <a:bodyPr/>
                    <a:lstStyle/>
                    <a:p>
                      <a:pPr algn="ctr"/>
                      <a:r>
                        <a:rPr lang="en-GB" dirty="0">
                          <a:latin typeface="Aptos Display" panose="020B0004020202020204" pitchFamily="34" charset="0"/>
                        </a:rPr>
                        <a:t>URL</a:t>
                      </a:r>
                    </a:p>
                  </a:txBody>
                  <a:tcPr/>
                </a:tc>
                <a:extLst>
                  <a:ext uri="{0D108BD9-81ED-4DB2-BD59-A6C34878D82A}">
                    <a16:rowId xmlns:a16="http://schemas.microsoft.com/office/drawing/2014/main" val="3076839595"/>
                  </a:ext>
                </a:extLst>
              </a:tr>
              <a:tr h="370840">
                <a:tc>
                  <a:txBody>
                    <a:bodyPr/>
                    <a:lstStyle/>
                    <a:p>
                      <a:pPr algn="ctr"/>
                      <a:r>
                        <a:rPr lang="en-GB" sz="1400" dirty="0">
                          <a:solidFill>
                            <a:srgbClr val="003B66"/>
                          </a:solidFill>
                          <a:latin typeface="Aptos" panose="020B0004020202020204" pitchFamily="34" charset="0"/>
                        </a:rPr>
                        <a:t>10</a:t>
                      </a:r>
                    </a:p>
                  </a:txBody>
                  <a:tcPr anchor="ctr"/>
                </a:tc>
                <a:tc>
                  <a:txBody>
                    <a:bodyPr/>
                    <a:lstStyle/>
                    <a:p>
                      <a:r>
                        <a:rPr lang="en-GB" sz="1400" dirty="0">
                          <a:solidFill>
                            <a:srgbClr val="003B66"/>
                          </a:solidFill>
                          <a:latin typeface="Aptos" panose="020B0004020202020204" pitchFamily="34" charset="0"/>
                        </a:rPr>
                        <a:t>LabVIEW Idea: Many native VIs that are currently Non-</a:t>
                      </a:r>
                      <a:r>
                        <a:rPr lang="en-GB" sz="1400" dirty="0" err="1">
                          <a:solidFill>
                            <a:srgbClr val="003B66"/>
                          </a:solidFill>
                          <a:latin typeface="Aptos" panose="020B0004020202020204" pitchFamily="34" charset="0"/>
                        </a:rPr>
                        <a:t>reentrant</a:t>
                      </a:r>
                      <a:r>
                        <a:rPr lang="en-GB" sz="1400" dirty="0">
                          <a:solidFill>
                            <a:srgbClr val="003B66"/>
                          </a:solidFill>
                          <a:latin typeface="Aptos" panose="020B0004020202020204" pitchFamily="34" charset="0"/>
                        </a:rPr>
                        <a:t> should be Preallocated clone</a:t>
                      </a:r>
                    </a:p>
                  </a:txBody>
                  <a:tcPr anchor="ctr"/>
                </a:tc>
                <a:tc>
                  <a:txBody>
                    <a:bodyPr/>
                    <a:lstStyle/>
                    <a:p>
                      <a:r>
                        <a:rPr lang="en-GB" sz="1400" dirty="0">
                          <a:solidFill>
                            <a:srgbClr val="003B66"/>
                          </a:solidFill>
                          <a:latin typeface="Aptos" panose="020B0004020202020204" pitchFamily="34" charset="0"/>
                          <a:hlinkClick r:id="rId3"/>
                        </a:rPr>
                        <a:t>https://forums.ni.com/t5/LabVIEW-Idea-Exchange/Many-native-VIs-that-are-currently-Non-reentrant-should-be/idi-p/4429431</a:t>
                      </a:r>
                      <a:r>
                        <a:rPr lang="en-GB" sz="1400" dirty="0">
                          <a:solidFill>
                            <a:srgbClr val="003B66"/>
                          </a:solidFill>
                          <a:latin typeface="Aptos" panose="020B0004020202020204" pitchFamily="34" charset="0"/>
                        </a:rPr>
                        <a:t> </a:t>
                      </a:r>
                    </a:p>
                  </a:txBody>
                  <a:tcPr anchor="ctr"/>
                </a:tc>
                <a:extLst>
                  <a:ext uri="{0D108BD9-81ED-4DB2-BD59-A6C34878D82A}">
                    <a16:rowId xmlns:a16="http://schemas.microsoft.com/office/drawing/2014/main" val="2848429078"/>
                  </a:ext>
                </a:extLst>
              </a:tr>
              <a:tr h="370840">
                <a:tc>
                  <a:txBody>
                    <a:bodyPr/>
                    <a:lstStyle/>
                    <a:p>
                      <a:pPr algn="ctr"/>
                      <a:r>
                        <a:rPr lang="en-GB" sz="1400" dirty="0">
                          <a:solidFill>
                            <a:srgbClr val="003B66"/>
                          </a:solidFill>
                          <a:latin typeface="Aptos" panose="020B0004020202020204" pitchFamily="34" charset="0"/>
                        </a:rPr>
                        <a:t>11</a:t>
                      </a:r>
                    </a:p>
                  </a:txBody>
                  <a:tcPr anchor="ctr"/>
                </a:tc>
                <a:tc>
                  <a:txBody>
                    <a:bodyPr/>
                    <a:lstStyle/>
                    <a:p>
                      <a:r>
                        <a:rPr lang="en-GB" sz="1400" dirty="0">
                          <a:solidFill>
                            <a:srgbClr val="003B66"/>
                          </a:solidFill>
                          <a:latin typeface="Aptos" panose="020B0004020202020204" pitchFamily="34" charset="0"/>
                        </a:rPr>
                        <a:t>LabVIEW Idea: The reentrancy of new VIs should be "Preallocated clone"</a:t>
                      </a:r>
                    </a:p>
                  </a:txBody>
                  <a:tcPr anchor="ctr"/>
                </a:tc>
                <a:tc>
                  <a:txBody>
                    <a:bodyPr/>
                    <a:lstStyle/>
                    <a:p>
                      <a:r>
                        <a:rPr lang="en-GB" sz="1400" dirty="0">
                          <a:solidFill>
                            <a:srgbClr val="003B66"/>
                          </a:solidFill>
                          <a:latin typeface="Aptos" panose="020B0004020202020204" pitchFamily="34" charset="0"/>
                          <a:hlinkClick r:id="rId4"/>
                        </a:rPr>
                        <a:t>https://forums.ni.com/t5/LabVIEW-Idea-Exchange/The-reentrancy-of-new-VIs-should-be-quot-Preallocated-clone-quot/idi-p/4429369</a:t>
                      </a:r>
                      <a:r>
                        <a:rPr lang="en-GB" sz="1400" dirty="0">
                          <a:solidFill>
                            <a:srgbClr val="003B66"/>
                          </a:solidFill>
                          <a:latin typeface="Aptos" panose="020B0004020202020204" pitchFamily="34" charset="0"/>
                        </a:rPr>
                        <a:t> </a:t>
                      </a:r>
                    </a:p>
                  </a:txBody>
                  <a:tcPr anchor="ctr"/>
                </a:tc>
                <a:extLst>
                  <a:ext uri="{0D108BD9-81ED-4DB2-BD59-A6C34878D82A}">
                    <a16:rowId xmlns:a16="http://schemas.microsoft.com/office/drawing/2014/main" val="3354099830"/>
                  </a:ext>
                </a:extLst>
              </a:tr>
              <a:tr h="370840">
                <a:tc>
                  <a:txBody>
                    <a:bodyPr/>
                    <a:lstStyle/>
                    <a:p>
                      <a:pPr algn="ctr"/>
                      <a:r>
                        <a:rPr lang="en-GB" sz="1400" dirty="0">
                          <a:solidFill>
                            <a:srgbClr val="003B66"/>
                          </a:solidFill>
                          <a:latin typeface="Aptos" panose="020B0004020202020204" pitchFamily="34" charset="0"/>
                        </a:rPr>
                        <a:t>12</a:t>
                      </a:r>
                    </a:p>
                  </a:txBody>
                  <a:tcPr anchor="ctr"/>
                </a:tc>
                <a:tc>
                  <a:txBody>
                    <a:bodyPr/>
                    <a:lstStyle/>
                    <a:p>
                      <a:r>
                        <a:rPr lang="en-GB" sz="1400" dirty="0">
                          <a:solidFill>
                            <a:srgbClr val="003B66"/>
                          </a:solidFill>
                          <a:latin typeface="Aptos" panose="020B0004020202020204" pitchFamily="34" charset="0"/>
                        </a:rPr>
                        <a:t>LabVIEW Idea: Performance improvement: More native VIs should be set to subroutine</a:t>
                      </a:r>
                    </a:p>
                  </a:txBody>
                  <a:tcPr anchor="ctr"/>
                </a:tc>
                <a:tc>
                  <a:txBody>
                    <a:bodyPr/>
                    <a:lstStyle/>
                    <a:p>
                      <a:r>
                        <a:rPr lang="en-GB" sz="1400" dirty="0">
                          <a:solidFill>
                            <a:srgbClr val="003B66"/>
                          </a:solidFill>
                          <a:latin typeface="Aptos" panose="020B0004020202020204" pitchFamily="34" charset="0"/>
                          <a:hlinkClick r:id="rId5"/>
                        </a:rPr>
                        <a:t>https://forums.ni.com/t5/LabVIEW-Idea-Exchange/Performance-improvement-More-native-VIs-should-be-set-to/idi-p/4485882</a:t>
                      </a:r>
                      <a:r>
                        <a:rPr lang="en-GB" sz="1400" dirty="0">
                          <a:solidFill>
                            <a:srgbClr val="003B66"/>
                          </a:solidFill>
                          <a:latin typeface="Aptos" panose="020B0004020202020204" pitchFamily="34" charset="0"/>
                        </a:rPr>
                        <a:t> </a:t>
                      </a:r>
                    </a:p>
                  </a:txBody>
                  <a:tcPr anchor="ctr"/>
                </a:tc>
                <a:extLst>
                  <a:ext uri="{0D108BD9-81ED-4DB2-BD59-A6C34878D82A}">
                    <a16:rowId xmlns:a16="http://schemas.microsoft.com/office/drawing/2014/main" val="3889144522"/>
                  </a:ext>
                </a:extLst>
              </a:tr>
              <a:tr h="370840">
                <a:tc>
                  <a:txBody>
                    <a:bodyPr/>
                    <a:lstStyle/>
                    <a:p>
                      <a:pPr algn="ctr"/>
                      <a:r>
                        <a:rPr lang="en-GB" sz="1400" dirty="0">
                          <a:solidFill>
                            <a:srgbClr val="003B66"/>
                          </a:solidFill>
                          <a:latin typeface="Aptos" panose="020B0004020202020204" pitchFamily="34" charset="0"/>
                        </a:rPr>
                        <a:t>13</a:t>
                      </a:r>
                    </a:p>
                  </a:txBody>
                  <a:tcPr anchor="ctr"/>
                </a:tc>
                <a:tc>
                  <a:txBody>
                    <a:bodyPr/>
                    <a:lstStyle/>
                    <a:p>
                      <a:r>
                        <a:rPr lang="en-GB" sz="1400" dirty="0">
                          <a:solidFill>
                            <a:srgbClr val="003B66"/>
                          </a:solidFill>
                          <a:latin typeface="Aptos" panose="020B0004020202020204" pitchFamily="34" charset="0"/>
                        </a:rPr>
                        <a:t>LabVIEW Idea: Performance improvement: All native VIs should be set to 'Allow debugging' off</a:t>
                      </a:r>
                    </a:p>
                  </a:txBody>
                  <a:tcPr anchor="ctr"/>
                </a:tc>
                <a:tc>
                  <a:txBody>
                    <a:bodyPr/>
                    <a:lstStyle/>
                    <a:p>
                      <a:r>
                        <a:rPr lang="en-GB" sz="1400" dirty="0">
                          <a:solidFill>
                            <a:srgbClr val="003B66"/>
                          </a:solidFill>
                          <a:latin typeface="Aptos" panose="020B0004020202020204" pitchFamily="34" charset="0"/>
                          <a:hlinkClick r:id="rId6"/>
                        </a:rPr>
                        <a:t>https://forums.ni.com/t5/LabVIEW-Idea-Exchange/Performance-improvement-All-native-VIs-should-be-set-to-Allow/idi-p/4485897</a:t>
                      </a:r>
                      <a:r>
                        <a:rPr lang="en-GB" sz="1400" dirty="0">
                          <a:solidFill>
                            <a:srgbClr val="003B66"/>
                          </a:solidFill>
                          <a:latin typeface="Aptos" panose="020B0004020202020204" pitchFamily="34" charset="0"/>
                        </a:rPr>
                        <a:t> </a:t>
                      </a:r>
                    </a:p>
                  </a:txBody>
                  <a:tcPr anchor="ctr"/>
                </a:tc>
                <a:extLst>
                  <a:ext uri="{0D108BD9-81ED-4DB2-BD59-A6C34878D82A}">
                    <a16:rowId xmlns:a16="http://schemas.microsoft.com/office/drawing/2014/main" val="852625848"/>
                  </a:ext>
                </a:extLst>
              </a:tr>
              <a:tr h="370840">
                <a:tc>
                  <a:txBody>
                    <a:bodyPr/>
                    <a:lstStyle/>
                    <a:p>
                      <a:pPr algn="ctr"/>
                      <a:r>
                        <a:rPr lang="en-GB" sz="1400" dirty="0">
                          <a:solidFill>
                            <a:srgbClr val="003B66"/>
                          </a:solidFill>
                          <a:latin typeface="Aptos" panose="020B0004020202020204" pitchFamily="34" charset="0"/>
                        </a:rPr>
                        <a:t>14</a:t>
                      </a:r>
                    </a:p>
                  </a:txBody>
                  <a:tcPr anchor="ctr"/>
                </a:tc>
                <a:tc>
                  <a:txBody>
                    <a:bodyPr/>
                    <a:lstStyle/>
                    <a:p>
                      <a:r>
                        <a:rPr lang="en-GB" sz="1400" dirty="0">
                          <a:solidFill>
                            <a:srgbClr val="003B66"/>
                          </a:solidFill>
                          <a:latin typeface="Aptos" panose="020B0004020202020204" pitchFamily="34" charset="0"/>
                        </a:rPr>
                        <a:t>LabVIEW Idea: Open-Source LabVIEW Benchmark Suite</a:t>
                      </a:r>
                    </a:p>
                  </a:txBody>
                  <a:tcPr anchor="ctr"/>
                </a:tc>
                <a:tc>
                  <a:txBody>
                    <a:bodyPr/>
                    <a:lstStyle/>
                    <a:p>
                      <a:r>
                        <a:rPr lang="en-GB" sz="1400" dirty="0">
                          <a:solidFill>
                            <a:srgbClr val="003B66"/>
                          </a:solidFill>
                          <a:latin typeface="Aptos" panose="020B0004020202020204" pitchFamily="34" charset="0"/>
                          <a:hlinkClick r:id="rId7"/>
                        </a:rPr>
                        <a:t>https://forums.ni.com/t5/LabVIEW-Idea-Exchange/Open-Source-LabVIEW-Benchmark-Suite/idi-p/4485843</a:t>
                      </a:r>
                      <a:r>
                        <a:rPr lang="en-GB" sz="1400" dirty="0">
                          <a:solidFill>
                            <a:srgbClr val="003B66"/>
                          </a:solidFill>
                          <a:latin typeface="Aptos" panose="020B0004020202020204" pitchFamily="34" charset="0"/>
                        </a:rPr>
                        <a:t> </a:t>
                      </a:r>
                    </a:p>
                  </a:txBody>
                  <a:tcPr anchor="ctr"/>
                </a:tc>
                <a:extLst>
                  <a:ext uri="{0D108BD9-81ED-4DB2-BD59-A6C34878D82A}">
                    <a16:rowId xmlns:a16="http://schemas.microsoft.com/office/drawing/2014/main" val="2465444622"/>
                  </a:ext>
                </a:extLst>
              </a:tr>
            </a:tbl>
          </a:graphicData>
        </a:graphic>
      </p:graphicFrame>
    </p:spTree>
    <p:extLst>
      <p:ext uri="{BB962C8B-B14F-4D97-AF65-F5344CB8AC3E}">
        <p14:creationId xmlns:p14="http://schemas.microsoft.com/office/powerpoint/2010/main" val="41204718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311E9C-FED2-5F7F-52AF-4A913FA29CE7}"/>
              </a:ext>
            </a:extLst>
          </p:cNvPr>
          <p:cNvSpPr>
            <a:spLocks noGrp="1"/>
          </p:cNvSpPr>
          <p:nvPr>
            <p:ph type="sldNum" sz="quarter" idx="12"/>
          </p:nvPr>
        </p:nvSpPr>
        <p:spPr/>
        <p:txBody>
          <a:bodyPr/>
          <a:lstStyle/>
          <a:p>
            <a:fld id="{A5BC3523-C363-4BFA-8941-CE9ECEEECBA2}" type="slidenum">
              <a:rPr lang="en-GB" smtClean="0"/>
              <a:t>64</a:t>
            </a:fld>
            <a:endParaRPr lang="en-GB" dirty="0"/>
          </a:p>
        </p:txBody>
      </p:sp>
      <p:sp>
        <p:nvSpPr>
          <p:cNvPr id="3" name="Content Placeholder 2">
            <a:extLst>
              <a:ext uri="{FF2B5EF4-FFF2-40B4-BE49-F238E27FC236}">
                <a16:creationId xmlns:a16="http://schemas.microsoft.com/office/drawing/2014/main" id="{D7FC4451-4584-F3B0-2EEC-EFB4FF381362}"/>
              </a:ext>
            </a:extLst>
          </p:cNvPr>
          <p:cNvSpPr txBox="1">
            <a:spLocks/>
          </p:cNvSpPr>
          <p:nvPr/>
        </p:nvSpPr>
        <p:spPr>
          <a:xfrm>
            <a:off x="838200" y="2137281"/>
            <a:ext cx="10515600" cy="25834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4000" dirty="0">
                <a:solidFill>
                  <a:srgbClr val="003B66"/>
                </a:solidFill>
                <a:latin typeface="Aptos" panose="020B0004020202020204" pitchFamily="34" charset="0"/>
              </a:rPr>
              <a:t>Thank you!</a:t>
            </a:r>
          </a:p>
          <a:p>
            <a:pPr marL="0" indent="0" algn="ctr">
              <a:buFont typeface="Arial" panose="020B0604020202020204" pitchFamily="34" charset="0"/>
              <a:buNone/>
            </a:pPr>
            <a:endParaRPr lang="en-GB" sz="4000" dirty="0">
              <a:solidFill>
                <a:srgbClr val="003B66"/>
              </a:solidFill>
              <a:latin typeface="Aptos" panose="020B0004020202020204" pitchFamily="34" charset="0"/>
            </a:endParaRPr>
          </a:p>
          <a:p>
            <a:pPr marL="0" indent="0" algn="ctr">
              <a:buFont typeface="Arial" panose="020B0604020202020204" pitchFamily="34" charset="0"/>
              <a:buNone/>
            </a:pPr>
            <a:r>
              <a:rPr lang="en-GB" sz="4000" dirty="0">
                <a:solidFill>
                  <a:srgbClr val="003B66"/>
                </a:solidFill>
                <a:latin typeface="Aptos" panose="020B0004020202020204" pitchFamily="34" charset="0"/>
              </a:rPr>
              <a:t>Are there any questions?</a:t>
            </a:r>
          </a:p>
        </p:txBody>
      </p:sp>
    </p:spTree>
    <p:extLst>
      <p:ext uri="{BB962C8B-B14F-4D97-AF65-F5344CB8AC3E}">
        <p14:creationId xmlns:p14="http://schemas.microsoft.com/office/powerpoint/2010/main" val="10138143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3106</TotalTime>
  <Words>6307</Words>
  <Application>Microsoft Office PowerPoint</Application>
  <PresentationFormat>Widescreen</PresentationFormat>
  <Paragraphs>600</Paragraphs>
  <Slides>64</Slides>
  <Notes>64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64</vt:i4>
      </vt:variant>
    </vt:vector>
  </HeadingPairs>
  <TitlesOfParts>
    <vt:vector size="70" baseType="lpstr">
      <vt:lpstr>Aptos</vt:lpstr>
      <vt:lpstr>Aptos Display</vt:lpstr>
      <vt:lpstr>Arial</vt:lpstr>
      <vt:lpstr>Calibri</vt:lpstr>
      <vt:lpstr>Calibri Light</vt:lpstr>
      <vt:lpstr>Office Theme</vt:lpstr>
      <vt:lpstr>PowerPoint Presentation</vt:lpstr>
      <vt:lpstr>Presenter</vt:lpstr>
      <vt:lpstr>Introduction</vt:lpstr>
      <vt:lpstr>Introduction</vt:lpstr>
      <vt:lpstr>Disclaimer</vt:lpstr>
      <vt:lpstr>Questions</vt:lpstr>
      <vt:lpstr>GitHub Repository</vt:lpstr>
      <vt:lpstr>Reentrancy</vt:lpstr>
      <vt:lpstr>Non-Reentrant (NR)</vt:lpstr>
      <vt:lpstr>Non-Reentrant (NR)</vt:lpstr>
      <vt:lpstr>Non-Reentrant (NR)</vt:lpstr>
      <vt:lpstr>Non-Reentrant (NR)</vt:lpstr>
      <vt:lpstr>Non-Reentrant (NR) – Analogy</vt:lpstr>
      <vt:lpstr>Non-Reentrant (NR)</vt:lpstr>
      <vt:lpstr>Preallocated Clone Reentrant (PCR)</vt:lpstr>
      <vt:lpstr>Preallocated Clone Reentrant (PCR)</vt:lpstr>
      <vt:lpstr>Preallocated Clone Reentrant (PCR)</vt:lpstr>
      <vt:lpstr>Preallocated Clone Reentrant (PCR)</vt:lpstr>
      <vt:lpstr>PowerPoint Presentation</vt:lpstr>
      <vt:lpstr>Preallocated Clone Reentrant (PCR) – Analogy</vt:lpstr>
      <vt:lpstr>Shared Clone Reentrant (SCR)</vt:lpstr>
      <vt:lpstr>Shared Clone Reentrant (SCR)</vt:lpstr>
      <vt:lpstr>Shared Clone Reentrant (SCR)</vt:lpstr>
      <vt:lpstr>Taking a step back</vt:lpstr>
      <vt:lpstr>NR vs SCR vs PCR</vt:lpstr>
      <vt:lpstr>NR vs SCR vs PCR</vt:lpstr>
      <vt:lpstr>Experiments</vt:lpstr>
      <vt:lpstr>Experiments</vt:lpstr>
      <vt:lpstr>Experiments</vt:lpstr>
      <vt:lpstr>Experiments</vt:lpstr>
      <vt:lpstr>Experiment 1</vt:lpstr>
      <vt:lpstr>Experiment 1 Results</vt:lpstr>
      <vt:lpstr>Experiment 2</vt:lpstr>
      <vt:lpstr>Experiment 2 Results</vt:lpstr>
      <vt:lpstr>Experiment 3</vt:lpstr>
      <vt:lpstr>Experiment 3 Results</vt:lpstr>
      <vt:lpstr>Experiment 4</vt:lpstr>
      <vt:lpstr>Experiment 4 Results</vt:lpstr>
      <vt:lpstr>Experiment 5</vt:lpstr>
      <vt:lpstr>Experiment 5 Results</vt:lpstr>
      <vt:lpstr>Experiment 7</vt:lpstr>
      <vt:lpstr>Experiment 7 Results</vt:lpstr>
      <vt:lpstr>Recommendations</vt:lpstr>
      <vt:lpstr>Common objections</vt:lpstr>
      <vt:lpstr>Common objections</vt:lpstr>
      <vt:lpstr>PCR Usage In Well-Known VIs</vt:lpstr>
      <vt:lpstr>PCR Usage In Well-Known VIs</vt:lpstr>
      <vt:lpstr>LabVIEW Ideas</vt:lpstr>
      <vt:lpstr>LabVIEW Ideas</vt:lpstr>
      <vt:lpstr>LabVIEW Ideas</vt:lpstr>
      <vt:lpstr>Multicore Programming Fundamentals Whitepaper Series</vt:lpstr>
      <vt:lpstr>Multicore Programming Fundamentals Whitepaper Series</vt:lpstr>
      <vt:lpstr>OpenG VIs set to Non-Reentrant</vt:lpstr>
      <vt:lpstr>Mea Culpa – Robusto Systems VIPM packages</vt:lpstr>
      <vt:lpstr>Constructive Feedback</vt:lpstr>
      <vt:lpstr>Subroutine and Inline</vt:lpstr>
      <vt:lpstr>Subroutine and Inline</vt:lpstr>
      <vt:lpstr>Subroutine and Inline</vt:lpstr>
      <vt:lpstr>Subroutine and Inline</vt:lpstr>
      <vt:lpstr>Subroutine and Inline</vt:lpstr>
      <vt:lpstr>Subroutine and Inline</vt:lpstr>
      <vt:lpstr>Resources (part 1)</vt:lpstr>
      <vt:lpstr>Resources (part 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Petru Tarabuta</dc:creator>
  <cp:lastModifiedBy>Petru Tarabuta</cp:lastModifiedBy>
  <cp:revision>1441</cp:revision>
  <dcterms:created xsi:type="dcterms:W3CDTF">2022-09-26T20:10:51Z</dcterms:created>
  <dcterms:modified xsi:type="dcterms:W3CDTF">2026-09-23T11:09:38Z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d258917-277f-42cd-a3cd-14c4e9ee58bc_Enabled">
    <vt:lpwstr>true</vt:lpwstr>
  </property>
  <property fmtid="{D5CDD505-2E9C-101B-9397-08002B2CF9AE}" pid="3" name="MSIP_Label_9d258917-277f-42cd-a3cd-14c4e9ee58bc_SetDate">
    <vt:lpwstr>2022-09-27T08:17:11Z</vt:lpwstr>
  </property>
  <property fmtid="{D5CDD505-2E9C-101B-9397-08002B2CF9AE}" pid="4" name="MSIP_Label_9d258917-277f-42cd-a3cd-14c4e9ee58bc_Method">
    <vt:lpwstr>Standard</vt:lpwstr>
  </property>
  <property fmtid="{D5CDD505-2E9C-101B-9397-08002B2CF9AE}" pid="5" name="MSIP_Label_9d258917-277f-42cd-a3cd-14c4e9ee58bc_Name">
    <vt:lpwstr>restricted</vt:lpwstr>
  </property>
  <property fmtid="{D5CDD505-2E9C-101B-9397-08002B2CF9AE}" pid="6" name="MSIP_Label_9d258917-277f-42cd-a3cd-14c4e9ee58bc_SiteId">
    <vt:lpwstr>38ae3bcd-9579-4fd4-adda-b42e1495d55a</vt:lpwstr>
  </property>
  <property fmtid="{D5CDD505-2E9C-101B-9397-08002B2CF9AE}" pid="7" name="MSIP_Label_9d258917-277f-42cd-a3cd-14c4e9ee58bc_ActionId">
    <vt:lpwstr>77743905-44f9-4b6a-8727-eb02b15d45e9</vt:lpwstr>
  </property>
  <property fmtid="{D5CDD505-2E9C-101B-9397-08002B2CF9AE}" pid="8" name="MSIP_Label_9d258917-277f-42cd-a3cd-14c4e9ee58bc_ContentBits">
    <vt:lpwstr>0</vt:lpwstr>
  </property>
  <property fmtid="{D5CDD505-2E9C-101B-9397-08002B2CF9AE}" pid="9" name="Document_Confidentiality">
    <vt:lpwstr>Restricted</vt:lpwstr>
  </property>
</Properties>
</file>